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2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83" r:id="rId27"/>
    <p:sldId id="279" r:id="rId28"/>
    <p:sldId id="280" r:id="rId29"/>
    <p:sldId id="281" r:id="rId30"/>
    <p:sldId id="282" r:id="rId31"/>
  </p:sldIdLst>
  <p:sldSz cx="12192000" cy="6858000"/>
  <p:notesSz cx="6858000" cy="9144000"/>
  <p:defaultTextStyle>
    <a:defPPr>
      <a:defRPr lang="zh-CN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2" userDrawn="1">
          <p15:clr>
            <a:srgbClr val="A4A3A4"/>
          </p15:clr>
        </p15:guide>
        <p15:guide id="2" orient="horz" pos="219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14" d="100"/>
          <a:sy n="114" d="100"/>
        </p:scale>
        <p:origin x="422" y="101"/>
      </p:cViewPr>
      <p:guideLst>
        <p:guide pos="3832"/>
        <p:guide orient="horz" pos="2198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33" Type="http://schemas.openxmlformats.org/officeDocument/2006/relationships/viewProps" Target="viewProps.xml"/><Relationship Id="rId32" Type="http://schemas.openxmlformats.org/officeDocument/2006/relationships/presProps" Target="presProps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283276" name="页眉占位符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235978061" name="日期占位符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B8A4295-B070-46F3-B15F-D4E196C5EB95}" type="datetimeFigureOut">
              <a:rPr lang="en-US"/>
            </a:fld>
            <a:endParaRPr lang="zh-CN"/>
          </a:p>
        </p:txBody>
      </p:sp>
      <p:sp>
        <p:nvSpPr>
          <p:cNvPr id="226982451" name="幻灯片图像占位符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zh-CN"/>
          </a:p>
        </p:txBody>
      </p:sp>
      <p:sp>
        <p:nvSpPr>
          <p:cNvPr id="1254395817" name="备注占位符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827000167" name="页脚占位符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815753717" name="灯片编号占位符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902DFC15-3355-469B-85D3-7BD4F7D9FC5B}" type="slidenum">
              <a:rPr lang="en-US"/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8544370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59710348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071970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8912031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</a:p>
        </p:txBody>
      </p:sp>
      <p:sp>
        <p:nvSpPr>
          <p:cNvPr id="1936887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63B67-02AD-1C20-89C3-8F2A32FB6F55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8969974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7789364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034199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49904375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6143309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517343285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2884798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63544574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267485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75898970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0111023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70133213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1212472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275751543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882687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45020765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300403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21907960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8003503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10373359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27559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29716609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298829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25616412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089050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00797162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1207327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14056560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9985952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47948057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21BE5B-7573-B8A3-DF06-C922D58B7910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BA9A73F-99B9-8204-5996-A581EDE297C5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627769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49574879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055201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52430282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7743228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73360538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112364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32616747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112364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32616747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524851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976001008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41046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816318863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1619468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90205273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73374" name="幻灯片图像占位符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34412522" name="备注占位符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PhAnim="0" userDrawn="1">
  <p:cSld name="标题幻灯片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0153794" name="标题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836518979" name="副标题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zh-CN"/>
              <a:t>单击此处编辑母版副标题样式</a:t>
            </a:r>
            <a:endParaRPr lang="zh-CN"/>
          </a:p>
        </p:txBody>
      </p:sp>
      <p:sp>
        <p:nvSpPr>
          <p:cNvPr id="704199438" name="日期占位符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CB34F21-4D77-43D5-81A5-2C827B8679A7}" type="datetime1">
              <a:rPr lang="en-US"/>
            </a:fld>
            <a:endParaRPr lang="zh-CN"/>
          </a:p>
        </p:txBody>
      </p:sp>
      <p:sp>
        <p:nvSpPr>
          <p:cNvPr id="190521641" name="页脚占位符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354656750" name="文本框 5"/>
          <p:cNvSpPr txBox="1"/>
          <p:nvPr userDrawn="1"/>
        </p:nvSpPr>
        <p:spPr bwMode="auto">
          <a:xfrm>
            <a:off x="11475720" y="658685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PhAnim="0" userDrawn="1">
  <p:cSld name="标题和内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3300" name="标题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1751362690" name="内容占位符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697566084" name="日期占位符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08FC3F3-897E-44E4-9BD4-3E6A1CD90B4B}" type="datetime1">
              <a:rPr lang="en-US"/>
            </a:fld>
            <a:endParaRPr lang="zh-CN"/>
          </a:p>
        </p:txBody>
      </p:sp>
      <p:sp>
        <p:nvSpPr>
          <p:cNvPr id="1492133457" name="页脚占位符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PhAnim="0" userDrawn="1">
  <p:cSld name="带导航页面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11530" name="矩形 6"/>
          <p:cNvSpPr/>
          <p:nvPr userDrawn="1"/>
        </p:nvSpPr>
        <p:spPr bwMode="auto">
          <a:xfrm>
            <a:off x="0" y="0"/>
            <a:ext cx="3220720" cy="6858000"/>
          </a:xfrm>
          <a:prstGeom prst="rect">
            <a:avLst/>
          </a:prstGeom>
          <a:gradFill>
            <a:gsLst>
              <a:gs pos="0">
                <a:srgbClr val="D1E6F3"/>
              </a:gs>
              <a:gs pos="100000">
                <a:srgbClr val="DEF0F9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/>
          </a:p>
        </p:txBody>
      </p:sp>
      <p:sp>
        <p:nvSpPr>
          <p:cNvPr id="1009960447" name="内容占位符 14"/>
          <p:cNvSpPr>
            <a:spLocks noGrp="1"/>
          </p:cNvSpPr>
          <p:nvPr>
            <p:ph sz="quarter" idx="10"/>
          </p:nvPr>
        </p:nvSpPr>
        <p:spPr bwMode="auto">
          <a:xfrm>
            <a:off x="295274" y="528638"/>
            <a:ext cx="2214563" cy="5830887"/>
          </a:xfrm>
        </p:spPr>
        <p:txBody>
          <a:bodyPr/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1385058371" name="灯片编号占位符 3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95449E5-BCFC-43B8-9298-C792E301F5DA}" type="slidenum">
              <a:rPr lang="en-US"/>
            </a:fld>
            <a:r>
              <a:rPr lang="en-US"/>
              <a:t>/114</a:t>
            </a:r>
            <a:endParaRPr lang="zh-CN"/>
          </a:p>
        </p:txBody>
      </p:sp>
      <p:sp>
        <p:nvSpPr>
          <p:cNvPr id="1493502274" name="文本框 2"/>
          <p:cNvSpPr txBox="1"/>
          <p:nvPr userDrawn="1"/>
        </p:nvSpPr>
        <p:spPr bwMode="auto">
          <a:xfrm>
            <a:off x="11586210" y="658812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PhAnim="0" userDrawn="1">
  <p:cSld name="空白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1367505" name="日期占位符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0FBDFE-C587-4B4C-A407-44438C67B59E}" type="datetimeFigureOut">
              <a:rPr lang="zh-CN" altLang="en-US"/>
            </a:fld>
            <a:endParaRPr lang="zh-CN"/>
          </a:p>
        </p:txBody>
      </p:sp>
      <p:sp>
        <p:nvSpPr>
          <p:cNvPr id="131309441" name="页脚占位符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zh-CN"/>
          </a:p>
        </p:txBody>
      </p:sp>
      <p:sp>
        <p:nvSpPr>
          <p:cNvPr id="1524431443" name="灯片编号占位符 3"/>
          <p:cNvSpPr>
            <a:spLocks noGrp="1"/>
          </p:cNvSpPr>
          <p:nvPr>
            <p:ph type="sldNum" sz="quarter" idx="12"/>
          </p:nvPr>
        </p:nvSpPr>
        <p:spPr bwMode="auto">
          <a:xfrm>
            <a:off x="8610600" y="6356350"/>
            <a:ext cx="2743200" cy="365125"/>
          </a:xfrm>
        </p:spPr>
        <p:txBody>
          <a:bodyPr/>
          <a:lstStyle/>
          <a:p>
            <a:pPr>
              <a:defRPr/>
            </a:pPr>
            <a:fld id="{49AE70B2-8BF9-45C0-BB95-33D1B9D3A85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4208920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257561338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zh-CN"/>
              <a:t>单击此处编辑母版文本样式</a:t>
            </a:r>
            <a:endParaRPr lang="zh-CN"/>
          </a:p>
          <a:p>
            <a:pPr lvl="1">
              <a:defRPr/>
            </a:pPr>
            <a:r>
              <a:rPr lang="zh-CN"/>
              <a:t>二级</a:t>
            </a:r>
            <a:endParaRPr lang="zh-CN"/>
          </a:p>
          <a:p>
            <a:pPr lvl="2">
              <a:defRPr/>
            </a:pPr>
            <a:r>
              <a:rPr lang="zh-CN"/>
              <a:t>三级</a:t>
            </a:r>
            <a:endParaRPr lang="zh-CN"/>
          </a:p>
          <a:p>
            <a:pPr lvl="3">
              <a:defRPr/>
            </a:pPr>
            <a:r>
              <a:rPr lang="zh-CN"/>
              <a:t>四级</a:t>
            </a:r>
            <a:endParaRPr lang="zh-CN"/>
          </a:p>
          <a:p>
            <a:pPr lvl="4">
              <a:defRPr/>
            </a:pPr>
            <a:r>
              <a:rPr lang="zh-CN"/>
              <a:t>五级</a:t>
            </a:r>
            <a:endParaRPr lang="zh-CN"/>
          </a:p>
        </p:txBody>
      </p:sp>
      <p:sp>
        <p:nvSpPr>
          <p:cNvPr id="1147801656" name="日期占位符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722328E2-7D99-4FDE-B9B2-57203E0F95C5}" type="datetime1">
              <a:rPr lang="en-US"/>
            </a:fld>
            <a:endParaRPr lang="zh-CN"/>
          </a:p>
        </p:txBody>
      </p:sp>
      <p:sp>
        <p:nvSpPr>
          <p:cNvPr id="90669716" name="页脚占位符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zh-CN"/>
          </a:p>
        </p:txBody>
      </p:sp>
      <p:sp>
        <p:nvSpPr>
          <p:cNvPr id="194034755" name="平行四边形 6"/>
          <p:cNvSpPr/>
          <p:nvPr userDrawn="1"/>
        </p:nvSpPr>
        <p:spPr bwMode="auto">
          <a:xfrm>
            <a:off x="11185864" y="6489577"/>
            <a:ext cx="926237" cy="231898"/>
          </a:xfrm>
          <a:prstGeom prst="parallelogram">
            <a:avLst>
              <a:gd name="adj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/>
            </a:pPr>
            <a:r>
              <a:rPr lang="zh-CN" sz="1200"/>
              <a:t>  </a:t>
            </a:r>
            <a:fld id="{495449E5-BCFC-43B8-9298-C792E301F5DA}" type="slidenum">
              <a:rPr lang="en-US" sz="1200"/>
            </a:fld>
            <a:r>
              <a:rPr lang="en-US" sz="1200"/>
              <a:t> /28</a:t>
            </a:r>
            <a:endParaRPr lang="zh-CN" sz="12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 panose="020B0604020202020204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 panose="020B0604020202020204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0.svg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2.svg"/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4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9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9.xml"/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1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2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4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5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6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7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7596407" name="图形 17" descr="功能区"/>
          <p:cNvPicPr>
            <a:picLocks noChangeAspect="1"/>
          </p:cNvPicPr>
          <p:nvPr/>
        </p:nvPicPr>
        <p:blipFill rotWithShape="1"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auto">
          <a:xfrm>
            <a:off x="10991296" y="381594"/>
            <a:ext cx="914400" cy="914400"/>
          </a:xfrm>
          <a:prstGeom prst="rect">
            <a:avLst/>
          </a:prstGeom>
        </p:spPr>
      </p:pic>
      <p:pic>
        <p:nvPicPr>
          <p:cNvPr id="751478523" name="图片 18"/>
          <p:cNvPicPr>
            <a:picLocks noChangeAspect="1"/>
          </p:cNvPicPr>
          <p:nvPr/>
        </p:nvPicPr>
        <p:blipFill rotWithShape="1">
          <a:blip r:embed="rId3"/>
          <a:srcRect t="29956" r="-277"/>
          <a:stretch>
            <a:fillRect/>
          </a:stretch>
        </p:blipFill>
        <p:spPr bwMode="auto">
          <a:xfrm>
            <a:off x="286304" y="252136"/>
            <a:ext cx="5288915" cy="1173317"/>
          </a:xfrm>
          <a:prstGeom prst="rect">
            <a:avLst/>
          </a:prstGeom>
        </p:spPr>
      </p:pic>
      <p:sp>
        <p:nvSpPr>
          <p:cNvPr id="2048982309" name="TextBox 19"/>
          <p:cNvSpPr txBox="1"/>
          <p:nvPr/>
        </p:nvSpPr>
        <p:spPr bwMode="auto">
          <a:xfrm>
            <a:off x="2251710" y="1425575"/>
            <a:ext cx="6949440" cy="903605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4800" b="1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rPr>
              <a:t>Asterinas EXT4</a:t>
            </a:r>
            <a:endParaRPr sz="4800" b="1">
              <a:solidFill>
                <a:schemeClr val="tx1"/>
              </a:solidFill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944998377" name="TextBox 20"/>
          <p:cNvSpPr txBox="1"/>
          <p:nvPr/>
        </p:nvSpPr>
        <p:spPr bwMode="auto">
          <a:xfrm>
            <a:off x="2773172" y="2395220"/>
            <a:ext cx="6583680" cy="11734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sz="3200" b="1">
                <a:latin typeface="Times New Roman" panose="02020603050405020304"/>
                <a:cs typeface="Times New Roman" panose="02020603050405020304"/>
              </a:rPr>
              <a:t>—</a:t>
            </a:r>
            <a:r>
              <a:rPr sz="3200" b="1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rPr>
              <a:t>面向 RustOS 的高性能强一致性 EXT4 文件系统</a:t>
            </a:r>
            <a:endParaRPr sz="3200" b="1">
              <a:solidFill>
                <a:schemeClr val="tx1"/>
              </a:solidFill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213324218" name="TextBox 21"/>
          <p:cNvSpPr txBox="1"/>
          <p:nvPr/>
        </p:nvSpPr>
        <p:spPr bwMode="auto">
          <a:xfrm>
            <a:off x="2773045" y="3619500"/>
            <a:ext cx="7390765" cy="103886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rPr>
              <a:t>proj</a:t>
            </a:r>
            <a:r>
              <a:rPr lang="en-US" sz="2800" b="1">
                <a:solidFill>
                  <a:schemeClr val="tx1"/>
                </a:solidFill>
                <a:latin typeface="Times New Roman" panose="02020603050405020304"/>
                <a:cs typeface="Times New Roman" panose="02020603050405020304"/>
              </a:rPr>
              <a:t>8-Research on High-Performance and Strong-Consistency File System for RustOS</a:t>
            </a:r>
            <a:endParaRPr lang="en-US" sz="2800" b="1">
              <a:solidFill>
                <a:schemeClr val="tx1"/>
              </a:solidFill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562902207" name="TextBox 22"/>
          <p:cNvSpPr txBox="1"/>
          <p:nvPr/>
        </p:nvSpPr>
        <p:spPr bwMode="auto">
          <a:xfrm>
            <a:off x="4049394" y="4672329"/>
            <a:ext cx="5669639" cy="1920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50000"/>
              </a:lnSpc>
              <a:defRPr/>
            </a:pPr>
            <a:r>
              <a:rPr lang="zh-CN" sz="2000" b="1">
                <a:latin typeface="Arial" panose="020B0604020202020204"/>
                <a:ea typeface="Arial" panose="020B0604020202020204"/>
                <a:cs typeface="Arial" panose="020B0604020202020204"/>
              </a:rPr>
              <a:t>队伍名称：日志写了吗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50000"/>
              </a:lnSpc>
              <a:defRPr/>
            </a:pPr>
            <a:r>
              <a:rPr lang="zh-CN" sz="2000" b="1">
                <a:latin typeface="Arial" panose="020B0604020202020204"/>
                <a:ea typeface="Arial" panose="020B0604020202020204"/>
                <a:cs typeface="Arial" panose="020B0604020202020204"/>
              </a:rPr>
              <a:t>队伍成员：俞杰、梁丙煜、王毅航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50000"/>
              </a:lnSpc>
              <a:defRPr/>
            </a:pPr>
            <a:r>
              <a:rPr lang="zh-CN" sz="2000" b="1">
                <a:latin typeface="Arial" panose="020B0604020202020204"/>
                <a:ea typeface="Arial" panose="020B0604020202020204"/>
                <a:cs typeface="Arial" panose="020B0604020202020204"/>
              </a:rPr>
              <a:t>校内导师：夏文、李诗逸</a:t>
            </a:r>
            <a:endParaRPr sz="2000"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50000"/>
              </a:lnSpc>
              <a:defRPr/>
            </a:pPr>
            <a:endParaRPr sz="2000" b="0">
              <a:solidFill>
                <a:srgbClr val="545C69"/>
              </a:solidFill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975274" name="TextBox 1"/>
          <p:cNvSpPr txBox="1"/>
          <p:nvPr/>
        </p:nvSpPr>
        <p:spPr bwMode="auto">
          <a:xfrm>
            <a:off x="987552" y="640080"/>
            <a:ext cx="4572360" cy="76235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40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答辩大纲</a:t>
            </a:r>
            <a:endParaRPr sz="40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707442" name="TextBox 2"/>
          <p:cNvSpPr txBox="1"/>
          <p:nvPr/>
        </p:nvSpPr>
        <p:spPr bwMode="auto">
          <a:xfrm>
            <a:off x="1096009" y="1693544"/>
            <a:ext cx="4572360" cy="605707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1、项目背景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872305785" name="TextBox 3"/>
          <p:cNvSpPr txBox="1"/>
          <p:nvPr/>
        </p:nvSpPr>
        <p:spPr bwMode="auto">
          <a:xfrm>
            <a:off x="1096009" y="2588132"/>
            <a:ext cx="4572360" cy="605707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2、项目目标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110806986" name="TextBox 4"/>
          <p:cNvSpPr txBox="1"/>
          <p:nvPr/>
        </p:nvSpPr>
        <p:spPr bwMode="auto">
          <a:xfrm>
            <a:off x="1096009" y="3575430"/>
            <a:ext cx="4572360" cy="605707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3、设计实现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322219964" name="TextBox 5"/>
          <p:cNvSpPr txBox="1"/>
          <p:nvPr/>
        </p:nvSpPr>
        <p:spPr bwMode="auto">
          <a:xfrm>
            <a:off x="1096009" y="4516373"/>
            <a:ext cx="4572360" cy="605707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4、项目测试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58374847" name="TextBox 6"/>
          <p:cNvSpPr txBox="1"/>
          <p:nvPr/>
        </p:nvSpPr>
        <p:spPr bwMode="auto">
          <a:xfrm>
            <a:off x="1096009" y="5456682"/>
            <a:ext cx="4572360" cy="605707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5、总结展望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3666165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8973164" name="组合 19"/>
          <p:cNvGrpSpPr/>
          <p:nvPr/>
        </p:nvGrpSpPr>
        <p:grpSpPr bwMode="auto">
          <a:xfrm>
            <a:off x="0" y="1256291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839667791" name="文本框 7"/>
          <p:cNvSpPr txBox="1"/>
          <p:nvPr/>
        </p:nvSpPr>
        <p:spPr bwMode="auto">
          <a:xfrm>
            <a:off x="86359" y="1388370"/>
            <a:ext cx="233751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43273435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74620497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18838492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804725256" name="图形 22" descr="文凭卷筒"/>
          <p:cNvPicPr>
            <a:picLocks noChangeAspect="1"/>
          </p:cNvPicPr>
          <p:nvPr/>
        </p:nvPicPr>
        <p:blipFill rotWithShape="1"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2117880368" name="图片 1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484873683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40076332" name="文本框 24"/>
          <p:cNvSpPr txBox="1"/>
          <p:nvPr/>
        </p:nvSpPr>
        <p:spPr bwMode="auto">
          <a:xfrm>
            <a:off x="2717800" y="320675"/>
            <a:ext cx="9144000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1.1 </a:t>
            </a:r>
            <a:r>
              <a:rPr lang="zh-CN" sz="2800" b="1">
                <a:solidFill>
                  <a:srgbClr val="000000"/>
                </a:solidFill>
                <a:ea typeface="+mn-lt"/>
                <a:cs typeface="+mn-lt"/>
              </a:rPr>
              <a:t>文件系统</a:t>
            </a:r>
            <a:endParaRPr lang="zh-CN" sz="2800" b="1">
              <a:solidFill>
                <a:srgbClr val="000000"/>
              </a:solidFill>
              <a:ea typeface="+mn-lt"/>
              <a:cs typeface="+mn-lt"/>
            </a:endParaRPr>
          </a:p>
        </p:txBody>
      </p:sp>
      <p:cxnSp>
        <p:nvCxnSpPr>
          <p:cNvPr id="1591253133" name="直接连接符 25"/>
          <p:cNvCxnSpPr/>
          <p:nvPr/>
        </p:nvCxnSpPr>
        <p:spPr bwMode="auto">
          <a:xfrm>
            <a:off x="2743200" y="863599"/>
            <a:ext cx="9093200" cy="635"/>
          </a:xfrm>
          <a:prstGeom prst="line">
            <a:avLst/>
          </a:prstGeom>
          <a:ln w="12700">
            <a:solidFill>
              <a:srgbClr val="DEDEDE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03488876" name="文本框 26"/>
          <p:cNvSpPr txBox="1"/>
          <p:nvPr/>
        </p:nvSpPr>
        <p:spPr bwMode="auto">
          <a:xfrm>
            <a:off x="2737485" y="1043940"/>
            <a:ext cx="8653145" cy="103568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现代云服务可以灵活调度计算任务，但数据最终仍要落到持久化存储中。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AI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训练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 checkpoint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、数据库日志与数据页、对象存储元数据等，都需要通过文件系统完成组织和读写。</a:t>
            </a: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546226707" name="圆角矩形 17"/>
          <p:cNvSpPr/>
          <p:nvPr/>
        </p:nvSpPr>
        <p:spPr bwMode="auto">
          <a:xfrm>
            <a:off x="2717800" y="2259330"/>
            <a:ext cx="4432300" cy="3815714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 w="1524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548972293" name="文本框 18"/>
          <p:cNvSpPr txBox="1"/>
          <p:nvPr/>
        </p:nvSpPr>
        <p:spPr bwMode="auto">
          <a:xfrm>
            <a:off x="3215640" y="2818130"/>
            <a:ext cx="3251200" cy="22542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3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典型数据服务负载</a:t>
            </a:r>
            <a:endParaRPr lang="zh-CN" sz="13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9615272" name="圆角矩形 19"/>
          <p:cNvSpPr/>
          <p:nvPr/>
        </p:nvSpPr>
        <p:spPr bwMode="auto">
          <a:xfrm>
            <a:off x="2947035" y="3319145"/>
            <a:ext cx="965200" cy="78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pic>
        <p:nvPicPr>
          <p:cNvPr id="851576378" name="图片 20" descr="cloud-computing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 bwMode="auto">
          <a:xfrm>
            <a:off x="3174365" y="3470910"/>
            <a:ext cx="509905" cy="392430"/>
          </a:xfrm>
          <a:prstGeom prst="rect">
            <a:avLst/>
          </a:prstGeom>
        </p:spPr>
      </p:pic>
      <p:sp>
        <p:nvSpPr>
          <p:cNvPr id="1247851224" name="文本框 21"/>
          <p:cNvSpPr txBox="1"/>
          <p:nvPr/>
        </p:nvSpPr>
        <p:spPr bwMode="auto">
          <a:xfrm>
            <a:off x="3023235" y="3863340"/>
            <a:ext cx="812800" cy="16065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9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云原生</a:t>
            </a:r>
            <a:endParaRPr lang="zh-CN" sz="9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7254081" name="圆角矩形 23"/>
          <p:cNvSpPr/>
          <p:nvPr/>
        </p:nvSpPr>
        <p:spPr bwMode="auto">
          <a:xfrm>
            <a:off x="4534535" y="3319145"/>
            <a:ext cx="965200" cy="78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405807506" name="文本框 46"/>
          <p:cNvSpPr txBox="1"/>
          <p:nvPr/>
        </p:nvSpPr>
        <p:spPr bwMode="auto">
          <a:xfrm>
            <a:off x="4740909" y="3536315"/>
            <a:ext cx="552450" cy="41465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noAutofit/>
          </a:bodyPr>
          <a:p>
            <a:pPr algn="ctr">
              <a:spcAft>
                <a:spcPts val="0"/>
              </a:spcAft>
              <a:defRPr/>
            </a:pPr>
            <a:r>
              <a:rPr lang="en-US" sz="1600" b="1">
                <a:solidFill>
                  <a:srgbClr val="00B050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endParaRPr lang="en-US" sz="1600" b="1">
              <a:solidFill>
                <a:srgbClr val="00B0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3643883" name="文本框 52"/>
          <p:cNvSpPr txBox="1"/>
          <p:nvPr/>
        </p:nvSpPr>
        <p:spPr bwMode="auto">
          <a:xfrm>
            <a:off x="4610735" y="3863340"/>
            <a:ext cx="812800" cy="16065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00" b="1">
                <a:solidFill>
                  <a:srgbClr val="00B0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 </a:t>
            </a:r>
            <a:r>
              <a:rPr lang="zh-CN" sz="900" b="1">
                <a:solidFill>
                  <a:srgbClr val="00B05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训练</a:t>
            </a:r>
            <a:endParaRPr lang="zh-CN" sz="900" b="1">
              <a:solidFill>
                <a:srgbClr val="00B05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64992384" name="圆角矩形 54"/>
          <p:cNvSpPr/>
          <p:nvPr/>
        </p:nvSpPr>
        <p:spPr bwMode="auto">
          <a:xfrm>
            <a:off x="6086475" y="3319145"/>
            <a:ext cx="965200" cy="7874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pic>
        <p:nvPicPr>
          <p:cNvPr id="1860777342" name="图片 55" descr="database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 bwMode="auto">
          <a:xfrm>
            <a:off x="6441440" y="3470910"/>
            <a:ext cx="304800" cy="279400"/>
          </a:xfrm>
          <a:prstGeom prst="rect">
            <a:avLst/>
          </a:prstGeom>
        </p:spPr>
      </p:pic>
      <p:sp>
        <p:nvSpPr>
          <p:cNvPr id="1393539583" name="文本框 56"/>
          <p:cNvSpPr txBox="1"/>
          <p:nvPr/>
        </p:nvSpPr>
        <p:spPr bwMode="auto">
          <a:xfrm>
            <a:off x="6235700" y="3863340"/>
            <a:ext cx="812800" cy="16065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9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数据库</a:t>
            </a:r>
            <a:endParaRPr lang="zh-CN" sz="9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07611147" name="直接连接符 58"/>
          <p:cNvCxnSpPr>
            <a:stCxn id="107254081" idx="2"/>
          </p:cNvCxnSpPr>
          <p:nvPr/>
        </p:nvCxnSpPr>
        <p:spPr bwMode="auto">
          <a:xfrm flipH="1">
            <a:off x="5011420" y="4106545"/>
            <a:ext cx="5715" cy="645159"/>
          </a:xfrm>
          <a:prstGeom prst="line">
            <a:avLst/>
          </a:prstGeom>
          <a:ln w="2032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51571214" name="圆角矩形 59"/>
          <p:cNvSpPr/>
          <p:nvPr/>
        </p:nvSpPr>
        <p:spPr bwMode="auto">
          <a:xfrm>
            <a:off x="3902075" y="4751705"/>
            <a:ext cx="2184400" cy="457200"/>
          </a:xfrm>
          <a:prstGeom prst="roundRect">
            <a:avLst>
              <a:gd name="adj" fmla="val 16667"/>
            </a:avLst>
          </a:prstGeom>
          <a:solidFill>
            <a:srgbClr val="E7E7E7"/>
          </a:solidFill>
          <a:ln w="1524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522570837" name="文本框 60"/>
          <p:cNvSpPr txBox="1"/>
          <p:nvPr/>
        </p:nvSpPr>
        <p:spPr bwMode="auto">
          <a:xfrm>
            <a:off x="4092575" y="4843780"/>
            <a:ext cx="1803400" cy="186690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0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文件系统语义层</a:t>
            </a:r>
            <a:endParaRPr lang="zh-CN" sz="105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4321282" name="文本框 61"/>
          <p:cNvSpPr txBox="1"/>
          <p:nvPr/>
        </p:nvSpPr>
        <p:spPr bwMode="auto">
          <a:xfrm>
            <a:off x="4186555" y="5036820"/>
            <a:ext cx="1778000" cy="14033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75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POSIX / VFS / EXT4</a:t>
            </a:r>
            <a:endParaRPr lang="en-US" sz="75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823639168" name="直接连接符 62"/>
          <p:cNvCxnSpPr/>
          <p:nvPr/>
        </p:nvCxnSpPr>
        <p:spPr bwMode="auto">
          <a:xfrm>
            <a:off x="5022850" y="5208905"/>
            <a:ext cx="8890" cy="513080"/>
          </a:xfrm>
          <a:prstGeom prst="line">
            <a:avLst/>
          </a:prstGeom>
          <a:ln w="2032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72002064" name="圆角矩形 63"/>
          <p:cNvSpPr/>
          <p:nvPr/>
        </p:nvSpPr>
        <p:spPr bwMode="auto">
          <a:xfrm>
            <a:off x="3983355" y="5713095"/>
            <a:ext cx="2184400" cy="304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481879922" name="文本框 64"/>
          <p:cNvSpPr txBox="1"/>
          <p:nvPr/>
        </p:nvSpPr>
        <p:spPr bwMode="auto">
          <a:xfrm>
            <a:off x="4092575" y="5767705"/>
            <a:ext cx="1727199" cy="155575"/>
          </a:xfrm>
          <a:prstGeom prst="rect">
            <a:avLst/>
          </a:prstGeom>
          <a:noFill/>
        </p:spPr>
        <p:txBody>
          <a:bodyPr wrap="square" lIns="12700" tIns="12700" rIns="12700" bIns="127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8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块设备</a:t>
            </a:r>
            <a:r>
              <a:rPr lang="en-US" sz="850" b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SSD / NVMe</a:t>
            </a:r>
            <a:endParaRPr lang="en-US" sz="850" b="1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27973378" name="文本框 2"/>
          <p:cNvSpPr txBox="1"/>
          <p:nvPr/>
        </p:nvSpPr>
        <p:spPr bwMode="auto">
          <a:xfrm>
            <a:off x="7545070" y="2325370"/>
            <a:ext cx="4064000" cy="3692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因此，文件系统不只是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“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读写文件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”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，还需要提供三类基础能力：</a:t>
            </a:r>
            <a:endParaRPr lang="zh-CN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•</a:t>
            </a:r>
            <a:r>
              <a:rPr lang="zh-CN" b="1">
                <a:solidFill>
                  <a:srgbClr val="000000"/>
                </a:solidFill>
                <a:ea typeface="+mn-lt"/>
                <a:cs typeface="+mn-lt"/>
              </a:rPr>
              <a:t>稳定接口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：向上提供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 POSIX 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文件、目录、权限和同步语义，屏蔽底层设备差异。</a:t>
            </a:r>
            <a:endParaRPr lang="zh-CN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endParaRPr lang="zh-CN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•</a:t>
            </a:r>
            <a:r>
              <a:rPr lang="zh-CN" b="1">
                <a:solidFill>
                  <a:srgbClr val="000000"/>
                </a:solidFill>
                <a:ea typeface="+mn-lt"/>
                <a:cs typeface="+mn-lt"/>
              </a:rPr>
              <a:t>数据组织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：向下管理块分配、空间回收和连续区间映射，高效组织磁盘数据。</a:t>
            </a:r>
            <a:endParaRPr lang="zh-CN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endParaRPr lang="zh-CN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•</a:t>
            </a:r>
            <a:r>
              <a:rPr lang="zh-CN" b="1">
                <a:solidFill>
                  <a:srgbClr val="000000"/>
                </a:solidFill>
                <a:ea typeface="+mn-lt"/>
                <a:cs typeface="+mn-lt"/>
              </a:rPr>
              <a:t>可靠恢复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：在系统异常、掉电或应用崩溃后，帮助磁盘恢复到一致状态。</a:t>
            </a:r>
            <a:endParaRPr lang="zh-CN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defRPr/>
            </a:pPr>
            <a:endParaRPr lang="zh-CN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1026381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635511882" name="组合 19"/>
          <p:cNvGrpSpPr/>
          <p:nvPr/>
        </p:nvGrpSpPr>
        <p:grpSpPr bwMode="auto">
          <a:xfrm>
            <a:off x="0" y="1256291"/>
            <a:ext cx="2737505" cy="762000"/>
            <a:chOff x="0" y="772160"/>
            <a:chExt cx="2737505" cy="762000"/>
          </a:xfrm>
        </p:grpSpPr>
        <p:sp>
          <p:nvSpPr>
            <p:cNvPr id="7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4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565617669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08726866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3840925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940368123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927555709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1028732010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074219420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21156702" name="文本框 5"/>
          <p:cNvSpPr txBox="1"/>
          <p:nvPr/>
        </p:nvSpPr>
        <p:spPr bwMode="auto">
          <a:xfrm>
            <a:off x="2743200" y="317500"/>
            <a:ext cx="9144000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1.2 EXT4</a:t>
            </a:r>
            <a:endParaRPr lang="zh-CN" sz="2800" b="1">
              <a:solidFill>
                <a:srgbClr val="000000"/>
              </a:solidFill>
              <a:ea typeface="+mn-lt"/>
              <a:cs typeface="+mn-lt"/>
            </a:endParaRPr>
          </a:p>
        </p:txBody>
      </p:sp>
      <p:cxnSp>
        <p:nvCxnSpPr>
          <p:cNvPr id="1324619007" name="直接连接符 7"/>
          <p:cNvCxnSpPr/>
          <p:nvPr/>
        </p:nvCxnSpPr>
        <p:spPr bwMode="auto">
          <a:xfrm>
            <a:off x="2743200" y="863599"/>
            <a:ext cx="9093200" cy="635"/>
          </a:xfrm>
          <a:prstGeom prst="line">
            <a:avLst/>
          </a:prstGeom>
          <a:ln w="12700">
            <a:solidFill>
              <a:srgbClr val="DEDEDE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45066512" name="文本框 8"/>
          <p:cNvSpPr txBox="1"/>
          <p:nvPr/>
        </p:nvSpPr>
        <p:spPr bwMode="auto">
          <a:xfrm>
            <a:off x="2794000" y="1016000"/>
            <a:ext cx="8890000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EXT4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文件系统长期支撑了大量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Linux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应用场景。服务器、数据库、虚拟化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/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容器和嵌入式设备都依赖它成熟的实现、完善的工具链和可靠的恢复机制。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1135353227" name="文本框 9"/>
          <p:cNvSpPr txBox="1"/>
          <p:nvPr/>
        </p:nvSpPr>
        <p:spPr bwMode="auto">
          <a:xfrm>
            <a:off x="2844800" y="1778000"/>
            <a:ext cx="3302000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4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Linux </a:t>
            </a:r>
            <a:r>
              <a:rPr lang="zh-CN" sz="14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生态中的典型工作负载</a:t>
            </a:r>
            <a:endParaRPr lang="zh-CN" sz="1400" b="1">
              <a:solidFill>
                <a:srgbClr val="0070C0"/>
              </a:solidFill>
              <a:latin typeface="+mn-ea"/>
              <a:ea typeface="微软雅黑" panose="020B0503020204020204" charset="-122"/>
              <a:cs typeface="+mn-ea"/>
            </a:endParaRPr>
          </a:p>
        </p:txBody>
      </p:sp>
      <p:sp>
        <p:nvSpPr>
          <p:cNvPr id="2047220472" name="圆角矩形 10"/>
          <p:cNvSpPr/>
          <p:nvPr/>
        </p:nvSpPr>
        <p:spPr bwMode="auto">
          <a:xfrm>
            <a:off x="2794000" y="2171700"/>
            <a:ext cx="2006600" cy="88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365565621" name="文本框 11"/>
          <p:cNvSpPr txBox="1"/>
          <p:nvPr/>
        </p:nvSpPr>
        <p:spPr bwMode="auto">
          <a:xfrm>
            <a:off x="2850515" y="2490470"/>
            <a:ext cx="1803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5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服务器</a:t>
            </a:r>
            <a:r>
              <a:rPr lang="en-US" sz="115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 / </a:t>
            </a:r>
            <a:r>
              <a:rPr lang="zh-CN" sz="115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云主机</a:t>
            </a:r>
            <a:endParaRPr lang="zh-CN" sz="1150" b="1">
              <a:solidFill>
                <a:srgbClr val="0070C0"/>
              </a:solidFill>
              <a:latin typeface="+mn-ea"/>
              <a:ea typeface="微软雅黑" panose="020B0503020204020204" charset="-122"/>
              <a:cs typeface="+mn-ea"/>
            </a:endParaRPr>
          </a:p>
        </p:txBody>
      </p:sp>
      <p:cxnSp>
        <p:nvCxnSpPr>
          <p:cNvPr id="1659602759" name="直接连接符 14"/>
          <p:cNvCxnSpPr/>
          <p:nvPr/>
        </p:nvCxnSpPr>
        <p:spPr bwMode="auto">
          <a:xfrm>
            <a:off x="3797300" y="3111500"/>
            <a:ext cx="635" cy="317500"/>
          </a:xfrm>
          <a:prstGeom prst="line">
            <a:avLst/>
          </a:prstGeom>
          <a:ln w="1905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43072515" name="圆角矩形 15"/>
          <p:cNvSpPr/>
          <p:nvPr/>
        </p:nvSpPr>
        <p:spPr bwMode="auto">
          <a:xfrm>
            <a:off x="5080000" y="2171700"/>
            <a:ext cx="2006600" cy="88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404199527" name="文本框 16"/>
          <p:cNvSpPr txBox="1"/>
          <p:nvPr/>
        </p:nvSpPr>
        <p:spPr bwMode="auto">
          <a:xfrm>
            <a:off x="5159375" y="2490470"/>
            <a:ext cx="1803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5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数据库</a:t>
            </a:r>
            <a:r>
              <a:rPr lang="en-US" sz="115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/ </a:t>
            </a:r>
            <a:r>
              <a:rPr lang="zh-CN" sz="115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中间件</a:t>
            </a:r>
            <a:endParaRPr lang="zh-CN" sz="115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229874879" name="直接连接符 18"/>
          <p:cNvCxnSpPr/>
          <p:nvPr/>
        </p:nvCxnSpPr>
        <p:spPr bwMode="auto">
          <a:xfrm>
            <a:off x="6083300" y="3111500"/>
            <a:ext cx="635" cy="317500"/>
          </a:xfrm>
          <a:prstGeom prst="line">
            <a:avLst/>
          </a:prstGeom>
          <a:ln w="1905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8824664" name="圆角矩形 19"/>
          <p:cNvSpPr/>
          <p:nvPr/>
        </p:nvSpPr>
        <p:spPr bwMode="auto">
          <a:xfrm>
            <a:off x="7366000" y="2171700"/>
            <a:ext cx="2006600" cy="88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345298714" name="文本框 20"/>
          <p:cNvSpPr txBox="1"/>
          <p:nvPr/>
        </p:nvSpPr>
        <p:spPr bwMode="auto">
          <a:xfrm>
            <a:off x="7467600" y="2490470"/>
            <a:ext cx="1803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50" b="1">
                <a:solidFill>
                  <a:srgbClr val="00B050"/>
                </a:solidFill>
                <a:latin typeface="+mn-ea"/>
                <a:ea typeface="微软雅黑" panose="020B0503020204020204" charset="-122"/>
                <a:cs typeface="+mn-ea"/>
              </a:rPr>
              <a:t>虚拟机</a:t>
            </a:r>
            <a:r>
              <a:rPr lang="en-US" sz="1150" b="1">
                <a:solidFill>
                  <a:srgbClr val="00B050"/>
                </a:solidFill>
                <a:latin typeface="+mn-ea"/>
                <a:ea typeface="微软雅黑" panose="020B0503020204020204" charset="-122"/>
                <a:cs typeface="+mn-ea"/>
              </a:rPr>
              <a:t> / </a:t>
            </a:r>
            <a:r>
              <a:rPr lang="zh-CN" sz="1150" b="1">
                <a:solidFill>
                  <a:srgbClr val="00B050"/>
                </a:solidFill>
                <a:latin typeface="+mn-ea"/>
                <a:ea typeface="微软雅黑" panose="020B0503020204020204" charset="-122"/>
                <a:cs typeface="+mn-ea"/>
              </a:rPr>
              <a:t>容器</a:t>
            </a:r>
            <a:endParaRPr lang="zh-CN" sz="1150" b="1">
              <a:solidFill>
                <a:srgbClr val="00B050"/>
              </a:solidFill>
              <a:latin typeface="+mn-ea"/>
              <a:ea typeface="微软雅黑" panose="020B0503020204020204" charset="-122"/>
              <a:cs typeface="+mn-ea"/>
            </a:endParaRPr>
          </a:p>
        </p:txBody>
      </p:sp>
      <p:cxnSp>
        <p:nvCxnSpPr>
          <p:cNvPr id="2025600370" name="直接连接符 22"/>
          <p:cNvCxnSpPr/>
          <p:nvPr/>
        </p:nvCxnSpPr>
        <p:spPr bwMode="auto">
          <a:xfrm>
            <a:off x="8369300" y="3111500"/>
            <a:ext cx="635" cy="317500"/>
          </a:xfrm>
          <a:prstGeom prst="line">
            <a:avLst/>
          </a:prstGeom>
          <a:ln w="1905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42163038" name="圆角矩形 23"/>
          <p:cNvSpPr/>
          <p:nvPr/>
        </p:nvSpPr>
        <p:spPr bwMode="auto">
          <a:xfrm>
            <a:off x="9652000" y="2171700"/>
            <a:ext cx="2006600" cy="88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6D6D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008403043" name="文本框 24"/>
          <p:cNvSpPr txBox="1"/>
          <p:nvPr/>
        </p:nvSpPr>
        <p:spPr bwMode="auto">
          <a:xfrm>
            <a:off x="9742805" y="2490470"/>
            <a:ext cx="1803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50" b="1">
                <a:solidFill>
                  <a:srgbClr val="FF8000"/>
                </a:solidFill>
                <a:latin typeface="+mn-ea"/>
                <a:ea typeface="微软雅黑" panose="020B0503020204020204" charset="-122"/>
              </a:rPr>
              <a:t>开发与嵌入式</a:t>
            </a:r>
            <a:endParaRPr lang="zh-CN" sz="1150" b="1">
              <a:solidFill>
                <a:srgbClr val="FF8000"/>
              </a:solidFill>
              <a:latin typeface="+mn-ea"/>
              <a:ea typeface="微软雅黑" panose="020B0503020204020204" charset="-122"/>
            </a:endParaRPr>
          </a:p>
        </p:txBody>
      </p:sp>
      <p:cxnSp>
        <p:nvCxnSpPr>
          <p:cNvPr id="1735341477" name="直接连接符 26"/>
          <p:cNvCxnSpPr/>
          <p:nvPr/>
        </p:nvCxnSpPr>
        <p:spPr bwMode="auto">
          <a:xfrm>
            <a:off x="10655300" y="3111500"/>
            <a:ext cx="635" cy="317500"/>
          </a:xfrm>
          <a:prstGeom prst="line">
            <a:avLst/>
          </a:prstGeom>
          <a:ln w="19050"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05305560" name="圆角矩形 27"/>
          <p:cNvSpPr/>
          <p:nvPr/>
        </p:nvSpPr>
        <p:spPr bwMode="auto">
          <a:xfrm>
            <a:off x="3175000" y="3505199"/>
            <a:ext cx="8153399" cy="939800"/>
          </a:xfrm>
          <a:prstGeom prst="roundRect">
            <a:avLst>
              <a:gd name="adj" fmla="val 16667"/>
            </a:avLst>
          </a:prstGeom>
          <a:solidFill>
            <a:srgbClr val="E7E7E7"/>
          </a:solidFill>
          <a:ln w="2032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473125937" name="文本框 47"/>
          <p:cNvSpPr txBox="1"/>
          <p:nvPr/>
        </p:nvSpPr>
        <p:spPr bwMode="auto">
          <a:xfrm>
            <a:off x="5905500" y="3670300"/>
            <a:ext cx="1333500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24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EXT4</a:t>
            </a:r>
            <a:endParaRPr lang="en-US" sz="24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62597247" name="文本框 49"/>
          <p:cNvSpPr txBox="1"/>
          <p:nvPr/>
        </p:nvSpPr>
        <p:spPr bwMode="auto">
          <a:xfrm>
            <a:off x="4597400" y="4114800"/>
            <a:ext cx="5461000" cy="2133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050" b="1">
                <a:solidFill>
                  <a:srgbClr val="333333"/>
                </a:solidFill>
                <a:latin typeface="+mn-ea"/>
                <a:ea typeface="微软雅黑" panose="020B0503020204020204" charset="-122"/>
                <a:cs typeface="+mn-ea"/>
              </a:rPr>
              <a:t>向上承接</a:t>
            </a:r>
            <a:r>
              <a:rPr lang="en-US" sz="1050" b="1">
                <a:solidFill>
                  <a:srgbClr val="333333"/>
                </a:solidFill>
                <a:latin typeface="+mn-ea"/>
                <a:ea typeface="微软雅黑" panose="020B0503020204020204" charset="-122"/>
                <a:cs typeface="+mn-ea"/>
              </a:rPr>
              <a:t> POSIX/VFS </a:t>
            </a:r>
            <a:r>
              <a:rPr lang="zh-CN" sz="1050" b="1">
                <a:solidFill>
                  <a:srgbClr val="333333"/>
                </a:solidFill>
                <a:latin typeface="+mn-ea"/>
                <a:ea typeface="微软雅黑" panose="020B0503020204020204" charset="-122"/>
                <a:cs typeface="+mn-ea"/>
              </a:rPr>
              <a:t>语义，向下组织块设备</a:t>
            </a:r>
            <a:r>
              <a:rPr lang="en-US" sz="1050" b="1">
                <a:solidFill>
                  <a:srgbClr val="333333"/>
                </a:solidFill>
                <a:latin typeface="+mn-ea"/>
                <a:ea typeface="微软雅黑" panose="020B0503020204020204" charset="-122"/>
                <a:cs typeface="+mn-ea"/>
              </a:rPr>
              <a:t> I/O</a:t>
            </a:r>
            <a:r>
              <a:rPr lang="zh-CN" sz="1050" b="1">
                <a:solidFill>
                  <a:srgbClr val="333333"/>
                </a:solidFill>
                <a:latin typeface="+mn-ea"/>
                <a:ea typeface="微软雅黑" panose="020B0503020204020204" charset="-122"/>
                <a:cs typeface="+mn-ea"/>
              </a:rPr>
              <a:t>，并通过成熟工具链支撑长期运维。</a:t>
            </a:r>
            <a:endParaRPr lang="zh-CN" sz="1050" b="1">
              <a:solidFill>
                <a:srgbClr val="333333"/>
              </a:solidFill>
              <a:latin typeface="+mn-ea"/>
              <a:ea typeface="微软雅黑" panose="020B0503020204020204" charset="-122"/>
              <a:cs typeface="+mn-ea"/>
            </a:endParaRPr>
          </a:p>
        </p:txBody>
      </p:sp>
      <p:pic>
        <p:nvPicPr>
          <p:cNvPr id="1570154856" name="图片 50" descr="tux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3581400" y="3606800"/>
            <a:ext cx="609600" cy="698500"/>
          </a:xfrm>
          <a:prstGeom prst="rect">
            <a:avLst/>
          </a:prstGeom>
        </p:spPr>
      </p:pic>
      <p:sp>
        <p:nvSpPr>
          <p:cNvPr id="686943685" name="文本框 56"/>
          <p:cNvSpPr txBox="1"/>
          <p:nvPr/>
        </p:nvSpPr>
        <p:spPr bwMode="auto">
          <a:xfrm>
            <a:off x="2844800" y="4762500"/>
            <a:ext cx="1524000" cy="25844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350" b="1">
                <a:solidFill>
                  <a:srgbClr val="0070C0"/>
                </a:solidFill>
                <a:latin typeface="+mn-ea"/>
                <a:ea typeface="微软雅黑" panose="020B0503020204020204" charset="-122"/>
              </a:rPr>
              <a:t>核心工程能力</a:t>
            </a:r>
            <a:endParaRPr lang="zh-CN" sz="1350" b="1">
              <a:solidFill>
                <a:srgbClr val="0070C0"/>
              </a:solidFill>
              <a:latin typeface="+mn-ea"/>
              <a:ea typeface="微软雅黑" panose="020B0503020204020204" charset="-122"/>
            </a:endParaRPr>
          </a:p>
        </p:txBody>
      </p:sp>
      <p:sp>
        <p:nvSpPr>
          <p:cNvPr id="1129405054" name="圆角矩形 57"/>
          <p:cNvSpPr/>
          <p:nvPr/>
        </p:nvSpPr>
        <p:spPr bwMode="auto">
          <a:xfrm>
            <a:off x="2819400" y="5143500"/>
            <a:ext cx="1651000" cy="35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92798013" name="文本框 58"/>
          <p:cNvSpPr txBox="1"/>
          <p:nvPr/>
        </p:nvSpPr>
        <p:spPr bwMode="auto">
          <a:xfrm>
            <a:off x="2882899" y="5232400"/>
            <a:ext cx="1524000" cy="1860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extent </a:t>
            </a:r>
            <a:r>
              <a:rPr lang="zh-CN" sz="9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连续块映射</a:t>
            </a:r>
            <a:endParaRPr lang="zh-CN" sz="9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41890130" name="圆角矩形 59"/>
          <p:cNvSpPr/>
          <p:nvPr/>
        </p:nvSpPr>
        <p:spPr bwMode="auto">
          <a:xfrm>
            <a:off x="4902200" y="5143500"/>
            <a:ext cx="1651000" cy="35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631000000" name="文本框 60"/>
          <p:cNvSpPr txBox="1"/>
          <p:nvPr/>
        </p:nvSpPr>
        <p:spPr bwMode="auto">
          <a:xfrm>
            <a:off x="4965700" y="5232400"/>
            <a:ext cx="1524000" cy="1860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delayed allocation</a:t>
            </a:r>
            <a:endParaRPr lang="en-US" sz="9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638273" name="圆角矩形 61"/>
          <p:cNvSpPr/>
          <p:nvPr/>
        </p:nvSpPr>
        <p:spPr bwMode="auto">
          <a:xfrm>
            <a:off x="6985000" y="5143500"/>
            <a:ext cx="1651000" cy="35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783310457" name="文本框 62"/>
          <p:cNvSpPr txBox="1"/>
          <p:nvPr/>
        </p:nvSpPr>
        <p:spPr bwMode="auto">
          <a:xfrm>
            <a:off x="6921500" y="5232400"/>
            <a:ext cx="1524000" cy="1860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JBD2 journal</a:t>
            </a:r>
            <a:endParaRPr lang="en-US" sz="9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04825244" name="圆角矩形 63"/>
          <p:cNvSpPr/>
          <p:nvPr/>
        </p:nvSpPr>
        <p:spPr bwMode="auto">
          <a:xfrm>
            <a:off x="9271000" y="5143500"/>
            <a:ext cx="1651000" cy="35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530649076" name="文本框 64"/>
          <p:cNvSpPr txBox="1"/>
          <p:nvPr/>
        </p:nvSpPr>
        <p:spPr bwMode="auto">
          <a:xfrm>
            <a:off x="9220200" y="5232400"/>
            <a:ext cx="1524000" cy="1860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metadata checksum</a:t>
            </a:r>
            <a:endParaRPr lang="en-US" sz="9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8083022" name="文本框 67"/>
          <p:cNvSpPr txBox="1"/>
          <p:nvPr/>
        </p:nvSpPr>
        <p:spPr bwMode="auto">
          <a:xfrm>
            <a:off x="3111500" y="5867399"/>
            <a:ext cx="8255000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项目背景：在</a:t>
            </a:r>
            <a:r>
              <a:rPr lang="en-US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 Asterinas </a:t>
            </a:r>
            <a:r>
              <a:rPr lang="zh-CN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上实现</a:t>
            </a:r>
            <a:r>
              <a:rPr lang="en-US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 EXT4</a:t>
            </a:r>
            <a:r>
              <a:rPr lang="zh-CN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，就是补齐</a:t>
            </a:r>
            <a:r>
              <a:rPr lang="en-US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 RustOS </a:t>
            </a:r>
            <a:r>
              <a:rPr lang="zh-CN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承载真实</a:t>
            </a:r>
            <a:r>
              <a:rPr lang="en-US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 Linux </a:t>
            </a:r>
            <a:r>
              <a:rPr lang="zh-CN" sz="1400" b="1">
                <a:solidFill>
                  <a:schemeClr val="tx1"/>
                </a:solidFill>
                <a:latin typeface="+mn-ea"/>
                <a:ea typeface="微软雅黑" panose="020B0503020204020204" charset="-122"/>
                <a:cs typeface="+mn-ea"/>
              </a:rPr>
              <a:t>应用生态的关键存储底座。</a:t>
            </a:r>
            <a:endParaRPr lang="zh-CN" sz="1400" b="1">
              <a:solidFill>
                <a:schemeClr val="tx1"/>
              </a:solidFill>
              <a:latin typeface="+mn-ea"/>
              <a:ea typeface="微软雅黑" panose="020B0503020204020204" charset="-122"/>
              <a:cs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3500707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791699541" name="组合 19"/>
          <p:cNvGrpSpPr/>
          <p:nvPr/>
        </p:nvGrpSpPr>
        <p:grpSpPr bwMode="auto">
          <a:xfrm>
            <a:off x="0" y="1256291"/>
            <a:ext cx="2737505" cy="762000"/>
            <a:chOff x="0" y="772160"/>
            <a:chExt cx="2737505" cy="762000"/>
          </a:xfrm>
        </p:grpSpPr>
        <p:sp>
          <p:nvSpPr>
            <p:cNvPr id="7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4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2113296301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056711190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65010658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82069770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642353651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583090217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379327059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793554233" name="文本框 32"/>
          <p:cNvSpPr txBox="1"/>
          <p:nvPr/>
        </p:nvSpPr>
        <p:spPr bwMode="auto">
          <a:xfrm>
            <a:off x="2743200" y="317500"/>
            <a:ext cx="9144000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2800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1.3 </a:t>
            </a:r>
            <a:r>
              <a:rPr lang="zh-CN" sz="2800" b="1">
                <a:solidFill>
                  <a:srgbClr val="000000"/>
                </a:solidFill>
                <a:ea typeface="+mn-lt"/>
                <a:cs typeface="+mn-lt"/>
              </a:rPr>
              <a:t>一致性与性能代价</a:t>
            </a:r>
            <a:endParaRPr lang="zh-CN" sz="2800" b="1">
              <a:solidFill>
                <a:srgbClr val="000000"/>
              </a:solidFill>
              <a:ea typeface="+mn-lt"/>
              <a:cs typeface="+mn-lt"/>
            </a:endParaRPr>
          </a:p>
        </p:txBody>
      </p:sp>
      <p:cxnSp>
        <p:nvCxnSpPr>
          <p:cNvPr id="1410311430" name="直接连接符 33"/>
          <p:cNvCxnSpPr/>
          <p:nvPr/>
        </p:nvCxnSpPr>
        <p:spPr bwMode="auto">
          <a:xfrm>
            <a:off x="2743200" y="863599"/>
            <a:ext cx="9093200" cy="635"/>
          </a:xfrm>
          <a:prstGeom prst="line">
            <a:avLst/>
          </a:prstGeom>
          <a:ln w="12700">
            <a:solidFill>
              <a:srgbClr val="DEDEDE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65157832" name="文本框 34"/>
          <p:cNvSpPr txBox="1"/>
          <p:nvPr/>
        </p:nvSpPr>
        <p:spPr bwMode="auto">
          <a:xfrm>
            <a:off x="2794000" y="990600"/>
            <a:ext cx="9017000" cy="789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传统文件系统通常假设系统可能随时崩溃，因此会通过日志、写入顺序约束和同步刷盘来保证恢复后状态一致。这样做提高了可靠性，但也在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 I/O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路径中加入了额外开销。随着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 SSD/NVMe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等高速设备降低了硬件访问延迟，这些软件层面的等待、排序和元数据写入，反而更容易成为性能瓶颈。</a:t>
            </a: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962824636" name="文本框 35"/>
          <p:cNvSpPr txBox="1"/>
          <p:nvPr/>
        </p:nvSpPr>
        <p:spPr bwMode="auto">
          <a:xfrm>
            <a:off x="3022600" y="1981200"/>
            <a:ext cx="1397000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500" b="1">
                <a:solidFill>
                  <a:srgbClr val="00B050"/>
                </a:solidFill>
                <a:latin typeface="微软雅黑" panose="020B0503020204020204" charset="-122"/>
                <a:ea typeface="微软雅黑" panose="020B0503020204020204" charset="-122"/>
              </a:rPr>
              <a:t>安全收益</a:t>
            </a:r>
            <a:endParaRPr lang="zh-CN" sz="1500" b="1">
              <a:solidFill>
                <a:srgbClr val="00B05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2187503" name="文本框 36"/>
          <p:cNvSpPr txBox="1"/>
          <p:nvPr/>
        </p:nvSpPr>
        <p:spPr bwMode="auto">
          <a:xfrm>
            <a:off x="8153399" y="1981200"/>
            <a:ext cx="1397000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500" b="1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</a:rPr>
              <a:t>性能代价</a:t>
            </a:r>
            <a:endParaRPr lang="zh-CN" sz="1500" b="1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045560" name="矩形 37"/>
          <p:cNvSpPr/>
          <p:nvPr/>
        </p:nvSpPr>
        <p:spPr bwMode="auto">
          <a:xfrm>
            <a:off x="2794000" y="2413000"/>
            <a:ext cx="1625600" cy="558800"/>
          </a:xfrm>
          <a:prstGeom prst="rect">
            <a:avLst/>
          </a:prstGeom>
          <a:solidFill>
            <a:srgbClr val="F7F7F7"/>
          </a:solidFill>
          <a:ln w="1270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800355405" name="文本框 38"/>
          <p:cNvSpPr txBox="1"/>
          <p:nvPr/>
        </p:nvSpPr>
        <p:spPr bwMode="auto">
          <a:xfrm>
            <a:off x="2895600" y="2565400"/>
            <a:ext cx="1422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1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JBD2 </a:t>
            </a:r>
            <a:r>
              <a:rPr lang="zh-CN" sz="11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日志</a:t>
            </a:r>
            <a:endParaRPr lang="zh-CN" sz="115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64893202" name="文本框 39"/>
          <p:cNvSpPr txBox="1"/>
          <p:nvPr/>
        </p:nvSpPr>
        <p:spPr bwMode="auto">
          <a:xfrm>
            <a:off x="4699000" y="2565400"/>
            <a:ext cx="31115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崩溃后只重放完整事务</a:t>
            </a:r>
            <a:endParaRPr lang="zh-CN" sz="1200" b="1">
              <a:solidFill>
                <a:srgbClr val="333333"/>
              </a:solidFill>
              <a:ea typeface="+mn-lt"/>
              <a:cs typeface="+mn-lt"/>
            </a:endParaRPr>
          </a:p>
        </p:txBody>
      </p:sp>
      <p:sp>
        <p:nvSpPr>
          <p:cNvPr id="368668761" name="文本框 40"/>
          <p:cNvSpPr txBox="1"/>
          <p:nvPr/>
        </p:nvSpPr>
        <p:spPr bwMode="auto">
          <a:xfrm>
            <a:off x="8255000" y="2567940"/>
            <a:ext cx="32385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额外元数据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 I/O 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与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 checkpoint 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写回</a:t>
            </a:r>
            <a:endParaRPr lang="zh-CN" sz="1200" b="1">
              <a:solidFill>
                <a:srgbClr val="333333"/>
              </a:solidFill>
              <a:ea typeface="+mn-lt"/>
              <a:cs typeface="+mn-lt"/>
            </a:endParaRPr>
          </a:p>
        </p:txBody>
      </p:sp>
      <p:cxnSp>
        <p:nvCxnSpPr>
          <p:cNvPr id="1886168491" name="直接连接符 41"/>
          <p:cNvCxnSpPr/>
          <p:nvPr/>
        </p:nvCxnSpPr>
        <p:spPr bwMode="auto">
          <a:xfrm>
            <a:off x="4445000" y="2692400"/>
            <a:ext cx="1905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75762024" name="直接连接符 42"/>
          <p:cNvCxnSpPr/>
          <p:nvPr/>
        </p:nvCxnSpPr>
        <p:spPr bwMode="auto">
          <a:xfrm>
            <a:off x="7874000" y="2692400"/>
            <a:ext cx="2794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9816687" name="矩形 43"/>
          <p:cNvSpPr/>
          <p:nvPr/>
        </p:nvSpPr>
        <p:spPr bwMode="auto">
          <a:xfrm>
            <a:off x="2794000" y="3124200"/>
            <a:ext cx="1625600" cy="558800"/>
          </a:xfrm>
          <a:prstGeom prst="rect">
            <a:avLst/>
          </a:prstGeom>
          <a:solidFill>
            <a:srgbClr val="F7F7F7"/>
          </a:solidFill>
          <a:ln w="1270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997290694" name="文本框 44"/>
          <p:cNvSpPr txBox="1"/>
          <p:nvPr/>
        </p:nvSpPr>
        <p:spPr bwMode="auto">
          <a:xfrm>
            <a:off x="2895600" y="3276600"/>
            <a:ext cx="1422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顺序屏障</a:t>
            </a:r>
            <a:endParaRPr lang="zh-CN" sz="115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7453784" name="文本框 45"/>
          <p:cNvSpPr txBox="1"/>
          <p:nvPr/>
        </p:nvSpPr>
        <p:spPr bwMode="auto">
          <a:xfrm>
            <a:off x="4704080" y="3265170"/>
            <a:ext cx="3111500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约束提交顺序，避免写缓存乱序导致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 journal 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失效</a:t>
            </a:r>
            <a:endParaRPr lang="zh-CN" sz="1200" b="1">
              <a:solidFill>
                <a:srgbClr val="333333"/>
              </a:solidFill>
              <a:ea typeface="+mn-lt"/>
              <a:cs typeface="+mn-lt"/>
            </a:endParaRPr>
          </a:p>
        </p:txBody>
      </p:sp>
      <p:sp>
        <p:nvSpPr>
          <p:cNvPr id="879530206" name="文本框 46"/>
          <p:cNvSpPr txBox="1"/>
          <p:nvPr/>
        </p:nvSpPr>
        <p:spPr bwMode="auto">
          <a:xfrm>
            <a:off x="8242300" y="3291840"/>
            <a:ext cx="32385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  <a:cs typeface="+mn-ea"/>
              </a:rPr>
              <a:t>增加等待，降低高速设备并行度</a:t>
            </a:r>
            <a:endParaRPr lang="zh-CN" sz="1200" b="1">
              <a:solidFill>
                <a:srgbClr val="333333"/>
              </a:solidFill>
              <a:ea typeface="+mn-lt"/>
              <a:cs typeface="+mn-ea"/>
            </a:endParaRPr>
          </a:p>
        </p:txBody>
      </p:sp>
      <p:cxnSp>
        <p:nvCxnSpPr>
          <p:cNvPr id="1872661526" name="直接连接符 47"/>
          <p:cNvCxnSpPr/>
          <p:nvPr/>
        </p:nvCxnSpPr>
        <p:spPr bwMode="auto">
          <a:xfrm>
            <a:off x="4445000" y="3403600"/>
            <a:ext cx="1905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19404032" name="直接连接符 48"/>
          <p:cNvCxnSpPr/>
          <p:nvPr/>
        </p:nvCxnSpPr>
        <p:spPr bwMode="auto">
          <a:xfrm>
            <a:off x="7874000" y="3403600"/>
            <a:ext cx="2794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20191896" name="矩形 49"/>
          <p:cNvSpPr/>
          <p:nvPr/>
        </p:nvSpPr>
        <p:spPr bwMode="auto">
          <a:xfrm>
            <a:off x="2819400" y="3935730"/>
            <a:ext cx="1625600" cy="558800"/>
          </a:xfrm>
          <a:prstGeom prst="rect">
            <a:avLst/>
          </a:prstGeom>
          <a:solidFill>
            <a:srgbClr val="F7F7F7"/>
          </a:solidFill>
          <a:ln w="1270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536512894" name="文本框 50"/>
          <p:cNvSpPr txBox="1"/>
          <p:nvPr/>
        </p:nvSpPr>
        <p:spPr bwMode="auto">
          <a:xfrm>
            <a:off x="2895600" y="4101464"/>
            <a:ext cx="1422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1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fsync </a:t>
            </a:r>
            <a:r>
              <a:rPr lang="zh-CN" sz="11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语义</a:t>
            </a:r>
            <a:endParaRPr lang="zh-CN" sz="115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67624954" name="文本框 51"/>
          <p:cNvSpPr txBox="1"/>
          <p:nvPr/>
        </p:nvSpPr>
        <p:spPr bwMode="auto">
          <a:xfrm>
            <a:off x="4730750" y="4149725"/>
            <a:ext cx="31115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</a:rPr>
              <a:t>给数据库事务提交提供明确持久化裁决点</a:t>
            </a:r>
            <a:endParaRPr lang="zh-CN" sz="1200" b="1">
              <a:solidFill>
                <a:srgbClr val="333333"/>
              </a:solidFill>
              <a:ea typeface="+mn-lt"/>
            </a:endParaRPr>
          </a:p>
        </p:txBody>
      </p:sp>
      <p:sp>
        <p:nvSpPr>
          <p:cNvPr id="1730712977" name="文本框 52"/>
          <p:cNvSpPr txBox="1"/>
          <p:nvPr/>
        </p:nvSpPr>
        <p:spPr bwMode="auto">
          <a:xfrm>
            <a:off x="8255000" y="4172585"/>
            <a:ext cx="32385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</a:rPr>
              <a:t>同步等待脏页和事务提交，延迟被放大</a:t>
            </a:r>
            <a:endParaRPr lang="zh-CN" sz="1200" b="1">
              <a:solidFill>
                <a:srgbClr val="333333"/>
              </a:solidFill>
              <a:ea typeface="+mn-lt"/>
            </a:endParaRPr>
          </a:p>
        </p:txBody>
      </p:sp>
      <p:cxnSp>
        <p:nvCxnSpPr>
          <p:cNvPr id="1910577068" name="直接连接符 53"/>
          <p:cNvCxnSpPr/>
          <p:nvPr/>
        </p:nvCxnSpPr>
        <p:spPr bwMode="auto">
          <a:xfrm>
            <a:off x="4479290" y="4227830"/>
            <a:ext cx="1905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67422024" name="直接连接符 54"/>
          <p:cNvCxnSpPr/>
          <p:nvPr/>
        </p:nvCxnSpPr>
        <p:spPr bwMode="auto">
          <a:xfrm>
            <a:off x="7962900" y="4269105"/>
            <a:ext cx="2794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70711842" name="矩形 55"/>
          <p:cNvSpPr/>
          <p:nvPr/>
        </p:nvSpPr>
        <p:spPr bwMode="auto">
          <a:xfrm>
            <a:off x="2819400" y="4926330"/>
            <a:ext cx="1625600" cy="558800"/>
          </a:xfrm>
          <a:prstGeom prst="rect">
            <a:avLst/>
          </a:prstGeom>
          <a:solidFill>
            <a:srgbClr val="F7F7F7"/>
          </a:solidFill>
          <a:ln w="1270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9949756" name="文本框 56"/>
          <p:cNvSpPr txBox="1"/>
          <p:nvPr/>
        </p:nvSpPr>
        <p:spPr bwMode="auto">
          <a:xfrm>
            <a:off x="2895600" y="5053330"/>
            <a:ext cx="1422400" cy="227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5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锁与缓存一致性</a:t>
            </a:r>
            <a:endParaRPr lang="zh-CN" sz="115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083033" name="文本框 57"/>
          <p:cNvSpPr txBox="1"/>
          <p:nvPr/>
        </p:nvSpPr>
        <p:spPr bwMode="auto">
          <a:xfrm>
            <a:off x="4704080" y="5015865"/>
            <a:ext cx="3111500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保护目录、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inode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、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extent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、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PageCache 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与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 journal 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状态一致</a:t>
            </a:r>
            <a:endParaRPr lang="zh-CN" sz="1200" b="1">
              <a:solidFill>
                <a:srgbClr val="333333"/>
              </a:solidFill>
              <a:ea typeface="+mn-lt"/>
              <a:cs typeface="+mn-lt"/>
            </a:endParaRPr>
          </a:p>
        </p:txBody>
      </p:sp>
      <p:sp>
        <p:nvSpPr>
          <p:cNvPr id="882442691" name="文本框 58"/>
          <p:cNvSpPr txBox="1"/>
          <p:nvPr/>
        </p:nvSpPr>
        <p:spPr bwMode="auto">
          <a:xfrm>
            <a:off x="8255000" y="5053330"/>
            <a:ext cx="32385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粗粒度锁或频繁失效会削弱并发</a:t>
            </a:r>
            <a:r>
              <a:rPr lang="en-US" sz="1200" b="1">
                <a:solidFill>
                  <a:srgbClr val="333333"/>
                </a:solidFill>
                <a:ea typeface="+mn-lt"/>
                <a:cs typeface="+mn-lt"/>
              </a:rPr>
              <a:t> I/O </a:t>
            </a:r>
            <a:r>
              <a:rPr lang="zh-CN" sz="1200" b="1">
                <a:solidFill>
                  <a:srgbClr val="333333"/>
                </a:solidFill>
                <a:ea typeface="+mn-lt"/>
                <a:cs typeface="+mn-lt"/>
              </a:rPr>
              <a:t>扩展性</a:t>
            </a:r>
            <a:endParaRPr lang="zh-CN" sz="1200" b="1">
              <a:solidFill>
                <a:srgbClr val="333333"/>
              </a:solidFill>
              <a:ea typeface="+mn-lt"/>
              <a:cs typeface="+mn-lt"/>
            </a:endParaRPr>
          </a:p>
        </p:txBody>
      </p:sp>
      <p:cxnSp>
        <p:nvCxnSpPr>
          <p:cNvPr id="1274221252" name="直接连接符 59"/>
          <p:cNvCxnSpPr/>
          <p:nvPr/>
        </p:nvCxnSpPr>
        <p:spPr bwMode="auto">
          <a:xfrm>
            <a:off x="4479290" y="5201920"/>
            <a:ext cx="1905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59618149" name="直接连接符 60"/>
          <p:cNvCxnSpPr/>
          <p:nvPr/>
        </p:nvCxnSpPr>
        <p:spPr bwMode="auto">
          <a:xfrm>
            <a:off x="7962900" y="5135245"/>
            <a:ext cx="279400" cy="635"/>
          </a:xfrm>
          <a:prstGeom prst="line">
            <a:avLst/>
          </a:prstGeom>
          <a:ln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429308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833185290" name="组合 19"/>
          <p:cNvGrpSpPr/>
          <p:nvPr/>
        </p:nvGrpSpPr>
        <p:grpSpPr bwMode="auto">
          <a:xfrm>
            <a:off x="0" y="1256291"/>
            <a:ext cx="2737505" cy="762000"/>
            <a:chOff x="0" y="772160"/>
            <a:chExt cx="2737505" cy="762000"/>
          </a:xfrm>
        </p:grpSpPr>
        <p:sp>
          <p:nvSpPr>
            <p:cNvPr id="7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4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047992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50027475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37561115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162105655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351058192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139239274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813874096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13795794" name="文本框 23"/>
          <p:cNvSpPr txBox="1"/>
          <p:nvPr/>
        </p:nvSpPr>
        <p:spPr bwMode="auto">
          <a:xfrm>
            <a:off x="2743200" y="317500"/>
            <a:ext cx="9144000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1.4 </a:t>
            </a:r>
            <a:r>
              <a:rPr lang="zh-CN" sz="2800" b="1">
                <a:solidFill>
                  <a:srgbClr val="000000"/>
                </a:solidFill>
                <a:ea typeface="+mn-lt"/>
                <a:cs typeface="+mn-lt"/>
              </a:rPr>
              <a:t>在</a:t>
            </a: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 Asterinas </a:t>
            </a:r>
            <a:r>
              <a:rPr lang="zh-CN" sz="2800" b="1">
                <a:solidFill>
                  <a:srgbClr val="000000"/>
                </a:solidFill>
                <a:ea typeface="+mn-lt"/>
                <a:cs typeface="+mn-lt"/>
              </a:rPr>
              <a:t>上重做</a:t>
            </a: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“</a:t>
            </a:r>
            <a:r>
              <a:rPr lang="zh-CN" sz="2800" b="1">
                <a:solidFill>
                  <a:srgbClr val="000000"/>
                </a:solidFill>
                <a:ea typeface="+mn-lt"/>
                <a:cs typeface="+mn-lt"/>
              </a:rPr>
              <a:t>安全且高性能</a:t>
            </a: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”</a:t>
            </a:r>
            <a:r>
              <a:rPr lang="zh-CN" sz="2800" b="1">
                <a:solidFill>
                  <a:srgbClr val="000000"/>
                </a:solidFill>
                <a:ea typeface="+mn-lt"/>
                <a:cs typeface="+mn-lt"/>
              </a:rPr>
              <a:t>的</a:t>
            </a:r>
            <a:r>
              <a:rPr lang="en-US" sz="2800" b="1">
                <a:solidFill>
                  <a:srgbClr val="000000"/>
                </a:solidFill>
                <a:ea typeface="+mn-lt"/>
                <a:cs typeface="+mn-lt"/>
              </a:rPr>
              <a:t> EXT4</a:t>
            </a:r>
            <a:endParaRPr lang="en-US" sz="2800" b="1">
              <a:solidFill>
                <a:srgbClr val="000000"/>
              </a:solidFill>
              <a:ea typeface="+mn-lt"/>
              <a:cs typeface="+mn-lt"/>
            </a:endParaRPr>
          </a:p>
        </p:txBody>
      </p:sp>
      <p:cxnSp>
        <p:nvCxnSpPr>
          <p:cNvPr id="1305708771" name="直接连接符 24"/>
          <p:cNvCxnSpPr/>
          <p:nvPr/>
        </p:nvCxnSpPr>
        <p:spPr bwMode="auto">
          <a:xfrm>
            <a:off x="2743200" y="863599"/>
            <a:ext cx="9093200" cy="635"/>
          </a:xfrm>
          <a:prstGeom prst="line">
            <a:avLst/>
          </a:prstGeom>
          <a:ln w="12700">
            <a:solidFill>
              <a:srgbClr val="DEDEDE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690720819" name="文本框 25"/>
          <p:cNvSpPr txBox="1"/>
          <p:nvPr/>
        </p:nvSpPr>
        <p:spPr bwMode="auto">
          <a:xfrm>
            <a:off x="2794000" y="990600"/>
            <a:ext cx="8763000" cy="789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Rust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与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 framekernel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把内存安全、隔离和错误边界前移，使文件系统运行环境更可控；但真实应用仍需要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 EXT4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这样成熟的磁盘格式与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 POSIX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语义。本项目的意义在于：把主流文件系统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EXT4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的能力带到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 Asterinas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平台上，同时研究一致性机制与性能的均衡问题。</a:t>
            </a: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2146468574" name="文本框 26"/>
          <p:cNvSpPr txBox="1"/>
          <p:nvPr/>
        </p:nvSpPr>
        <p:spPr bwMode="auto">
          <a:xfrm>
            <a:off x="2946400" y="2013585"/>
            <a:ext cx="2413000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500" b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理由：</a:t>
            </a:r>
            <a:endParaRPr lang="zh-CN" sz="1500" b="1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7509027" name="文本框 27"/>
          <p:cNvSpPr txBox="1"/>
          <p:nvPr/>
        </p:nvSpPr>
        <p:spPr bwMode="auto">
          <a:xfrm>
            <a:off x="2946400" y="2413000"/>
            <a:ext cx="3282315" cy="25126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• RustOS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降低内存安全类崩溃风险，为实现更复杂的存储子系统提供了更可靠的基础。</a:t>
            </a: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endParaRPr lang="en-US" sz="1600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•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高速块设备让传统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 journal / fsync /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锁路径的开销更明显，优化收益更容易被放大。</a:t>
            </a: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endParaRPr lang="en-US" sz="1600">
              <a:solidFill>
                <a:srgbClr val="000000"/>
              </a:solidFill>
              <a:ea typeface="+mn-lt"/>
              <a:cs typeface="+mn-lt"/>
            </a:endParaRPr>
          </a:p>
          <a:p>
            <a:pPr algn="l">
              <a:spcAft>
                <a:spcPts val="0"/>
              </a:spcAft>
              <a:defRPr/>
            </a:pP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• EXT4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生态成熟，适合用作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 RustOS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与</a:t>
            </a:r>
            <a:r>
              <a:rPr lang="en-US" sz="1600">
                <a:solidFill>
                  <a:srgbClr val="000000"/>
                </a:solidFill>
                <a:ea typeface="+mn-lt"/>
                <a:cs typeface="+mn-lt"/>
              </a:rPr>
              <a:t> Linux </a:t>
            </a:r>
            <a:r>
              <a:rPr lang="zh-CN" sz="1600">
                <a:solidFill>
                  <a:srgbClr val="000000"/>
                </a:solidFill>
                <a:ea typeface="+mn-lt"/>
                <a:cs typeface="+mn-lt"/>
              </a:rPr>
              <a:t>应用兼容性的验收场景。</a:t>
            </a:r>
            <a:endParaRPr lang="zh-CN" sz="16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2135275160" name="椭圆 30"/>
          <p:cNvSpPr/>
          <p:nvPr/>
        </p:nvSpPr>
        <p:spPr bwMode="auto">
          <a:xfrm>
            <a:off x="8382000" y="2108200"/>
            <a:ext cx="431799" cy="431799"/>
          </a:xfrm>
          <a:prstGeom prst="ellipse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801804369" name="文本框 31"/>
          <p:cNvSpPr txBox="1"/>
          <p:nvPr/>
        </p:nvSpPr>
        <p:spPr bwMode="auto">
          <a:xfrm>
            <a:off x="8432800" y="2209800"/>
            <a:ext cx="330200" cy="196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lang="en-US" sz="9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75018104" name="文本框 32"/>
          <p:cNvSpPr txBox="1"/>
          <p:nvPr/>
        </p:nvSpPr>
        <p:spPr bwMode="auto">
          <a:xfrm>
            <a:off x="8991600" y="2095500"/>
            <a:ext cx="2159000" cy="2476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安全运行</a:t>
            </a:r>
            <a:endParaRPr lang="zh-CN"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28097841" name="文本框 33"/>
          <p:cNvSpPr txBox="1"/>
          <p:nvPr/>
        </p:nvSpPr>
        <p:spPr bwMode="auto">
          <a:xfrm>
            <a:off x="8991600" y="2374900"/>
            <a:ext cx="2667000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00">
                <a:solidFill>
                  <a:srgbClr val="333333"/>
                </a:solidFill>
                <a:ea typeface="+mn-lt"/>
                <a:cs typeface="+mn-lt"/>
              </a:rPr>
              <a:t>safe Rust + framekernel </a:t>
            </a:r>
            <a:r>
              <a:rPr lang="zh-CN" sz="1200">
                <a:solidFill>
                  <a:srgbClr val="333333"/>
                </a:solidFill>
                <a:ea typeface="+mn-lt"/>
                <a:cs typeface="+mn-lt"/>
              </a:rPr>
              <a:t>提供更可控的内核服务边界</a:t>
            </a:r>
            <a:endParaRPr lang="zh-CN" sz="1200">
              <a:solidFill>
                <a:srgbClr val="333333"/>
              </a:solidFill>
              <a:ea typeface="+mn-lt"/>
              <a:cs typeface="+mn-lt"/>
            </a:endParaRPr>
          </a:p>
        </p:txBody>
      </p:sp>
      <p:cxnSp>
        <p:nvCxnSpPr>
          <p:cNvPr id="1802293932" name="直接连接符 34"/>
          <p:cNvCxnSpPr/>
          <p:nvPr/>
        </p:nvCxnSpPr>
        <p:spPr bwMode="auto">
          <a:xfrm>
            <a:off x="8597900" y="2565400"/>
            <a:ext cx="635" cy="33020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15435307" name="椭圆 35"/>
          <p:cNvSpPr/>
          <p:nvPr/>
        </p:nvSpPr>
        <p:spPr bwMode="auto">
          <a:xfrm>
            <a:off x="8382000" y="3022600"/>
            <a:ext cx="431799" cy="431799"/>
          </a:xfrm>
          <a:prstGeom prst="ellipse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619993897" name="文本框 36"/>
          <p:cNvSpPr txBox="1"/>
          <p:nvPr/>
        </p:nvSpPr>
        <p:spPr bwMode="auto">
          <a:xfrm>
            <a:off x="8432800" y="3124200"/>
            <a:ext cx="330200" cy="196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lang="en-US" sz="9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59654427" name="文本框 37"/>
          <p:cNvSpPr txBox="1"/>
          <p:nvPr/>
        </p:nvSpPr>
        <p:spPr bwMode="auto">
          <a:xfrm>
            <a:off x="8991600" y="3009900"/>
            <a:ext cx="2159000" cy="2476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EXT4 </a:t>
            </a:r>
            <a:r>
              <a:rPr lang="zh-CN"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语义补齐</a:t>
            </a:r>
            <a:endParaRPr lang="zh-CN"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20600549" name="文本框 38"/>
          <p:cNvSpPr txBox="1"/>
          <p:nvPr/>
        </p:nvSpPr>
        <p:spPr bwMode="auto">
          <a:xfrm>
            <a:off x="8991600" y="3289300"/>
            <a:ext cx="2667000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>
                <a:solidFill>
                  <a:srgbClr val="333333"/>
                </a:solidFill>
                <a:ea typeface="+mn-lt"/>
                <a:cs typeface="+mn-lt"/>
              </a:rPr>
              <a:t>对接</a:t>
            </a:r>
            <a:r>
              <a:rPr lang="en-US" sz="1200">
                <a:solidFill>
                  <a:srgbClr val="333333"/>
                </a:solidFill>
                <a:ea typeface="+mn-lt"/>
                <a:cs typeface="+mn-lt"/>
              </a:rPr>
              <a:t> VFS / PageCache / block device</a:t>
            </a:r>
            <a:r>
              <a:rPr lang="zh-CN" sz="1200">
                <a:solidFill>
                  <a:srgbClr val="333333"/>
                </a:solidFill>
                <a:ea typeface="+mn-lt"/>
                <a:cs typeface="+mn-lt"/>
              </a:rPr>
              <a:t>，支持真实应用</a:t>
            </a:r>
            <a:endParaRPr lang="zh-CN" sz="1200">
              <a:solidFill>
                <a:srgbClr val="333333"/>
              </a:solidFill>
              <a:ea typeface="+mn-lt"/>
              <a:cs typeface="+mn-lt"/>
            </a:endParaRPr>
          </a:p>
        </p:txBody>
      </p:sp>
      <p:cxnSp>
        <p:nvCxnSpPr>
          <p:cNvPr id="746632232" name="直接连接符 39"/>
          <p:cNvCxnSpPr/>
          <p:nvPr/>
        </p:nvCxnSpPr>
        <p:spPr bwMode="auto">
          <a:xfrm>
            <a:off x="8597900" y="3479800"/>
            <a:ext cx="635" cy="33020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0276560" name="椭圆 40"/>
          <p:cNvSpPr/>
          <p:nvPr/>
        </p:nvSpPr>
        <p:spPr bwMode="auto">
          <a:xfrm>
            <a:off x="8382000" y="3937000"/>
            <a:ext cx="431799" cy="431799"/>
          </a:xfrm>
          <a:prstGeom prst="ellipse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189085223" name="文本框 41"/>
          <p:cNvSpPr txBox="1"/>
          <p:nvPr/>
        </p:nvSpPr>
        <p:spPr bwMode="auto">
          <a:xfrm>
            <a:off x="8432800" y="4038600"/>
            <a:ext cx="330200" cy="196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lang="en-US" sz="9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1780625" name="文本框 42"/>
          <p:cNvSpPr txBox="1"/>
          <p:nvPr/>
        </p:nvSpPr>
        <p:spPr bwMode="auto">
          <a:xfrm>
            <a:off x="8991600" y="3924300"/>
            <a:ext cx="2159000" cy="2476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一致性约束</a:t>
            </a:r>
            <a:endParaRPr lang="zh-CN"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48133923" name="文本框 43"/>
          <p:cNvSpPr txBox="1"/>
          <p:nvPr/>
        </p:nvSpPr>
        <p:spPr bwMode="auto">
          <a:xfrm>
            <a:off x="8991600" y="4203700"/>
            <a:ext cx="2667000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00">
                <a:solidFill>
                  <a:srgbClr val="333333"/>
                </a:solidFill>
                <a:ea typeface="+mn-lt"/>
                <a:cs typeface="+mn-lt"/>
              </a:rPr>
              <a:t>JBD2 ordered</a:t>
            </a:r>
            <a:r>
              <a:rPr lang="zh-CN" sz="1200">
                <a:solidFill>
                  <a:srgbClr val="333333"/>
                </a:solidFill>
                <a:ea typeface="+mn-lt"/>
                <a:cs typeface="+mn-lt"/>
              </a:rPr>
              <a:t>、</a:t>
            </a:r>
            <a:r>
              <a:rPr lang="en-US" sz="1200">
                <a:solidFill>
                  <a:srgbClr val="333333"/>
                </a:solidFill>
                <a:ea typeface="+mn-lt"/>
                <a:cs typeface="+mn-lt"/>
              </a:rPr>
              <a:t>fsync</a:t>
            </a:r>
            <a:r>
              <a:rPr lang="zh-CN" sz="1200">
                <a:solidFill>
                  <a:srgbClr val="333333"/>
                </a:solidFill>
                <a:ea typeface="+mn-lt"/>
                <a:cs typeface="+mn-lt"/>
              </a:rPr>
              <a:t>、</a:t>
            </a:r>
            <a:r>
              <a:rPr lang="en-US" sz="1200">
                <a:solidFill>
                  <a:srgbClr val="333333"/>
                </a:solidFill>
                <a:ea typeface="+mn-lt"/>
                <a:cs typeface="+mn-lt"/>
              </a:rPr>
              <a:t>recovery </a:t>
            </a:r>
            <a:r>
              <a:rPr lang="zh-CN" sz="1200">
                <a:solidFill>
                  <a:srgbClr val="333333"/>
                </a:solidFill>
                <a:ea typeface="+mn-lt"/>
                <a:cs typeface="+mn-lt"/>
              </a:rPr>
              <a:t>保证崩溃后可恢复</a:t>
            </a:r>
            <a:endParaRPr lang="zh-CN" sz="1200">
              <a:solidFill>
                <a:srgbClr val="333333"/>
              </a:solidFill>
              <a:ea typeface="+mn-lt"/>
              <a:cs typeface="+mn-lt"/>
            </a:endParaRPr>
          </a:p>
        </p:txBody>
      </p:sp>
      <p:cxnSp>
        <p:nvCxnSpPr>
          <p:cNvPr id="587386031" name="直接连接符 44"/>
          <p:cNvCxnSpPr/>
          <p:nvPr/>
        </p:nvCxnSpPr>
        <p:spPr bwMode="auto">
          <a:xfrm>
            <a:off x="8597900" y="4394200"/>
            <a:ext cx="635" cy="33020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7741754" name="椭圆 45"/>
          <p:cNvSpPr/>
          <p:nvPr/>
        </p:nvSpPr>
        <p:spPr bwMode="auto">
          <a:xfrm>
            <a:off x="8382000" y="4851400"/>
            <a:ext cx="431799" cy="431799"/>
          </a:xfrm>
          <a:prstGeom prst="ellipse">
            <a:avLst/>
          </a:prstGeom>
          <a:solidFill>
            <a:srgbClr val="0070C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56639256" name="文本框 46"/>
          <p:cNvSpPr txBox="1"/>
          <p:nvPr/>
        </p:nvSpPr>
        <p:spPr bwMode="auto">
          <a:xfrm>
            <a:off x="8432800" y="4953000"/>
            <a:ext cx="330200" cy="196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lang="en-US" sz="9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71519256" name="文本框 47"/>
          <p:cNvSpPr txBox="1"/>
          <p:nvPr/>
        </p:nvSpPr>
        <p:spPr bwMode="auto">
          <a:xfrm>
            <a:off x="8991600" y="4838700"/>
            <a:ext cx="2159000" cy="2476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3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性能路径优化</a:t>
            </a:r>
            <a:endParaRPr lang="zh-CN" sz="13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0116164" name="文本框 48"/>
          <p:cNvSpPr txBox="1"/>
          <p:nvPr/>
        </p:nvSpPr>
        <p:spPr bwMode="auto">
          <a:xfrm>
            <a:off x="8991600" y="5118100"/>
            <a:ext cx="2667000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>
                <a:solidFill>
                  <a:srgbClr val="333333"/>
                </a:solidFill>
                <a:ea typeface="+mn-lt"/>
                <a:cs typeface="+mn-ea"/>
              </a:rPr>
              <a:t>缓存、日志、锁的优化</a:t>
            </a:r>
            <a:endParaRPr lang="zh-CN" sz="1200">
              <a:solidFill>
                <a:srgbClr val="333333"/>
              </a:solidFill>
              <a:ea typeface="+mn-lt"/>
              <a:cs typeface="+mn-ea"/>
            </a:endParaRPr>
          </a:p>
        </p:txBody>
      </p:sp>
      <p:sp>
        <p:nvSpPr>
          <p:cNvPr id="184491102" name="圆角矩形 49"/>
          <p:cNvSpPr/>
          <p:nvPr/>
        </p:nvSpPr>
        <p:spPr bwMode="auto">
          <a:xfrm>
            <a:off x="2794000" y="5186044"/>
            <a:ext cx="3098800" cy="406400"/>
          </a:xfrm>
          <a:prstGeom prst="roundRect">
            <a:avLst>
              <a:gd name="adj" fmla="val 16667"/>
            </a:avLst>
          </a:prstGeom>
          <a:solidFill>
            <a:srgbClr val="E7E7E7"/>
          </a:solidFill>
          <a:ln w="12700">
            <a:solidFill>
              <a:srgbClr val="0070C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645636005" name="文本框 50"/>
          <p:cNvSpPr txBox="1"/>
          <p:nvPr/>
        </p:nvSpPr>
        <p:spPr bwMode="auto">
          <a:xfrm>
            <a:off x="2819400" y="5209540"/>
            <a:ext cx="2819400" cy="3829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目标：面向</a:t>
            </a:r>
            <a:r>
              <a:rPr lang="en-US" sz="11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 RustOS </a:t>
            </a:r>
            <a:r>
              <a:rPr lang="zh-CN" sz="11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的高性能强一致</a:t>
            </a:r>
            <a:r>
              <a:rPr lang="en-US" sz="11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 EXT4 </a:t>
            </a:r>
            <a:r>
              <a:rPr lang="zh-CN" sz="1100" b="1">
                <a:solidFill>
                  <a:srgbClr val="0070C0"/>
                </a:solidFill>
                <a:latin typeface="+mn-ea"/>
                <a:ea typeface="微软雅黑" panose="020B0503020204020204" charset="-122"/>
                <a:cs typeface="+mn-ea"/>
              </a:rPr>
              <a:t>文件系统</a:t>
            </a:r>
            <a:endParaRPr lang="zh-CN" sz="1100" b="1">
              <a:solidFill>
                <a:srgbClr val="0070C0"/>
              </a:solidFill>
              <a:latin typeface="+mn-ea"/>
              <a:ea typeface="微软雅黑" panose="020B0503020204020204" charset="-122"/>
              <a:cs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611430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852296680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597848106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40333834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829651697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304090691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750054616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761035398" name="组合 19"/>
          <p:cNvGrpSpPr/>
          <p:nvPr/>
        </p:nvGrpSpPr>
        <p:grpSpPr bwMode="auto">
          <a:xfrm>
            <a:off x="0" y="2175081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834041134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596306022" name="TextBox 24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2.1 项目目标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graphicFrame>
        <p:nvGraphicFramePr>
          <p:cNvPr id="205774833" name="表格 3"/>
          <p:cNvGraphicFramePr>
            <a:graphicFrameLocks noGrp="1"/>
          </p:cNvGraphicFramePr>
          <p:nvPr/>
        </p:nvGraphicFramePr>
        <p:xfrm>
          <a:off x="2737485" y="1247140"/>
          <a:ext cx="9238615" cy="4562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0850"/>
                <a:gridCol w="2533650"/>
                <a:gridCol w="4984115"/>
              </a:tblGrid>
              <a:tr h="44831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zh-CN" sz="20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</a:t>
                      </a:r>
                      <a:endParaRPr sz="20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zh-CN" sz="20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完成情况</a:t>
                      </a:r>
                      <a:endParaRPr sz="20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zh-CN" sz="20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说明</a:t>
                      </a:r>
                      <a:endParaRPr sz="20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</a:tr>
              <a:tr h="101600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：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EXT4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文件系统功能完成度</a:t>
                      </a:r>
                      <a:endParaRPr sz="1600" b="1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defRPr/>
                      </a:pP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       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  <a:p>
                      <a:pPr algn="l">
                        <a:lnSpc>
                          <a:spcPct val="100000"/>
                        </a:lnSpc>
                        <a:defRPr/>
                      </a:pP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    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基本完成（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85%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）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POSIX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核心接口、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Extent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JBD2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fsync/fdatasync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PageCache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mmap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和并发读写均已实现并通过大量测试。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99822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2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：崩溃恢复一致性</a:t>
                      </a:r>
                      <a:endParaRPr sz="1600" b="1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基本完成（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90%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）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已完成多场景验证。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</a:tr>
              <a:tr h="113792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目标3：与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Linux EXT4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的性能对比</a:t>
                      </a:r>
                      <a:endParaRPr sz="1600" b="1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  <a:p>
                      <a:pPr marL="0" marR="0" lvl="0" indent="0" algn="ctr" defTabSz="914400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基本完成（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85%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）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fio O_DIRECT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读写达到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Linux EXT4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的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90%</a:t>
                      </a:r>
                      <a:r>
                        <a:rPr lang="zh-CN" sz="1600">
                          <a:latin typeface="Arial" panose="020B0604020202020204"/>
                          <a:ea typeface="宋体" panose="02010600030101010101" pitchFamily="2" charset="-122"/>
                          <a:cs typeface="Arial" panose="020B0604020202020204"/>
                        </a:rPr>
                        <a:t>以上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；并发同文件写在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nj=2/4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时达到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Linux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的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165%/187%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。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962025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4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：创新性优化</a:t>
                      </a:r>
                      <a:endParaRPr sz="1600" b="1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初步完成（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50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）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围绕</a:t>
                      </a:r>
                      <a:r>
                        <a:rPr lang="en-US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Rust </a:t>
                      </a:r>
                      <a:r>
                        <a:rPr lang="zh-CN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语言特性、</a:t>
                      </a:r>
                      <a:r>
                        <a:rPr lang="en-US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Asterinas </a:t>
                      </a:r>
                      <a:r>
                        <a:rPr lang="zh-CN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平台边界以及实际测试中暴露的性能瓶颈开展优化。</a:t>
                      </a:r>
                      <a:endParaRPr sz="1600" b="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2789203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59872470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76623274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97643837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155257891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1038066148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881306159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712494074" name="组合 19"/>
          <p:cNvGrpSpPr/>
          <p:nvPr/>
        </p:nvGrpSpPr>
        <p:grpSpPr bwMode="auto">
          <a:xfrm>
            <a:off x="0" y="2175081"/>
            <a:ext cx="2737505" cy="762000"/>
            <a:chOff x="0" y="772160"/>
            <a:chExt cx="2737505" cy="762000"/>
          </a:xfrm>
        </p:grpSpPr>
        <p:sp>
          <p:nvSpPr>
            <p:cNvPr id="14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25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616990030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331460061" name="TextBox 26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2.2 </a:t>
            </a:r>
            <a:r>
              <a:rPr lang="zh-CN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决赛前瞻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39967577" name="文本框 1"/>
          <p:cNvSpPr txBox="1"/>
          <p:nvPr/>
        </p:nvSpPr>
        <p:spPr bwMode="auto">
          <a:xfrm>
            <a:off x="2737485" y="1062758"/>
            <a:ext cx="7920079" cy="36925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进一步完善</a:t>
            </a:r>
            <a:r>
              <a:rPr lang="en-US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EXT4</a:t>
            </a: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的功能实现与崩溃一致性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完善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revoke block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的生成、去重与写入，补充分配失败场景下的处理，进一步提升崩溃恢复的能力。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推进</a:t>
            </a:r>
            <a:r>
              <a:rPr lang="en-US" b="1">
                <a:latin typeface="Arial" panose="020B0604020202020204"/>
                <a:ea typeface="Arial" panose="020B0604020202020204"/>
                <a:cs typeface="Arial" panose="020B0604020202020204"/>
              </a:rPr>
              <a:t> xfstests </a:t>
            </a:r>
            <a:r>
              <a:rPr lang="zh-CN" b="1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核心功能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全量测试通过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补充测试所需环境和能力，使测试覆盖从核心子集扩展到更完整的全量测试并通过。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优化</a:t>
            </a:r>
            <a:r>
              <a:rPr lang="en-US" b="1">
                <a:latin typeface="Arial" panose="020B0604020202020204"/>
                <a:ea typeface="Arial" panose="020B0604020202020204"/>
                <a:cs typeface="Arial" panose="020B0604020202020204"/>
              </a:rPr>
              <a:t> SQLite</a:t>
            </a:r>
            <a:r>
              <a:rPr lang="zh-CN" b="1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性能</a:t>
            </a:r>
            <a:r>
              <a:rPr lang="en-US" b="1"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在保证正确性和可行性的前提下，继续探索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writeback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、脏页节流、空间预留和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delalloc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，缩小真实应用负载与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Linux EXT4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的性能差距。</a:t>
            </a:r>
            <a:endParaRPr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7763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592301375" name="文本框 7"/>
          <p:cNvSpPr txBox="1"/>
          <p:nvPr/>
        </p:nvSpPr>
        <p:spPr bwMode="auto">
          <a:xfrm>
            <a:off x="86357" y="1388368"/>
            <a:ext cx="2337157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443147360" name="组合 19"/>
          <p:cNvGrpSpPr/>
          <p:nvPr/>
        </p:nvGrpSpPr>
        <p:grpSpPr bwMode="auto">
          <a:xfrm>
            <a:off x="0" y="3062808"/>
            <a:ext cx="2737501" cy="761997"/>
            <a:chOff x="0" y="772157"/>
            <a:chExt cx="2737501" cy="761997"/>
          </a:xfrm>
        </p:grpSpPr>
        <p:sp>
          <p:nvSpPr>
            <p:cNvPr id="1732252265" name="矩形 14"/>
            <p:cNvSpPr/>
            <p:nvPr/>
          </p:nvSpPr>
          <p:spPr bwMode="auto">
            <a:xfrm>
              <a:off x="0" y="772157"/>
              <a:ext cx="2509520" cy="761997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934851169" name="等腰三角形 16"/>
            <p:cNvSpPr/>
            <p:nvPr/>
          </p:nvSpPr>
          <p:spPr bwMode="auto">
            <a:xfrm rot="5400000">
              <a:off x="2491281" y="1039167"/>
              <a:ext cx="264460" cy="227982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985448973" name="文本框 9"/>
          <p:cNvSpPr txBox="1"/>
          <p:nvPr/>
        </p:nvSpPr>
        <p:spPr bwMode="auto">
          <a:xfrm>
            <a:off x="86357" y="3261530"/>
            <a:ext cx="2337157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77294970" name="文本框 10"/>
          <p:cNvSpPr txBox="1"/>
          <p:nvPr/>
        </p:nvSpPr>
        <p:spPr bwMode="auto">
          <a:xfrm>
            <a:off x="86357" y="4198113"/>
            <a:ext cx="2337157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254241012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7" y="5943600"/>
            <a:ext cx="914400" cy="914400"/>
          </a:xfrm>
          <a:prstGeom prst="rect">
            <a:avLst/>
          </a:prstGeom>
        </p:spPr>
      </p:pic>
      <p:pic>
        <p:nvPicPr>
          <p:cNvPr id="1467683723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6" y="311328"/>
            <a:ext cx="2256183" cy="414146"/>
          </a:xfrm>
          <a:prstGeom prst="rect">
            <a:avLst/>
          </a:prstGeom>
        </p:spPr>
      </p:pic>
      <p:sp>
        <p:nvSpPr>
          <p:cNvPr id="1921854245" name="文本框 29"/>
          <p:cNvSpPr txBox="1"/>
          <p:nvPr/>
        </p:nvSpPr>
        <p:spPr bwMode="auto">
          <a:xfrm>
            <a:off x="46047" y="5134694"/>
            <a:ext cx="2337157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24594420" name="文本框 8"/>
          <p:cNvSpPr txBox="1"/>
          <p:nvPr/>
        </p:nvSpPr>
        <p:spPr bwMode="auto">
          <a:xfrm>
            <a:off x="86357" y="2325584"/>
            <a:ext cx="2337157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557232589" name="TextBox 24"/>
          <p:cNvSpPr txBox="1"/>
          <p:nvPr/>
        </p:nvSpPr>
        <p:spPr bwMode="auto">
          <a:xfrm>
            <a:off x="2743200" y="347469"/>
            <a:ext cx="8783280" cy="565150"/>
          </a:xfrm>
          <a:prstGeom prst="rect">
            <a:avLst/>
          </a:prstGeom>
          <a:noFill/>
        </p:spPr>
        <p:txBody>
          <a:bodyPr wrap="square" lIns="25398" rIns="25398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lang="zh-CN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3.1 需求分层与系统边界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43033126" name="TextBox 46"/>
          <p:cNvSpPr txBox="1"/>
          <p:nvPr/>
        </p:nvSpPr>
        <p:spPr bwMode="auto">
          <a:xfrm>
            <a:off x="2788920" y="915408"/>
            <a:ext cx="8483076" cy="2559050"/>
          </a:xfrm>
          <a:prstGeom prst="rect">
            <a:avLst/>
          </a:prstGeom>
          <a:noFill/>
        </p:spPr>
        <p:txBody>
          <a:bodyPr wrap="square" lIns="25398" rIns="25398">
            <a:spAutoFit/>
          </a:bodyPr>
          <a:lstStyle/>
          <a:p>
            <a:pPr algn="l">
              <a:lnSpc>
                <a:spcPct val="118000"/>
              </a:lnSpc>
              <a:spcAft>
                <a:spcPts val="795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把赛题需求自顶向下拆为四层，各层职责单一、边界清晰。</a:t>
            </a:r>
            <a:endParaRPr sz="18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18000"/>
              </a:lnSpc>
              <a:spcAft>
                <a:spcPts val="795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接口层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：向应用提供标准 POSIX 文件语义，是系统对外的功能边界。</a:t>
            </a:r>
            <a:endParaRPr sz="18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18000"/>
              </a:lnSpc>
              <a:spcAft>
                <a:spcPts val="795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格式层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：定义并管理 EXT4 盘上的数据布局与空间分配。</a:t>
            </a:r>
            <a:endParaRPr sz="18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18000"/>
              </a:lnSpc>
              <a:spcAft>
                <a:spcPts val="795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一致性层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：用 JBD2 事务约束元数据修改，保证崩溃后强一致。</a:t>
            </a:r>
            <a:endParaRPr sz="18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18000"/>
              </a:lnSpc>
              <a:spcAft>
                <a:spcPts val="795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性能层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：在保证正确性的前提下，围绕缓存与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I/O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路径做优化。</a:t>
            </a:r>
            <a:endParaRPr sz="18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18000"/>
              </a:lnSpc>
              <a:spcAft>
                <a:spcPts val="795"/>
              </a:spcAft>
              <a:defRPr/>
            </a:pPr>
            <a:r>
              <a:rPr lang="zh-CN" sz="1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系统边界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：向上对接 Asterinas VFS，向下对接块设备。</a:t>
            </a:r>
            <a:endParaRPr lang="zh-CN" sz="1800" b="0" i="0" u="none" strike="noStrike" cap="none" spc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1499037850" name="图片 92830737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3661603" y="3824368"/>
            <a:ext cx="6095998" cy="26085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141915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444383742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88807363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442671947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9" y="5943600"/>
            <a:ext cx="914400" cy="914400"/>
          </a:xfrm>
          <a:prstGeom prst="rect">
            <a:avLst/>
          </a:prstGeom>
        </p:spPr>
      </p:pic>
      <p:pic>
        <p:nvPicPr>
          <p:cNvPr id="2011816943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7" y="311328"/>
            <a:ext cx="2256183" cy="414148"/>
          </a:xfrm>
          <a:prstGeom prst="rect">
            <a:avLst/>
          </a:prstGeom>
        </p:spPr>
      </p:pic>
      <p:sp>
        <p:nvSpPr>
          <p:cNvPr id="243396252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50316645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94136190" name="组合 19"/>
          <p:cNvGrpSpPr/>
          <p:nvPr/>
        </p:nvGrpSpPr>
        <p:grpSpPr bwMode="auto">
          <a:xfrm>
            <a:off x="0" y="3110994"/>
            <a:ext cx="2737504" cy="761999"/>
            <a:chOff x="0" y="772159"/>
            <a:chExt cx="2737504" cy="761999"/>
          </a:xfrm>
        </p:grpSpPr>
        <p:sp>
          <p:nvSpPr>
            <p:cNvPr id="1862428904" name="矩形 14"/>
            <p:cNvSpPr/>
            <p:nvPr/>
          </p:nvSpPr>
          <p:spPr bwMode="auto">
            <a:xfrm>
              <a:off x="0" y="772159"/>
              <a:ext cx="2509520" cy="761999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818160985" name="等腰三角形 16"/>
            <p:cNvSpPr/>
            <p:nvPr/>
          </p:nvSpPr>
          <p:spPr bwMode="auto">
            <a:xfrm rot="5400000">
              <a:off x="2491281" y="1039167"/>
              <a:ext cx="264462" cy="227984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740593101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39834946" name="TextBox 43"/>
          <p:cNvSpPr txBox="1"/>
          <p:nvPr/>
        </p:nvSpPr>
        <p:spPr bwMode="auto">
          <a:xfrm>
            <a:off x="2743200" y="347471"/>
            <a:ext cx="8780760" cy="56515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运行时核心 Ext4Fs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038894479" name="Fac0"/>
          <p:cNvSpPr/>
          <p:nvPr/>
        </p:nvSpPr>
        <p:spPr bwMode="auto">
          <a:xfrm>
            <a:off x="2743198" y="974047"/>
            <a:ext cx="5050000" cy="720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>
            <a:noFill/>
          </a:ln>
        </p:spPr>
        <p:txBody>
          <a:bodyPr wrap="square" lIns="199999" tIns="45720" rIns="199999" bIns="45720" anchor="ctr"/>
          <a:lstStyle/>
          <a:p>
            <a:pPr algn="l">
              <a:spcAft>
                <a:spcPts val="200"/>
              </a:spcAft>
              <a:defRPr/>
            </a:pPr>
            <a:r>
              <a:rPr lang="zh-CN" sz="135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核心数据操作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2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inode · 目录 · Extent · 空间分配</a:t>
            </a:r>
            <a:endParaRPr lang="zh-CN" sz="1200" b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34095632" name="Mod0"/>
          <p:cNvSpPr/>
          <p:nvPr/>
        </p:nvSpPr>
        <p:spPr bwMode="auto">
          <a:xfrm>
            <a:off x="8093199" y="974047"/>
            <a:ext cx="3428240" cy="7200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algn="ctr">
              <a:defRPr/>
            </a:pP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→ 3.</a:t>
            </a:r>
            <a:r>
              <a:rPr lang="en-US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文件读写流程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986486739" name="Fac1"/>
          <p:cNvSpPr/>
          <p:nvPr/>
        </p:nvSpPr>
        <p:spPr bwMode="auto">
          <a:xfrm>
            <a:off x="2743198" y="2128339"/>
            <a:ext cx="5050000" cy="720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>
            <a:noFill/>
          </a:ln>
        </p:spPr>
        <p:txBody>
          <a:bodyPr wrap="square" lIns="199999" tIns="45720" rIns="199999" bIns="45720" anchor="ctr"/>
          <a:lstStyle/>
          <a:p>
            <a:pPr algn="l">
              <a:spcAft>
                <a:spcPts val="200"/>
              </a:spcAft>
              <a:defRPr/>
            </a:pPr>
            <a:r>
              <a:rPr lang="zh-CN" sz="135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JBD2 运行时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2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事务 overlay · 提交 · 恢复</a:t>
            </a:r>
            <a:endParaRPr lang="zh-CN" sz="1200" b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06595467" name="Mod1"/>
          <p:cNvSpPr/>
          <p:nvPr/>
        </p:nvSpPr>
        <p:spPr bwMode="auto">
          <a:xfrm>
            <a:off x="8093199" y="2128339"/>
            <a:ext cx="3428240" cy="7200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algn="ctr">
              <a:defRPr/>
            </a:pP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→ 3.</a:t>
            </a:r>
            <a:r>
              <a:rPr lang="en-US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</a:t>
            </a: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–3.</a:t>
            </a:r>
            <a:r>
              <a:rPr lang="en-US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</a:t>
            </a: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崩溃一致性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726356162" name="Fac2"/>
          <p:cNvSpPr/>
          <p:nvPr/>
        </p:nvSpPr>
        <p:spPr bwMode="auto">
          <a:xfrm>
            <a:off x="2743198" y="3261532"/>
            <a:ext cx="5050000" cy="720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>
            <a:noFill/>
          </a:ln>
        </p:spPr>
        <p:txBody>
          <a:bodyPr wrap="square" lIns="199999" tIns="45720" rIns="199999" bIns="45720" anchor="ctr"/>
          <a:lstStyle/>
          <a:p>
            <a:pPr algn="l">
              <a:spcAft>
                <a:spcPts val="200"/>
              </a:spcAft>
              <a:defRPr/>
            </a:pPr>
            <a:r>
              <a:rPr lang="zh-CN" sz="135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并发边界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2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inode · dir · checkpoint 锁序</a:t>
            </a:r>
            <a:endParaRPr lang="zh-CN" sz="1200" b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4821531" name="Mod2"/>
          <p:cNvSpPr/>
          <p:nvPr/>
        </p:nvSpPr>
        <p:spPr bwMode="auto">
          <a:xfrm>
            <a:off x="8093199" y="3261532"/>
            <a:ext cx="3428240" cy="7200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algn="ctr">
              <a:defRPr/>
            </a:pP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→ 3.</a:t>
            </a:r>
            <a:r>
              <a:rPr lang="en-US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</a:t>
            </a: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并发一致性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001169215" name="Fac3"/>
          <p:cNvSpPr/>
          <p:nvPr/>
        </p:nvSpPr>
        <p:spPr bwMode="auto">
          <a:xfrm>
            <a:off x="2743198" y="4428300"/>
            <a:ext cx="5050000" cy="720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>
            <a:noFill/>
          </a:ln>
        </p:spPr>
        <p:txBody>
          <a:bodyPr wrap="square" lIns="199999" tIns="45720" rIns="199999" bIns="45720" anchor="ctr"/>
          <a:lstStyle/>
          <a:p>
            <a:pPr algn="l">
              <a:spcAft>
                <a:spcPts val="200"/>
              </a:spcAft>
              <a:defRPr/>
            </a:pPr>
            <a:r>
              <a:rPr lang="zh-CN" sz="135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缓存体系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2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PageCache · 映射 · 设备块缓存</a:t>
            </a:r>
            <a:endParaRPr lang="zh-CN" sz="1200" b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35402358" name="Mod3"/>
          <p:cNvSpPr/>
          <p:nvPr/>
        </p:nvSpPr>
        <p:spPr bwMode="auto">
          <a:xfrm>
            <a:off x="8093199" y="4428300"/>
            <a:ext cx="3428240" cy="7200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algn="ctr">
              <a:defRPr/>
            </a:pP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→ 3.</a:t>
            </a:r>
            <a:r>
              <a:rPr lang="en-US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</a:t>
            </a: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缓存一致性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533841726" name="Fac4"/>
          <p:cNvSpPr/>
          <p:nvPr/>
        </p:nvSpPr>
        <p:spPr bwMode="auto">
          <a:xfrm>
            <a:off x="2743200" y="5583600"/>
            <a:ext cx="5050000" cy="720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>
            <a:noFill/>
          </a:ln>
        </p:spPr>
        <p:txBody>
          <a:bodyPr wrap="square" lIns="199999" tIns="45720" rIns="199999" bIns="45720" anchor="ctr"/>
          <a:lstStyle/>
          <a:p>
            <a:pPr algn="l">
              <a:spcAft>
                <a:spcPts val="200"/>
              </a:spcAft>
              <a:defRPr/>
            </a:pPr>
            <a:r>
              <a:rPr lang="zh-CN" sz="135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可观测性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2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direct · buffered · journaled profiling</a:t>
            </a:r>
            <a:endParaRPr lang="zh-CN" sz="1200" b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99054403" name="Mod4"/>
          <p:cNvSpPr/>
          <p:nvPr/>
        </p:nvSpPr>
        <p:spPr bwMode="auto">
          <a:xfrm>
            <a:off x="8093199" y="5583600"/>
            <a:ext cx="3428240" cy="7200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</p:spPr>
        <p:txBody>
          <a:bodyPr wrap="square" lIns="137160" tIns="45720" rIns="137160" bIns="45720" anchor="ctr"/>
          <a:lstStyle/>
          <a:p>
            <a:pPr algn="ctr">
              <a:defRPr/>
            </a:pP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→ 3.</a:t>
            </a:r>
            <a:r>
              <a:rPr lang="en-US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  <a:r>
              <a:rPr lang="zh-CN" sz="140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性能优化</a:t>
            </a:r>
            <a:endParaRPr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032089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92405746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058802933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615630510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9" y="5943600"/>
            <a:ext cx="914400" cy="914400"/>
          </a:xfrm>
          <a:prstGeom prst="rect">
            <a:avLst/>
          </a:prstGeom>
        </p:spPr>
      </p:pic>
      <p:pic>
        <p:nvPicPr>
          <p:cNvPr id="67717365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7" y="311328"/>
            <a:ext cx="2256183" cy="414148"/>
          </a:xfrm>
          <a:prstGeom prst="rect">
            <a:avLst/>
          </a:prstGeom>
        </p:spPr>
      </p:pic>
      <p:sp>
        <p:nvSpPr>
          <p:cNvPr id="770280684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05461433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92018690" name="组合 19"/>
          <p:cNvGrpSpPr/>
          <p:nvPr/>
        </p:nvGrpSpPr>
        <p:grpSpPr bwMode="auto">
          <a:xfrm>
            <a:off x="0" y="3110994"/>
            <a:ext cx="2737504" cy="761999"/>
            <a:chOff x="0" y="772159"/>
            <a:chExt cx="2737504" cy="761999"/>
          </a:xfrm>
        </p:grpSpPr>
        <p:sp>
          <p:nvSpPr>
            <p:cNvPr id="949635408" name="矩形 14"/>
            <p:cNvSpPr/>
            <p:nvPr/>
          </p:nvSpPr>
          <p:spPr bwMode="auto">
            <a:xfrm>
              <a:off x="0" y="772159"/>
              <a:ext cx="2509520" cy="761999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656244413" name="等腰三角形 16"/>
            <p:cNvSpPr/>
            <p:nvPr/>
          </p:nvSpPr>
          <p:spPr bwMode="auto">
            <a:xfrm rot="5400000">
              <a:off x="2491281" y="1039167"/>
              <a:ext cx="264462" cy="227984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826858237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22487662" name="TextBox 43"/>
          <p:cNvSpPr txBox="1"/>
          <p:nvPr/>
        </p:nvSpPr>
        <p:spPr bwMode="auto">
          <a:xfrm>
            <a:off x="2743200" y="347471"/>
            <a:ext cx="8779680" cy="56515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文件读写基本流程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5918968" name="L7001"/>
          <p:cNvSpPr/>
          <p:nvPr/>
        </p:nvSpPr>
        <p:spPr bwMode="auto">
          <a:xfrm>
            <a:off x="2743200" y="1179999"/>
            <a:ext cx="1280160" cy="320040"/>
          </a:xfrm>
          <a:prstGeom prst="roundRect">
            <a:avLst>
              <a:gd name="adj" fmla="val 25000"/>
            </a:avLst>
          </a:prstGeom>
          <a:solidFill>
            <a:srgbClr val="1D50A2"/>
          </a:solidFill>
          <a:ln>
            <a:noFill/>
          </a:ln>
        </p:spPr>
        <p:txBody>
          <a:bodyPr anchor="ctr"/>
          <a:lstStyle/>
          <a:p>
            <a:pPr algn="ctr">
              <a:defRPr/>
            </a:pPr>
            <a:r>
              <a:rPr lang="zh-CN" sz="11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写流程 WRITE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497690211" name="S7100"/>
          <p:cNvSpPr/>
          <p:nvPr/>
        </p:nvSpPr>
        <p:spPr bwMode="auto">
          <a:xfrm>
            <a:off x="2743200" y="155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EAF0F8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应用 write()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发起写请求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51225472" name="A7101"/>
          <p:cNvSpPr/>
          <p:nvPr/>
        </p:nvSpPr>
        <p:spPr bwMode="auto">
          <a:xfrm>
            <a:off x="4264848" y="1980000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936690676" name="S7102"/>
          <p:cNvSpPr/>
          <p:nvPr/>
        </p:nvSpPr>
        <p:spPr bwMode="auto">
          <a:xfrm>
            <a:off x="4554847" y="155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EAF0F8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VFS → Ext4Fs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进入文件系统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68381256" name="A7103"/>
          <p:cNvSpPr/>
          <p:nvPr/>
        </p:nvSpPr>
        <p:spPr bwMode="auto">
          <a:xfrm>
            <a:off x="6076495" y="1980000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683419871" name="S7104"/>
          <p:cNvSpPr/>
          <p:nvPr/>
        </p:nvSpPr>
        <p:spPr bwMode="auto">
          <a:xfrm>
            <a:off x="6366495" y="155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EAF0F8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写入 PageCache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buffered 脏页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91745072" name="A7105"/>
          <p:cNvSpPr/>
          <p:nvPr/>
        </p:nvSpPr>
        <p:spPr bwMode="auto">
          <a:xfrm>
            <a:off x="7888143" y="1980000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81074309" name="S7106"/>
          <p:cNvSpPr/>
          <p:nvPr/>
        </p:nvSpPr>
        <p:spPr bwMode="auto">
          <a:xfrm>
            <a:off x="8178144" y="155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EAF0F8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事务入口分配块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Extent 树插入/合并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66838990" name="A7107"/>
          <p:cNvSpPr/>
          <p:nvPr/>
        </p:nvSpPr>
        <p:spPr bwMode="auto">
          <a:xfrm>
            <a:off x="9699792" y="1980000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428887698" name="S7108"/>
          <p:cNvSpPr/>
          <p:nvPr/>
        </p:nvSpPr>
        <p:spPr bwMode="auto">
          <a:xfrm>
            <a:off x="9989790" y="155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EAF0F8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1D50A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回写落盘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数据落盘 + JBD2 提交元数据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09373627" name="L7002"/>
          <p:cNvSpPr/>
          <p:nvPr/>
        </p:nvSpPr>
        <p:spPr bwMode="auto">
          <a:xfrm>
            <a:off x="2743200" y="3060000"/>
            <a:ext cx="1280160" cy="32004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</p:spPr>
        <p:txBody>
          <a:bodyPr anchor="ctr"/>
          <a:lstStyle/>
          <a:p>
            <a:pPr algn="ctr">
              <a:defRPr/>
            </a:pPr>
            <a:r>
              <a:rPr lang="zh-CN" sz="1150" b="1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读流程 READ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925488917" name="S7200"/>
          <p:cNvSpPr/>
          <p:nvPr/>
        </p:nvSpPr>
        <p:spPr bwMode="auto">
          <a:xfrm>
            <a:off x="2743200" y="343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FBEDED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应用 read()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发起读请求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02691645" name="A7201"/>
          <p:cNvSpPr/>
          <p:nvPr/>
        </p:nvSpPr>
        <p:spPr bwMode="auto">
          <a:xfrm>
            <a:off x="4264848" y="3859999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E0A6A6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50834" name="S7202"/>
          <p:cNvSpPr/>
          <p:nvPr/>
        </p:nvSpPr>
        <p:spPr bwMode="auto">
          <a:xfrm>
            <a:off x="4554847" y="343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FBEDED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VFS → Ext4Fs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进入文件系统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62952144" name="A7203"/>
          <p:cNvSpPr/>
          <p:nvPr/>
        </p:nvSpPr>
        <p:spPr bwMode="auto">
          <a:xfrm>
            <a:off x="6076495" y="3859999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E0A6A6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014759250" name="S7204"/>
          <p:cNvSpPr/>
          <p:nvPr/>
        </p:nvSpPr>
        <p:spPr bwMode="auto">
          <a:xfrm>
            <a:off x="6366495" y="343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FBEDED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查 PageCache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命中即返回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44866707" name="A7205"/>
          <p:cNvSpPr/>
          <p:nvPr/>
        </p:nvSpPr>
        <p:spPr bwMode="auto">
          <a:xfrm>
            <a:off x="7888143" y="3859999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E0A6A6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062022917" name="S7206"/>
          <p:cNvSpPr/>
          <p:nvPr/>
        </p:nvSpPr>
        <p:spPr bwMode="auto">
          <a:xfrm>
            <a:off x="8178144" y="343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FBEDED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未命中查 Extent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定位物理块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93548529" name="A7207"/>
          <p:cNvSpPr/>
          <p:nvPr/>
        </p:nvSpPr>
        <p:spPr bwMode="auto">
          <a:xfrm>
            <a:off x="9699792" y="3859999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E0A6A6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262188766" name="S7208"/>
          <p:cNvSpPr/>
          <p:nvPr/>
        </p:nvSpPr>
        <p:spPr bwMode="auto">
          <a:xfrm>
            <a:off x="9989790" y="3439999"/>
            <a:ext cx="1531647" cy="1019999"/>
          </a:xfrm>
          <a:prstGeom prst="roundRect">
            <a:avLst>
              <a:gd name="adj" fmla="val 9000"/>
            </a:avLst>
          </a:prstGeom>
          <a:solidFill>
            <a:srgbClr val="FBEDED"/>
          </a:solidFill>
          <a:ln>
            <a:noFill/>
          </a:ln>
        </p:spPr>
        <p:txBody>
          <a:bodyPr wrap="square" lIns="91440" tIns="36576" rIns="91440" bIns="36576" anchor="ctr"/>
          <a:lstStyle/>
          <a:p>
            <a:pPr algn="ctr">
              <a:spcAft>
                <a:spcPts val="200"/>
              </a:spcAft>
              <a:defRPr/>
            </a:pPr>
            <a:r>
              <a:rPr lang="zh-CN" sz="1200" b="1">
                <a:solidFill>
                  <a:srgbClr val="C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块设备读入</a:t>
            </a:r>
            <a:endParaRPr>
              <a:latin typeface="Arial" panose="020B0604020202020204"/>
              <a:cs typeface="Arial" panose="020B0604020202020204"/>
            </a:endParaRPr>
          </a:p>
          <a:p>
            <a:pPr algn="ctr">
              <a:defRPr/>
            </a:pPr>
            <a:r>
              <a:rPr lang="zh-CN" sz="120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填充缓存并返回</a:t>
            </a:r>
            <a:endParaRPr lang="zh-CN" sz="120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44588167" name="文本框 124990715"/>
          <p:cNvSpPr txBox="1"/>
          <p:nvPr/>
        </p:nvSpPr>
        <p:spPr bwMode="auto">
          <a:xfrm>
            <a:off x="2743200" y="4817540"/>
            <a:ext cx="8782558" cy="9988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spcAft>
                <a:spcPts val="300"/>
              </a:spcAft>
              <a:defRPr/>
            </a:pPr>
            <a:r>
              <a:rPr lang="zh-CN" sz="18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Extent 树统一完成逻辑块↔物理块映射，连续区间合并降低碎片与查找开销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spcAft>
                <a:spcPts val="300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unwritten 区间读返回零，防止未初始化数据泄露；写入时再转为 written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spcAft>
                <a:spcPts val="300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O_DIRECT 绕过 PageCache，按 Extent 映射直接提交 bio</a:t>
            </a:r>
            <a:endParaRPr lang="zh-CN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053284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724826842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124186141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76095543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9" y="5943600"/>
            <a:ext cx="914400" cy="914400"/>
          </a:xfrm>
          <a:prstGeom prst="rect">
            <a:avLst/>
          </a:prstGeom>
        </p:spPr>
      </p:pic>
      <p:pic>
        <p:nvPicPr>
          <p:cNvPr id="2145179575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7" y="311328"/>
            <a:ext cx="2256183" cy="414148"/>
          </a:xfrm>
          <a:prstGeom prst="rect">
            <a:avLst/>
          </a:prstGeom>
        </p:spPr>
      </p:pic>
      <p:sp>
        <p:nvSpPr>
          <p:cNvPr id="1006796647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336310564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538936568" name="组合 19"/>
          <p:cNvGrpSpPr/>
          <p:nvPr/>
        </p:nvGrpSpPr>
        <p:grpSpPr bwMode="auto">
          <a:xfrm>
            <a:off x="0" y="3110994"/>
            <a:ext cx="2737504" cy="761999"/>
            <a:chOff x="0" y="772159"/>
            <a:chExt cx="2737504" cy="761999"/>
          </a:xfrm>
        </p:grpSpPr>
        <p:sp>
          <p:nvSpPr>
            <p:cNvPr id="2006302216" name="矩形 14"/>
            <p:cNvSpPr/>
            <p:nvPr/>
          </p:nvSpPr>
          <p:spPr bwMode="auto">
            <a:xfrm>
              <a:off x="0" y="772159"/>
              <a:ext cx="2509520" cy="761999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217539272" name="等腰三角形 16"/>
            <p:cNvSpPr/>
            <p:nvPr/>
          </p:nvSpPr>
          <p:spPr bwMode="auto">
            <a:xfrm rot="5400000">
              <a:off x="2491281" y="1039167"/>
              <a:ext cx="264462" cy="227984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2040954974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46771397" name="TextBox 43"/>
          <p:cNvSpPr txBox="1"/>
          <p:nvPr/>
        </p:nvSpPr>
        <p:spPr bwMode="auto">
          <a:xfrm>
            <a:off x="2743200" y="347471"/>
            <a:ext cx="8780400" cy="56515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崩溃一致性 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010910429" name="CardTx"/>
          <p:cNvSpPr/>
          <p:nvPr/>
        </p:nvSpPr>
        <p:spPr bwMode="auto">
          <a:xfrm>
            <a:off x="2893199" y="3884883"/>
            <a:ext cx="4137617" cy="1479999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</p:spPr>
        <p:txBody>
          <a:bodyPr wrap="square" lIns="182880" tIns="54864" rIns="182880" bIns="54864" anchor="t"/>
          <a:lstStyle/>
          <a:p>
            <a:pPr algn="l">
              <a:spcAft>
                <a:spcPts val="300"/>
              </a:spcAft>
              <a:defRPr/>
            </a:pPr>
            <a:r>
              <a:rPr lang="zh-CN" sz="1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事务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4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一组相关元数据修改封装进同一事务（handle），要么整体生效、要么整体回滚；</a:t>
            </a:r>
            <a:endParaRPr sz="14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4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统一入口登记修改范围与事务号，杜绝半完成的中间状态。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86509479" name="CardFsync"/>
          <p:cNvSpPr/>
          <p:nvPr/>
        </p:nvSpPr>
        <p:spPr bwMode="auto">
          <a:xfrm>
            <a:off x="7500264" y="3887423"/>
            <a:ext cx="4167126" cy="1479999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</p:spPr>
        <p:txBody>
          <a:bodyPr wrap="square" lIns="182880" tIns="54864" rIns="182880" bIns="54864" anchor="t"/>
          <a:lstStyle/>
          <a:p>
            <a:pPr algn="l">
              <a:spcAft>
                <a:spcPts val="300"/>
              </a:spcAft>
              <a:defRPr/>
            </a:pPr>
            <a:r>
              <a:rPr lang="zh-CN" sz="1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fsync 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defRPr/>
            </a:pPr>
            <a:r>
              <a:rPr lang="zh-CN" sz="14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它会等待相关脏页写回磁盘，并等对应的日志事务提交完成。只有</a:t>
            </a:r>
            <a:r>
              <a:rPr lang="en-US" sz="14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fsync </a:t>
            </a:r>
            <a:r>
              <a:rPr lang="zh-CN" sz="14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返回成功后，系统才认为这部分数据在崩溃后也应该能够恢复。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005585268" name="文本框 979678908"/>
          <p:cNvSpPr txBox="1"/>
          <p:nvPr/>
        </p:nvSpPr>
        <p:spPr bwMode="auto">
          <a:xfrm>
            <a:off x="2817269" y="5826303"/>
            <a:ext cx="7906618" cy="3683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r>
              <a:rPr lang="zh-CN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二者共同支撑崩溃一致性，并为崩溃恢复测试提供依据。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98264963" name=" 2002752207"/>
          <p:cNvSpPr/>
          <p:nvPr/>
        </p:nvSpPr>
        <p:spPr bwMode="auto">
          <a:xfrm>
            <a:off x="2816550" y="1143583"/>
            <a:ext cx="327980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sz="1800" b="1" i="0" u="sng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元数据修改的事务提交流程</a:t>
            </a:r>
            <a:endParaRPr sz="2400" b="1" u="sng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910111922" name="图片 79142635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2733199" y="1772285"/>
            <a:ext cx="8977964" cy="165671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5544990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39254478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452619070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959601932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9" y="5943600"/>
            <a:ext cx="914400" cy="914400"/>
          </a:xfrm>
          <a:prstGeom prst="rect">
            <a:avLst/>
          </a:prstGeom>
        </p:spPr>
      </p:pic>
      <p:pic>
        <p:nvPicPr>
          <p:cNvPr id="921970594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7" y="311328"/>
            <a:ext cx="2256183" cy="414148"/>
          </a:xfrm>
          <a:prstGeom prst="rect">
            <a:avLst/>
          </a:prstGeom>
        </p:spPr>
      </p:pic>
      <p:sp>
        <p:nvSpPr>
          <p:cNvPr id="2008348051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83961904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195525303" name="组合 19"/>
          <p:cNvGrpSpPr/>
          <p:nvPr/>
        </p:nvGrpSpPr>
        <p:grpSpPr bwMode="auto">
          <a:xfrm>
            <a:off x="0" y="3110994"/>
            <a:ext cx="2737504" cy="761999"/>
            <a:chOff x="0" y="772159"/>
            <a:chExt cx="2737504" cy="761999"/>
          </a:xfrm>
        </p:grpSpPr>
        <p:sp>
          <p:nvSpPr>
            <p:cNvPr id="865200169" name="矩形 14"/>
            <p:cNvSpPr/>
            <p:nvPr/>
          </p:nvSpPr>
          <p:spPr bwMode="auto">
            <a:xfrm>
              <a:off x="0" y="772159"/>
              <a:ext cx="2509520" cy="761999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431751616" name="等腰三角形 16"/>
            <p:cNvSpPr/>
            <p:nvPr/>
          </p:nvSpPr>
          <p:spPr bwMode="auto">
            <a:xfrm rot="5400000">
              <a:off x="2491281" y="1039167"/>
              <a:ext cx="264462" cy="227984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824348148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508461074" name="TextBox 43"/>
          <p:cNvSpPr txBox="1"/>
          <p:nvPr/>
        </p:nvSpPr>
        <p:spPr bwMode="auto">
          <a:xfrm>
            <a:off x="2743200" y="347471"/>
            <a:ext cx="8779680" cy="56515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 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崩溃一致性 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14596642" name="TextBox 65"/>
          <p:cNvSpPr txBox="1"/>
          <p:nvPr/>
        </p:nvSpPr>
        <p:spPr bwMode="auto">
          <a:xfrm>
            <a:off x="2813560" y="3999619"/>
            <a:ext cx="8360170" cy="1851660"/>
          </a:xfrm>
          <a:prstGeom prst="rect">
            <a:avLst/>
          </a:prstGeom>
          <a:noFill/>
        </p:spPr>
        <p:txBody>
          <a:bodyPr wrap="square" lIns="25398" rIns="25398">
            <a:spAutoFit/>
          </a:bodyPr>
          <a:lstStyle/>
          <a:p>
            <a:pPr>
              <a:defRPr/>
            </a:pPr>
            <a:r>
              <a:rPr lang="zh-CN" sz="18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建模：ordered 模式下数据块先直接落盘、只有元数据进 journal，降低日志开销。</a:t>
            </a:r>
            <a:endParaRPr sz="1800" b="0" i="0" u="none" strike="noStrike" cap="none" spc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提交：先持久化 descriptor 与元数据，再写 commit block。</a:t>
            </a:r>
            <a:endParaRPr lang="zh-CN" sz="1800" b="0" i="0" u="none" strike="noStrike" cap="none" spc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恢复：崩溃重启时扫描日志，只重放带完整 commit block 的事务，未写完的一律丢弃。</a:t>
            </a:r>
            <a:endParaRPr sz="1800" b="0" i="0" u="none" strike="noStrike" cap="none" spc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 algn="l">
              <a:lnSpc>
                <a:spcPct val="118000"/>
              </a:lnSpc>
              <a:spcAft>
                <a:spcPts val="800"/>
              </a:spcAft>
              <a:defRPr/>
            </a:pPr>
            <a:r>
              <a:rPr lang="zh-CN" sz="180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回收：已提交事务进入 checkpoint 队列，异步将元数据写回 home 位置并释放日志空间。</a:t>
            </a:r>
            <a:endParaRPr lang="zh-CN" sz="1800" b="0" i="0" u="none" strike="noStrike" cap="none" spc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68008184" name=" 2002752207"/>
          <p:cNvSpPr/>
          <p:nvPr/>
        </p:nvSpPr>
        <p:spPr bwMode="auto">
          <a:xfrm>
            <a:off x="2816550" y="1143582"/>
            <a:ext cx="3280887" cy="392135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lang="zh-CN" sz="1800" b="1" i="0" u="sng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JBD2 ordered 模式提交顺序</a:t>
            </a:r>
            <a:endParaRPr lang="zh-CN" sz="1800" b="1" i="0" u="sng" strike="noStrike" cap="none" spc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1787020133" name="图片 178702013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3205250" y="1956794"/>
            <a:ext cx="7576788" cy="16527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4160706" name="Rounded Rectangle 50"/>
          <p:cNvSpPr/>
          <p:nvPr/>
        </p:nvSpPr>
        <p:spPr bwMode="auto">
          <a:xfrm>
            <a:off x="9444512" y="5080019"/>
            <a:ext cx="2271828" cy="80114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62988526" name="Rounded Rectangle 50"/>
          <p:cNvSpPr/>
          <p:nvPr/>
        </p:nvSpPr>
        <p:spPr bwMode="auto">
          <a:xfrm>
            <a:off x="9444512" y="3894826"/>
            <a:ext cx="2271828" cy="80114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10172689" name="Rounded Rectangle 50"/>
          <p:cNvSpPr/>
          <p:nvPr/>
        </p:nvSpPr>
        <p:spPr bwMode="auto">
          <a:xfrm>
            <a:off x="9444512" y="2709633"/>
            <a:ext cx="2271828" cy="80114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724240808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112692788" name="文本框 7"/>
          <p:cNvSpPr txBox="1"/>
          <p:nvPr/>
        </p:nvSpPr>
        <p:spPr bwMode="auto">
          <a:xfrm>
            <a:off x="86358" y="1388369"/>
            <a:ext cx="2337158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597852480" name="文本框 10"/>
          <p:cNvSpPr txBox="1"/>
          <p:nvPr/>
        </p:nvSpPr>
        <p:spPr bwMode="auto">
          <a:xfrm>
            <a:off x="86358" y="4198113"/>
            <a:ext cx="2337158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073576419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8" y="5943600"/>
            <a:ext cx="914400" cy="914400"/>
          </a:xfrm>
          <a:prstGeom prst="rect">
            <a:avLst/>
          </a:prstGeom>
        </p:spPr>
      </p:pic>
      <p:pic>
        <p:nvPicPr>
          <p:cNvPr id="1566109520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6" y="311328"/>
            <a:ext cx="2256183" cy="414147"/>
          </a:xfrm>
          <a:prstGeom prst="rect">
            <a:avLst/>
          </a:prstGeom>
        </p:spPr>
      </p:pic>
      <p:sp>
        <p:nvSpPr>
          <p:cNvPr id="1583498255" name="文本框 29"/>
          <p:cNvSpPr txBox="1"/>
          <p:nvPr/>
        </p:nvSpPr>
        <p:spPr bwMode="auto">
          <a:xfrm>
            <a:off x="46048" y="5134695"/>
            <a:ext cx="2337158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21151296" name="文本框 8"/>
          <p:cNvSpPr txBox="1"/>
          <p:nvPr/>
        </p:nvSpPr>
        <p:spPr bwMode="auto">
          <a:xfrm>
            <a:off x="86358" y="2325585"/>
            <a:ext cx="2337158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708513245" name="组合 19"/>
          <p:cNvGrpSpPr/>
          <p:nvPr/>
        </p:nvGrpSpPr>
        <p:grpSpPr bwMode="auto">
          <a:xfrm>
            <a:off x="0" y="3110994"/>
            <a:ext cx="2737502" cy="761998"/>
            <a:chOff x="0" y="772158"/>
            <a:chExt cx="2737502" cy="761998"/>
          </a:xfrm>
        </p:grpSpPr>
        <p:sp>
          <p:nvSpPr>
            <p:cNvPr id="1452730168" name="矩形 14"/>
            <p:cNvSpPr/>
            <p:nvPr/>
          </p:nvSpPr>
          <p:spPr bwMode="auto">
            <a:xfrm>
              <a:off x="0" y="772158"/>
              <a:ext cx="2509520" cy="761998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628989341" name="等腰三角形 16"/>
            <p:cNvSpPr/>
            <p:nvPr/>
          </p:nvSpPr>
          <p:spPr bwMode="auto">
            <a:xfrm rot="5400000">
              <a:off x="2491281" y="1039167"/>
              <a:ext cx="264461" cy="227983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323957009" name="文本框 9"/>
          <p:cNvSpPr txBox="1"/>
          <p:nvPr/>
        </p:nvSpPr>
        <p:spPr bwMode="auto">
          <a:xfrm>
            <a:off x="86358" y="3261531"/>
            <a:ext cx="2337158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1679592" name="TextBox 43"/>
          <p:cNvSpPr txBox="1"/>
          <p:nvPr/>
        </p:nvSpPr>
        <p:spPr bwMode="auto">
          <a:xfrm>
            <a:off x="2743200" y="347469"/>
            <a:ext cx="8832238" cy="565150"/>
          </a:xfrm>
          <a:prstGeom prst="rect">
            <a:avLst/>
          </a:prstGeom>
          <a:noFill/>
        </p:spPr>
        <p:txBody>
          <a:bodyPr wrap="square" lIns="25398" rIns="25398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6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并发一致性 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94718374" name=" 1239990778"/>
          <p:cNvSpPr/>
          <p:nvPr/>
        </p:nvSpPr>
        <p:spPr bwMode="auto">
          <a:xfrm>
            <a:off x="2711639" y="976708"/>
            <a:ext cx="6328927" cy="86957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问题：</a:t>
            </a:r>
            <a:endParaRPr sz="1600" b="1" i="0" u="none">
              <a:solidFill>
                <a:srgbClr val="000000"/>
              </a:solidFill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6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sz="1600" b="0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多线程 fio 并发写同一文件时，若所有写入都持有 inode 独占锁，设备 I/O 等待会被串行化。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85846309" name=" 454400369"/>
          <p:cNvSpPr/>
          <p:nvPr/>
        </p:nvSpPr>
        <p:spPr bwMode="auto">
          <a:xfrm>
            <a:off x="2736150" y="2010948"/>
            <a:ext cx="2596453" cy="846444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共享锁成立条件：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6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sz="1600" b="0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page_cache = 0                       </a:t>
            </a:r>
            <a:br>
              <a:rPr lang="zh-CN" sz="1600" b="0" i="0" u="none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r>
              <a:rPr lang="zh-CN" sz="16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sz="1600" b="0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已建立稳定 Extent 映射            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584053622" name="Rounded Rectangle 50"/>
          <p:cNvSpPr/>
          <p:nvPr/>
        </p:nvSpPr>
        <p:spPr bwMode="auto">
          <a:xfrm>
            <a:off x="9444512" y="1524440"/>
            <a:ext cx="2271830" cy="80114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863951757" name=" 1797634510"/>
          <p:cNvSpPr/>
          <p:nvPr/>
        </p:nvSpPr>
        <p:spPr bwMode="auto">
          <a:xfrm>
            <a:off x="9599981" y="1741953"/>
            <a:ext cx="1961608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O_DIRECT write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330855603" name=" 1623347211"/>
          <p:cNvSpPr/>
          <p:nvPr/>
        </p:nvSpPr>
        <p:spPr bwMode="auto">
          <a:xfrm>
            <a:off x="9548192" y="2942685"/>
            <a:ext cx="2168867" cy="392135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获取 inode 共享锁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124845491" name=" 1760994512"/>
          <p:cNvSpPr/>
          <p:nvPr/>
        </p:nvSpPr>
        <p:spPr bwMode="auto">
          <a:xfrm>
            <a:off x="9548192" y="3975179"/>
            <a:ext cx="2166526" cy="64044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判断是否为稳定覆盖写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779663171" name=" 1693630586"/>
          <p:cNvSpPr/>
          <p:nvPr/>
        </p:nvSpPr>
        <p:spPr bwMode="auto">
          <a:xfrm>
            <a:off x="9649932" y="5160372"/>
            <a:ext cx="1963047" cy="666455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共享锁下提交 direct bio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237238053" name="文本框 1668563326"/>
          <p:cNvSpPr txBox="1"/>
          <p:nvPr/>
        </p:nvSpPr>
        <p:spPr bwMode="auto">
          <a:xfrm>
            <a:off x="9387339" y="1056407"/>
            <a:ext cx="228376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83845" indent="-283845">
              <a:buFont typeface="Wingdings" panose="05000000000000000000"/>
              <a:buChar char="Ø"/>
              <a:defRPr/>
            </a:pPr>
            <a:r>
              <a:rPr b="1" u="sng">
                <a:latin typeface="Arial" panose="020B0604020202020204"/>
                <a:ea typeface="Arial" panose="020B0604020202020204"/>
                <a:cs typeface="Arial" panose="020B0604020202020204"/>
              </a:rPr>
              <a:t>实现路径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58752680" name="文本框 1687101705"/>
          <p:cNvSpPr txBox="1"/>
          <p:nvPr/>
        </p:nvSpPr>
        <p:spPr bwMode="auto">
          <a:xfrm>
            <a:off x="5735041" y="2240495"/>
            <a:ext cx="3305610" cy="617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zh-CN" sz="16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600" b="0" i="0" u="none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纯覆盖已有 written extent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600" b="0" i="0" u="none" strike="noStrike" cap="none" spc="0">
                <a:solidFill>
                  <a:srgbClr val="2D374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• </a:t>
            </a:r>
            <a:r>
              <a:rPr lang="zh-CN" sz="1600" b="0" i="0" u="none" strike="noStrike" cap="none" spc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不追加、不填洞、不分配新块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301375403" name=" 54166607"/>
          <p:cNvSpPr/>
          <p:nvPr/>
        </p:nvSpPr>
        <p:spPr bwMode="auto">
          <a:xfrm>
            <a:off x="2865695" y="5992673"/>
            <a:ext cx="8062605" cy="666455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>
              <a:defRPr/>
            </a:pPr>
            <a:r>
              <a:rPr sz="1800" b="0" i="0" u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只让“不改变文件结构”的 O_DIRECT 覆盖写走共享锁；所有可能改变映射、目录关系或持久化状态的操作仍使用独占锁。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79779342" name="A7101"/>
          <p:cNvSpPr/>
          <p:nvPr/>
        </p:nvSpPr>
        <p:spPr bwMode="auto">
          <a:xfrm rot="5400000">
            <a:off x="10403471" y="2436015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949334113" name="A7101"/>
          <p:cNvSpPr/>
          <p:nvPr/>
        </p:nvSpPr>
        <p:spPr bwMode="auto">
          <a:xfrm rot="5400000">
            <a:off x="10403471" y="3631905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570876510" name="A7101"/>
          <p:cNvSpPr/>
          <p:nvPr/>
        </p:nvSpPr>
        <p:spPr bwMode="auto">
          <a:xfrm rot="5400000">
            <a:off x="10403471" y="4812004"/>
            <a:ext cx="299999" cy="180000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9FB4D4"/>
          </a:solidFill>
          <a:ln>
            <a:noFill/>
          </a:ln>
        </p:spPr>
        <p:txBody>
          <a:bodyPr/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779885958" name="图片 2" descr="ChatGPT Image 2026年6月26日 18_09_3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2865755" y="2924810"/>
            <a:ext cx="5683885" cy="29019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4874123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355736908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009550999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861163761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9" y="5943600"/>
            <a:ext cx="914400" cy="914400"/>
          </a:xfrm>
          <a:prstGeom prst="rect">
            <a:avLst/>
          </a:prstGeom>
        </p:spPr>
      </p:pic>
      <p:pic>
        <p:nvPicPr>
          <p:cNvPr id="1006479473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7" y="311328"/>
            <a:ext cx="2256183" cy="414148"/>
          </a:xfrm>
          <a:prstGeom prst="rect">
            <a:avLst/>
          </a:prstGeom>
        </p:spPr>
      </p:pic>
      <p:sp>
        <p:nvSpPr>
          <p:cNvPr id="1945208993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49822139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888484143" name="组合 19"/>
          <p:cNvGrpSpPr/>
          <p:nvPr/>
        </p:nvGrpSpPr>
        <p:grpSpPr bwMode="auto">
          <a:xfrm>
            <a:off x="0" y="3110994"/>
            <a:ext cx="2737504" cy="761999"/>
            <a:chOff x="0" y="772159"/>
            <a:chExt cx="2737504" cy="761999"/>
          </a:xfrm>
        </p:grpSpPr>
        <p:sp>
          <p:nvSpPr>
            <p:cNvPr id="1837278609" name="矩形 14"/>
            <p:cNvSpPr/>
            <p:nvPr/>
          </p:nvSpPr>
          <p:spPr bwMode="auto">
            <a:xfrm>
              <a:off x="0" y="772159"/>
              <a:ext cx="2509520" cy="761999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933103267" name="等腰三角形 16"/>
            <p:cNvSpPr/>
            <p:nvPr/>
          </p:nvSpPr>
          <p:spPr bwMode="auto">
            <a:xfrm rot="5400000">
              <a:off x="2491281" y="1039167"/>
              <a:ext cx="264462" cy="227984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844125684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116731353" name="TextBox 43"/>
          <p:cNvSpPr txBox="1"/>
          <p:nvPr/>
        </p:nvSpPr>
        <p:spPr bwMode="auto">
          <a:xfrm>
            <a:off x="2743200" y="347470"/>
            <a:ext cx="8782200" cy="56515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marL="0" marR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7</a:t>
            </a:r>
            <a:r>
              <a:rPr lang="zh-CN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缓存一致性 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755496891" name="Rounded Rectangle 46"/>
          <p:cNvSpPr/>
          <p:nvPr/>
        </p:nvSpPr>
        <p:spPr bwMode="auto">
          <a:xfrm>
            <a:off x="8762577" y="1044771"/>
            <a:ext cx="2560320" cy="11552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029031944" name="Rectangle 47"/>
          <p:cNvSpPr/>
          <p:nvPr/>
        </p:nvSpPr>
        <p:spPr bwMode="auto">
          <a:xfrm>
            <a:off x="8743749" y="1044771"/>
            <a:ext cx="73152" cy="1155248"/>
          </a:xfrm>
          <a:prstGeom prst="rect">
            <a:avLst/>
          </a:prstGeom>
          <a:solidFill>
            <a:srgbClr val="205BA3"/>
          </a:solidFill>
          <a:ln>
            <a:solidFill>
              <a:srgbClr val="205B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73497463" name="TextBox 48"/>
          <p:cNvSpPr txBox="1"/>
          <p:nvPr/>
        </p:nvSpPr>
        <p:spPr bwMode="auto">
          <a:xfrm>
            <a:off x="8899557" y="1154499"/>
            <a:ext cx="2287440" cy="367107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lang="zh-CN" sz="1500" b="1" i="0" u="none" strike="noStrike" cap="none" spc="0">
                <a:solidFill>
                  <a:srgbClr val="205BA3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PageCache/mmap 统一</a:t>
            </a:r>
            <a:endParaRPr sz="1500" b="1">
              <a:solidFill>
                <a:srgbClr val="205BA3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73455071" name="TextBox 49"/>
          <p:cNvSpPr txBox="1"/>
          <p:nvPr/>
        </p:nvSpPr>
        <p:spPr bwMode="auto">
          <a:xfrm>
            <a:off x="8926629" y="1585804"/>
            <a:ext cx="2271309" cy="508933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>
              <a:defRPr/>
            </a:pPr>
            <a:r>
              <a:rPr lang="zh-CN" sz="125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buffered 与 mmap 共享同一批页,双向可见、无多份副本</a:t>
            </a:r>
            <a:endParaRPr lang="zh-CN" sz="1250" b="0" i="0" u="none" strike="noStrike" cap="none" spc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27928774" name="Rounded Rectangle 50"/>
          <p:cNvSpPr/>
          <p:nvPr/>
        </p:nvSpPr>
        <p:spPr bwMode="auto">
          <a:xfrm>
            <a:off x="8756493" y="2521408"/>
            <a:ext cx="2560320" cy="110281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42160210" name="Rectangle 51"/>
          <p:cNvSpPr/>
          <p:nvPr/>
        </p:nvSpPr>
        <p:spPr bwMode="auto">
          <a:xfrm>
            <a:off x="8756493" y="2521408"/>
            <a:ext cx="73152" cy="1102816"/>
          </a:xfrm>
          <a:prstGeom prst="rect">
            <a:avLst/>
          </a:prstGeom>
          <a:solidFill>
            <a:srgbClr val="389253"/>
          </a:solidFill>
          <a:ln>
            <a:solidFill>
              <a:srgbClr val="3892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642893377" name="TextBox 52"/>
          <p:cNvSpPr txBox="1"/>
          <p:nvPr/>
        </p:nvSpPr>
        <p:spPr bwMode="auto">
          <a:xfrm>
            <a:off x="8921084" y="2631136"/>
            <a:ext cx="2287080" cy="367107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lang="zh-CN" sz="1500" b="1" i="0" u="none" strike="noStrike" cap="none" spc="0">
                <a:solidFill>
                  <a:srgbClr val="389253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改后即失效</a:t>
            </a:r>
            <a:endParaRPr sz="1500" b="1">
              <a:solidFill>
                <a:srgbClr val="389253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58437865" name="TextBox 53"/>
          <p:cNvSpPr txBox="1"/>
          <p:nvPr/>
        </p:nvSpPr>
        <p:spPr bwMode="auto">
          <a:xfrm>
            <a:off x="8921082" y="3025132"/>
            <a:ext cx="2271669" cy="508933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>
              <a:defRPr/>
            </a:pPr>
            <a:r>
              <a:rPr lang="zh-CN" sz="125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Extent映射/stat/Written</a:t>
            </a:r>
            <a:endParaRPr sz="1250" b="0" i="0" u="none" strike="noStrike" cap="none" spc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25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一改即失效,统一入口触发</a:t>
            </a:r>
            <a:endParaRPr lang="zh-CN" sz="1250" b="0" i="0" u="none" strike="noStrike" cap="none" spc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14127517" name="Rounded Rectangle 54"/>
          <p:cNvSpPr/>
          <p:nvPr/>
        </p:nvSpPr>
        <p:spPr bwMode="auto">
          <a:xfrm>
            <a:off x="8772981" y="4018407"/>
            <a:ext cx="256032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C3D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083688720" name="Rectangle 55"/>
          <p:cNvSpPr/>
          <p:nvPr/>
        </p:nvSpPr>
        <p:spPr bwMode="auto">
          <a:xfrm>
            <a:off x="8772981" y="4018407"/>
            <a:ext cx="73152" cy="1234440"/>
          </a:xfrm>
          <a:prstGeom prst="rect">
            <a:avLst/>
          </a:prstGeom>
          <a:solidFill>
            <a:srgbClr val="EE8926"/>
          </a:solidFill>
          <a:ln>
            <a:solidFill>
              <a:srgbClr val="EE89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029818949" name="TextBox 56"/>
          <p:cNvSpPr txBox="1"/>
          <p:nvPr/>
        </p:nvSpPr>
        <p:spPr bwMode="auto">
          <a:xfrm>
            <a:off x="8937573" y="4128135"/>
            <a:ext cx="2287440" cy="34326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lang="zh-CN" sz="1500" b="1" i="0" u="none" strike="noStrike" cap="none" spc="0">
                <a:solidFill>
                  <a:srgbClr val="EE89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缓存边界隔离</a:t>
            </a:r>
            <a:endParaRPr sz="1500" b="1">
              <a:solidFill>
                <a:srgbClr val="EE8926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52397536" name="TextBox 57"/>
          <p:cNvSpPr txBox="1"/>
          <p:nvPr/>
        </p:nvSpPr>
        <p:spPr bwMode="auto">
          <a:xfrm>
            <a:off x="8937573" y="4471395"/>
            <a:ext cx="2270589" cy="699432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>
              <a:defRPr/>
            </a:pPr>
            <a:r>
              <a:rPr lang="zh-CN" sz="125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JBD2 overlay 不污染</a:t>
            </a:r>
            <a:endParaRPr sz="1250" b="0" i="0" u="none" strike="noStrike" cap="none" spc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250" b="0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DeviceBlockCache,未提交元数据不被当成已落盘块</a:t>
            </a:r>
            <a:endParaRPr lang="zh-CN" sz="1250" b="0" i="0" u="none" strike="noStrike" cap="none" spc="0">
              <a:solidFill>
                <a:schemeClr val="tx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73888253" name="文本框 959116336"/>
          <p:cNvSpPr txBox="1"/>
          <p:nvPr/>
        </p:nvSpPr>
        <p:spPr bwMode="auto">
          <a:xfrm>
            <a:off x="2914248" y="5492058"/>
            <a:ext cx="8761002" cy="64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以上</a:t>
            </a:r>
            <a:r>
              <a:rPr>
                <a:latin typeface="Arial" panose="020B0604020202020204"/>
                <a:ea typeface="Arial" panose="020B0604020202020204"/>
                <a:cs typeface="Arial" panose="020B0604020202020204"/>
              </a:rPr>
              <a:t>共同保证:无论应用走 buffered、mmap 还是经事务改元数据,读到的永远是最新值,</a:t>
            </a:r>
            <a:r>
              <a:rPr b="1">
                <a:latin typeface="Arial" panose="020B0604020202020204"/>
                <a:ea typeface="Arial" panose="020B0604020202020204"/>
                <a:cs typeface="Arial" panose="020B0604020202020204"/>
              </a:rPr>
              <a:t>绝不出现"改了却读到旧数据"</a:t>
            </a:r>
            <a:r>
              <a:rPr lang="zh-CN" b="1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的情况</a:t>
            </a:r>
            <a:r>
              <a:rPr>
                <a:latin typeface="Arial" panose="020B0604020202020204"/>
                <a:ea typeface="Arial" panose="020B0604020202020204"/>
                <a:cs typeface="Arial" panose="020B0604020202020204"/>
              </a:rPr>
              <a:t>。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09961529" name="图片 1" descr="ChatGPT Image 2026年6月26日 18_06_3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2880995" y="989965"/>
            <a:ext cx="5491480" cy="4020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3837762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524356471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57307130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626305493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59" y="5943600"/>
            <a:ext cx="914400" cy="914400"/>
          </a:xfrm>
          <a:prstGeom prst="rect">
            <a:avLst/>
          </a:prstGeom>
        </p:spPr>
      </p:pic>
      <p:pic>
        <p:nvPicPr>
          <p:cNvPr id="130311474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7" y="311328"/>
            <a:ext cx="2256183" cy="414148"/>
          </a:xfrm>
          <a:prstGeom prst="rect">
            <a:avLst/>
          </a:prstGeom>
        </p:spPr>
      </p:pic>
      <p:sp>
        <p:nvSpPr>
          <p:cNvPr id="281972800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75259860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76486761" name="组合 19"/>
          <p:cNvGrpSpPr/>
          <p:nvPr/>
        </p:nvGrpSpPr>
        <p:grpSpPr bwMode="auto">
          <a:xfrm>
            <a:off x="0" y="3110994"/>
            <a:ext cx="2737504" cy="761999"/>
            <a:chOff x="0" y="772159"/>
            <a:chExt cx="2737504" cy="761999"/>
          </a:xfrm>
        </p:grpSpPr>
        <p:sp>
          <p:nvSpPr>
            <p:cNvPr id="487115468" name="矩形 14"/>
            <p:cNvSpPr/>
            <p:nvPr/>
          </p:nvSpPr>
          <p:spPr bwMode="auto">
            <a:xfrm>
              <a:off x="0" y="772159"/>
              <a:ext cx="2509520" cy="761999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626379798" name="等腰三角形 16"/>
            <p:cNvSpPr/>
            <p:nvPr/>
          </p:nvSpPr>
          <p:spPr bwMode="auto">
            <a:xfrm rot="5400000">
              <a:off x="2491281" y="1039167"/>
              <a:ext cx="264462" cy="227984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874188046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837661996" name="TextBox 43"/>
          <p:cNvSpPr txBox="1"/>
          <p:nvPr/>
        </p:nvSpPr>
        <p:spPr bwMode="auto">
          <a:xfrm>
            <a:off x="2743200" y="347469"/>
            <a:ext cx="8781840" cy="565150"/>
          </a:xfrm>
          <a:prstGeom prst="rect">
            <a:avLst/>
          </a:prstGeom>
          <a:noFill/>
        </p:spPr>
        <p:txBody>
          <a:bodyPr wrap="square" lIns="25399" rIns="25399">
            <a:spAutoFit/>
          </a:bodyPr>
          <a:lstStyle/>
          <a:p>
            <a:pPr marL="0" marR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3.</a:t>
            </a:r>
            <a:r>
              <a:rPr lang="en-US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</a:t>
            </a:r>
            <a:r>
              <a:rPr lang="zh-CN" sz="2800" b="1" i="0" u="none" strike="noStrike" cap="none" spc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性能优化 · 分层缓存与关键优化</a:t>
            </a:r>
            <a:endParaRPr sz="2800" b="1">
              <a:solidFill>
                <a:srgbClr val="183F79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935439456" name=" 1233623455"/>
          <p:cNvSpPr/>
          <p:nvPr/>
        </p:nvSpPr>
        <p:spPr bwMode="auto">
          <a:xfrm>
            <a:off x="2743198" y="5760358"/>
            <a:ext cx="8721073" cy="36830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zh-CN" sz="1800" b="0" i="0" u="none" strike="noStrike" cap="none" spc="0">
                <a:solidFill/>
                <a:latin typeface="Arial" panose="020B0604020202020204"/>
                <a:ea typeface="Arial" panose="020B0604020202020204"/>
                <a:cs typeface="Arial" panose="020B0604020202020204"/>
              </a:rPr>
              <a:t>缓存优化的重点是让每类缓存只服务明确路径，并配套更新与失效协议。</a:t>
            </a:r>
            <a:endParaRPr sz="1800" b="0" i="0" u="none" strike="noStrike" cap="none" spc="0">
              <a:solidFill/>
              <a:latin typeface="Arial" panose="020B0604020202020204"/>
              <a:cs typeface="Arial" panose="020B0604020202020204"/>
            </a:endParaRPr>
          </a:p>
        </p:txBody>
      </p:sp>
      <p:sp>
        <p:nvSpPr>
          <p:cNvPr id="1493338372" name="文本框 645709975"/>
          <p:cNvSpPr txBox="1"/>
          <p:nvPr/>
        </p:nvSpPr>
        <p:spPr bwMode="auto">
          <a:xfrm>
            <a:off x="2743200" y="1252437"/>
            <a:ext cx="3695949" cy="3965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283845" indent="-283845">
              <a:buFont typeface="Wingdings" panose="05000000000000000000"/>
              <a:buChar char="Ø"/>
              <a:defRPr/>
            </a:pPr>
            <a:r>
              <a:rPr sz="2000" b="1" i="0" u="sng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五层缓存分工图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pic>
        <p:nvPicPr>
          <p:cNvPr id="704969545" name="图片 3" descr="ChatGPT Image 2026年6月26日 18_12_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2823210" y="1649095"/>
            <a:ext cx="6654165" cy="4038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9714870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600">
              <a:latin typeface="Arial" panose="020B0604020202020204"/>
              <a:cs typeface="Arial" panose="020B0604020202020204"/>
            </a:endParaRPr>
          </a:p>
        </p:txBody>
      </p:sp>
      <p:sp>
        <p:nvSpPr>
          <p:cNvPr id="2140288066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6091319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22723069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328523372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18044819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83100674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2033536174" name="组合 19"/>
          <p:cNvGrpSpPr/>
          <p:nvPr/>
        </p:nvGrpSpPr>
        <p:grpSpPr bwMode="auto">
          <a:xfrm>
            <a:off x="0" y="4047533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732381386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652933288" name="TextBox 43"/>
          <p:cNvSpPr txBox="1"/>
          <p:nvPr/>
        </p:nvSpPr>
        <p:spPr bwMode="auto">
          <a:xfrm>
            <a:off x="2743200" y="347471"/>
            <a:ext cx="877967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4.1 测试环境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16082897" name="文本框 1"/>
          <p:cNvSpPr txBox="1"/>
          <p:nvPr/>
        </p:nvSpPr>
        <p:spPr bwMode="auto">
          <a:xfrm>
            <a:off x="2666999" y="979804"/>
            <a:ext cx="4689834" cy="41998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Arial" panose="020B0604020202020204"/>
              <a:buNone/>
              <a:defRPr/>
            </a:pPr>
            <a:r>
              <a:rPr lang="zh-CN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</a:t>
            </a:r>
            <a:r>
              <a:rPr lang="en-US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环境</a:t>
            </a:r>
            <a:endParaRPr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宿主系统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	Ubuntu 24.04.1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，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Linux 6.8.0-41Linux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虚拟化环境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	QEMU/KVM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，块设备采用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virtio-blk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容器镜像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        asterinas/asterinas:0.17.0-20260227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虚拟机配置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	8 GiB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内存，单处理器</a:t>
            </a:r>
            <a:endParaRPr lang="zh-CN" sz="160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endParaRPr lang="zh-CN" sz="160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对照系统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	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相同虚拟化与块设备环境下的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Linux EXT4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876586069" name="文本框 4"/>
          <p:cNvSpPr txBox="1"/>
          <p:nvPr/>
        </p:nvSpPr>
        <p:spPr bwMode="auto">
          <a:xfrm>
            <a:off x="7426959" y="979804"/>
            <a:ext cx="4689834" cy="3461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Arial" panose="020B0604020202020204"/>
              <a:buNone/>
              <a:defRPr/>
            </a:pPr>
            <a:r>
              <a:rPr lang="zh-CN" b="1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测试体系</a:t>
            </a:r>
            <a:endParaRPr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fio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：测试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O_DIRECT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和并发场景下的带宽数据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xfstests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：用于验证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POSIX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功能正确性</a:t>
            </a:r>
            <a:endParaRPr lang="zh-CN" sz="160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Crash Matrix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：验证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JBD2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崩溃一致性</a:t>
            </a:r>
            <a:endParaRPr lang="zh-CN" sz="1600"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endParaRPr sz="1600"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SQLite speedtest1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：用于模拟真实数据库负载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	</a:t>
            </a:r>
            <a:endParaRPr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11973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207899097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480377735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750396527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983398682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574520271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05378757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849114307" name="组合 19"/>
          <p:cNvGrpSpPr/>
          <p:nvPr/>
        </p:nvGrpSpPr>
        <p:grpSpPr bwMode="auto">
          <a:xfrm>
            <a:off x="0" y="4047533"/>
            <a:ext cx="2737505" cy="762000"/>
            <a:chOff x="0" y="772160"/>
            <a:chExt cx="2737505" cy="762000"/>
          </a:xfrm>
        </p:grpSpPr>
        <p:sp>
          <p:nvSpPr>
            <p:cNvPr id="49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50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713025736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325440739" name="TextBox 43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4.2 xfstests 功能与兼容性测试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592202232" name="文本框 3"/>
          <p:cNvSpPr txBox="1"/>
          <p:nvPr/>
        </p:nvSpPr>
        <p:spPr bwMode="auto">
          <a:xfrm>
            <a:off x="2743200" y="902335"/>
            <a:ext cx="9144000" cy="3276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采用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 xfstests 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重点子集验证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 EXT4 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主路径功能，将用例按能力域归类展示。</a:t>
            </a:r>
            <a:endParaRPr lang="zh-CN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520082928" name="矩形 4"/>
          <p:cNvSpPr/>
          <p:nvPr/>
        </p:nvSpPr>
        <p:spPr bwMode="auto">
          <a:xfrm>
            <a:off x="2742882" y="1625600"/>
            <a:ext cx="1837844" cy="457200"/>
          </a:xfrm>
          <a:prstGeom prst="rect">
            <a:avLst/>
          </a:prstGeom>
          <a:solidFill>
            <a:srgbClr val="0070C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602329443" name="文本框 5"/>
          <p:cNvSpPr txBox="1"/>
          <p:nvPr/>
        </p:nvSpPr>
        <p:spPr bwMode="auto">
          <a:xfrm>
            <a:off x="2782620" y="1714500"/>
            <a:ext cx="1758370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测试类别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47055143" name="矩形 6"/>
          <p:cNvSpPr/>
          <p:nvPr/>
        </p:nvSpPr>
        <p:spPr bwMode="auto">
          <a:xfrm>
            <a:off x="4580727" y="1625600"/>
            <a:ext cx="1291458" cy="457200"/>
          </a:xfrm>
          <a:prstGeom prst="rect">
            <a:avLst/>
          </a:prstGeom>
          <a:solidFill>
            <a:srgbClr val="0070C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628264525" name="文本框 7"/>
          <p:cNvSpPr txBox="1"/>
          <p:nvPr/>
        </p:nvSpPr>
        <p:spPr bwMode="auto">
          <a:xfrm>
            <a:off x="4620464" y="1714500"/>
            <a:ext cx="1211984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通过情况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68684870" name="矩形 8"/>
          <p:cNvSpPr/>
          <p:nvPr/>
        </p:nvSpPr>
        <p:spPr bwMode="auto">
          <a:xfrm>
            <a:off x="5872185" y="1625600"/>
            <a:ext cx="6015214" cy="457200"/>
          </a:xfrm>
          <a:prstGeom prst="rect">
            <a:avLst/>
          </a:prstGeom>
          <a:solidFill>
            <a:srgbClr val="0070C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429004152" name="文本框 9"/>
          <p:cNvSpPr txBox="1"/>
          <p:nvPr/>
        </p:nvSpPr>
        <p:spPr bwMode="auto">
          <a:xfrm>
            <a:off x="5911922" y="1714500"/>
            <a:ext cx="6129457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覆盖能力与代表用例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24735445" name="矩形 10"/>
          <p:cNvSpPr/>
          <p:nvPr/>
        </p:nvSpPr>
        <p:spPr bwMode="auto">
          <a:xfrm>
            <a:off x="2742882" y="2082800"/>
            <a:ext cx="1837844" cy="812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060501843" name="文本框 11"/>
          <p:cNvSpPr txBox="1"/>
          <p:nvPr/>
        </p:nvSpPr>
        <p:spPr bwMode="auto">
          <a:xfrm>
            <a:off x="2822357" y="2171700"/>
            <a:ext cx="1678895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基础文件与目录语义</a:t>
            </a:r>
            <a:endParaRPr lang="zh-CN" sz="12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2434664" name="矩形 12"/>
          <p:cNvSpPr/>
          <p:nvPr/>
        </p:nvSpPr>
        <p:spPr bwMode="auto">
          <a:xfrm>
            <a:off x="4580727" y="2082800"/>
            <a:ext cx="1291458" cy="812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874662591" name="文本框 13"/>
          <p:cNvSpPr txBox="1"/>
          <p:nvPr/>
        </p:nvSpPr>
        <p:spPr bwMode="auto">
          <a:xfrm>
            <a:off x="4660201" y="2171700"/>
            <a:ext cx="1132509" cy="250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3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24 PASS</a:t>
            </a:r>
            <a:endParaRPr lang="en-US" sz="13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21765006" name="矩形 14"/>
          <p:cNvSpPr/>
          <p:nvPr/>
        </p:nvSpPr>
        <p:spPr bwMode="auto">
          <a:xfrm>
            <a:off x="5872185" y="2082800"/>
            <a:ext cx="6015214" cy="812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552274090" name="文本框 15"/>
          <p:cNvSpPr txBox="1"/>
          <p:nvPr/>
        </p:nvSpPr>
        <p:spPr bwMode="auto">
          <a:xfrm>
            <a:off x="5951659" y="2171700"/>
            <a:ext cx="5918851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覆盖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create/open/read/write/stat/truncate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mkdir/rmdir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rename/unlink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、权限、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atime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ENOSPC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等主路径。代表用例：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generic/001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003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006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007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011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1811325022" name="矩形 16"/>
          <p:cNvSpPr/>
          <p:nvPr/>
        </p:nvSpPr>
        <p:spPr bwMode="auto">
          <a:xfrm>
            <a:off x="2742882" y="2895600"/>
            <a:ext cx="1837844" cy="8128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789618978" name="文本框 17"/>
          <p:cNvSpPr txBox="1"/>
          <p:nvPr/>
        </p:nvSpPr>
        <p:spPr bwMode="auto">
          <a:xfrm>
            <a:off x="2822357" y="2984500"/>
            <a:ext cx="1678895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并发与压力测试</a:t>
            </a:r>
            <a:endParaRPr lang="zh-CN" sz="12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69960776" name="矩形 18"/>
          <p:cNvSpPr/>
          <p:nvPr/>
        </p:nvSpPr>
        <p:spPr bwMode="auto">
          <a:xfrm>
            <a:off x="4580727" y="2895600"/>
            <a:ext cx="1291458" cy="8128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582345689" name="文本框 19"/>
          <p:cNvSpPr txBox="1"/>
          <p:nvPr/>
        </p:nvSpPr>
        <p:spPr bwMode="auto">
          <a:xfrm>
            <a:off x="4660201" y="2984500"/>
            <a:ext cx="1132509" cy="250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3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10 PASS</a:t>
            </a:r>
            <a:endParaRPr lang="en-US" sz="13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82147796" name="矩形 20"/>
          <p:cNvSpPr/>
          <p:nvPr/>
        </p:nvSpPr>
        <p:spPr bwMode="auto">
          <a:xfrm>
            <a:off x="5872185" y="2895600"/>
            <a:ext cx="6015711" cy="8128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000099947" name="文本框 21"/>
          <p:cNvSpPr txBox="1"/>
          <p:nvPr/>
        </p:nvSpPr>
        <p:spPr bwMode="auto">
          <a:xfrm>
            <a:off x="5951659" y="2984500"/>
            <a:ext cx="5594497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覆盖多进程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fsstress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、并发文件操作、并发写路径压力、近满盘压力与恢复场景。代表用例：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generic/013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068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076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083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476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780746242" name="矩形 22"/>
          <p:cNvSpPr/>
          <p:nvPr/>
        </p:nvSpPr>
        <p:spPr bwMode="auto">
          <a:xfrm>
            <a:off x="2742882" y="3708400"/>
            <a:ext cx="1837844" cy="812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052563880" name="文本框 23"/>
          <p:cNvSpPr txBox="1"/>
          <p:nvPr/>
        </p:nvSpPr>
        <p:spPr bwMode="auto">
          <a:xfrm>
            <a:off x="2822575" y="3797300"/>
            <a:ext cx="1678940" cy="609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Autofit/>
          </a:bodyPr>
          <a:p>
            <a:pPr algn="l">
              <a:spcAft>
                <a:spcPts val="0"/>
              </a:spcAft>
              <a:defRPr/>
            </a:pPr>
            <a:r>
              <a:rPr lang="en-US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PageCache / O_DIRECT / mmap </a:t>
            </a:r>
            <a:r>
              <a:rPr lang="zh-CN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一致性</a:t>
            </a:r>
            <a:endParaRPr lang="zh-CN" sz="12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08764671" name="矩形 24"/>
          <p:cNvSpPr/>
          <p:nvPr/>
        </p:nvSpPr>
        <p:spPr bwMode="auto">
          <a:xfrm>
            <a:off x="4580727" y="3708400"/>
            <a:ext cx="1291458" cy="812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49273981" name="文本框 25"/>
          <p:cNvSpPr txBox="1"/>
          <p:nvPr/>
        </p:nvSpPr>
        <p:spPr bwMode="auto">
          <a:xfrm>
            <a:off x="4660201" y="3797300"/>
            <a:ext cx="1132509" cy="250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3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9 PASS</a:t>
            </a:r>
            <a:endParaRPr lang="en-US" sz="13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95050736" name="矩形 26"/>
          <p:cNvSpPr/>
          <p:nvPr/>
        </p:nvSpPr>
        <p:spPr bwMode="auto">
          <a:xfrm>
            <a:off x="5872185" y="3708400"/>
            <a:ext cx="6015711" cy="812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010614682" name="文本框 27"/>
          <p:cNvSpPr txBox="1"/>
          <p:nvPr/>
        </p:nvSpPr>
        <p:spPr bwMode="auto">
          <a:xfrm>
            <a:off x="5951659" y="3797300"/>
            <a:ext cx="5607908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覆盖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buffered I/O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与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direct I/O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一致性、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mmap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写入、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truncate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后页缓存失效、混合读写场景。代表用例：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generic/091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130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133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247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263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2041030741" name="矩形 28"/>
          <p:cNvSpPr/>
          <p:nvPr/>
        </p:nvSpPr>
        <p:spPr bwMode="auto">
          <a:xfrm>
            <a:off x="2742882" y="4521200"/>
            <a:ext cx="1837844" cy="8128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717495444" name="文本框 29"/>
          <p:cNvSpPr txBox="1"/>
          <p:nvPr/>
        </p:nvSpPr>
        <p:spPr bwMode="auto">
          <a:xfrm>
            <a:off x="2822357" y="4610100"/>
            <a:ext cx="1678895" cy="2349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JBD2 </a:t>
            </a:r>
            <a:r>
              <a:rPr lang="zh-CN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日志恢复能力</a:t>
            </a:r>
            <a:endParaRPr lang="zh-CN" sz="12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238810" name="矩形 30"/>
          <p:cNvSpPr/>
          <p:nvPr/>
        </p:nvSpPr>
        <p:spPr bwMode="auto">
          <a:xfrm>
            <a:off x="4580727" y="4521200"/>
            <a:ext cx="1291458" cy="8128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21545913" name="文本框 31"/>
          <p:cNvSpPr txBox="1"/>
          <p:nvPr/>
        </p:nvSpPr>
        <p:spPr bwMode="auto">
          <a:xfrm>
            <a:off x="4660201" y="4610100"/>
            <a:ext cx="1132509" cy="250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3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6 PASS</a:t>
            </a:r>
            <a:endParaRPr lang="en-US" sz="13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56605953" name="矩形 32"/>
          <p:cNvSpPr/>
          <p:nvPr/>
        </p:nvSpPr>
        <p:spPr bwMode="auto">
          <a:xfrm>
            <a:off x="5872185" y="4521200"/>
            <a:ext cx="6008757" cy="8128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908747979" name="文本框 33"/>
          <p:cNvSpPr txBox="1"/>
          <p:nvPr/>
        </p:nvSpPr>
        <p:spPr bwMode="auto">
          <a:xfrm>
            <a:off x="5951659" y="4610100"/>
            <a:ext cx="5532408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覆盖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JBD2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日志提交、日志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replay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、元数据恢复、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EXT4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日志相关场景。代表用例：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generic/068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076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083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192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ext4/021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ext4/045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818919848" name="矩形 34"/>
          <p:cNvSpPr/>
          <p:nvPr/>
        </p:nvSpPr>
        <p:spPr bwMode="auto">
          <a:xfrm>
            <a:off x="2742882" y="5334000"/>
            <a:ext cx="1837844" cy="939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563786028" name="文本框 35"/>
          <p:cNvSpPr txBox="1"/>
          <p:nvPr/>
        </p:nvSpPr>
        <p:spPr bwMode="auto">
          <a:xfrm>
            <a:off x="2822357" y="5422900"/>
            <a:ext cx="1678895" cy="41973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fsync / fdatasync </a:t>
            </a:r>
            <a:r>
              <a:rPr lang="zh-CN" sz="12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持久化语义</a:t>
            </a:r>
            <a:endParaRPr lang="zh-CN" sz="12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74381439" name="矩形 36"/>
          <p:cNvSpPr/>
          <p:nvPr/>
        </p:nvSpPr>
        <p:spPr bwMode="auto">
          <a:xfrm>
            <a:off x="4580727" y="5334000"/>
            <a:ext cx="1291458" cy="939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42287459" name="文本框 37"/>
          <p:cNvSpPr txBox="1"/>
          <p:nvPr/>
        </p:nvSpPr>
        <p:spPr bwMode="auto">
          <a:xfrm>
            <a:off x="4660201" y="5422900"/>
            <a:ext cx="1132509" cy="250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3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11 PASS</a:t>
            </a:r>
            <a:endParaRPr lang="en-US" sz="13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39676451" name="矩形 38"/>
          <p:cNvSpPr/>
          <p:nvPr/>
        </p:nvSpPr>
        <p:spPr bwMode="auto">
          <a:xfrm>
            <a:off x="5872185" y="5334000"/>
            <a:ext cx="6015214" cy="9398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615803275" name="文本框 39"/>
          <p:cNvSpPr txBox="1"/>
          <p:nvPr/>
        </p:nvSpPr>
        <p:spPr bwMode="auto">
          <a:xfrm>
            <a:off x="5951659" y="5422900"/>
            <a:ext cx="5525454" cy="4813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覆盖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fsync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后文件大小与数据持久化、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fdatasync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元数据边界、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shutdown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后日志恢复、重复恢复幂等性。代表用例：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generic/043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044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045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046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、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047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78770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187583632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550235125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334393279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08188383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19105300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01495689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312164413" name="组合 19"/>
          <p:cNvGrpSpPr/>
          <p:nvPr/>
        </p:nvGrpSpPr>
        <p:grpSpPr bwMode="auto">
          <a:xfrm>
            <a:off x="0" y="4047533"/>
            <a:ext cx="2737505" cy="762000"/>
            <a:chOff x="0" y="772160"/>
            <a:chExt cx="2737505" cy="762000"/>
          </a:xfrm>
        </p:grpSpPr>
        <p:sp>
          <p:nvSpPr>
            <p:cNvPr id="73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74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19015239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31688367" name="TextBox 43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4.3 崩溃一致性测试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50561033" name="文本框 3"/>
          <p:cNvSpPr txBox="1"/>
          <p:nvPr/>
        </p:nvSpPr>
        <p:spPr bwMode="auto">
          <a:xfrm>
            <a:off x="2743200" y="991870"/>
            <a:ext cx="9144000" cy="3276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Crash Matrix 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在关键提交点触发虚拟机退出，重启后检查文件内容、目录结构和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 fsync </a:t>
            </a:r>
            <a:r>
              <a:rPr lang="zh-CN">
                <a:solidFill>
                  <a:srgbClr val="000000"/>
                </a:solidFill>
                <a:ea typeface="+mn-lt"/>
                <a:cs typeface="+mn-lt"/>
              </a:rPr>
              <a:t>持久化语义</a:t>
            </a:r>
            <a:r>
              <a:rPr lang="zh-CN" sz="14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sz="14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2735025" name="矩形 4"/>
          <p:cNvSpPr/>
          <p:nvPr/>
        </p:nvSpPr>
        <p:spPr bwMode="auto">
          <a:xfrm>
            <a:off x="2742876" y="1625600"/>
            <a:ext cx="2328603" cy="431799"/>
          </a:xfrm>
          <a:prstGeom prst="rect">
            <a:avLst/>
          </a:prstGeom>
          <a:solidFill>
            <a:srgbClr val="0070C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013349908" name="文本框 5"/>
          <p:cNvSpPr txBox="1"/>
          <p:nvPr/>
        </p:nvSpPr>
        <p:spPr bwMode="auto">
          <a:xfrm>
            <a:off x="2783374" y="1714500"/>
            <a:ext cx="2247608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崩溃场景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86323329" name="矩形 6"/>
          <p:cNvSpPr/>
          <p:nvPr/>
        </p:nvSpPr>
        <p:spPr bwMode="auto">
          <a:xfrm>
            <a:off x="4832545" y="1625600"/>
            <a:ext cx="6212308" cy="431799"/>
          </a:xfrm>
          <a:prstGeom prst="rect">
            <a:avLst/>
          </a:prstGeom>
          <a:solidFill>
            <a:srgbClr val="0070C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09219238" name="文本框 7"/>
          <p:cNvSpPr txBox="1"/>
          <p:nvPr/>
        </p:nvSpPr>
        <p:spPr bwMode="auto">
          <a:xfrm>
            <a:off x="5111977" y="1714500"/>
            <a:ext cx="5892379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检查目标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02076969" name="矩形 8"/>
          <p:cNvSpPr/>
          <p:nvPr/>
        </p:nvSpPr>
        <p:spPr bwMode="auto">
          <a:xfrm>
            <a:off x="10270846" y="1625600"/>
            <a:ext cx="1615848" cy="431799"/>
          </a:xfrm>
          <a:prstGeom prst="rect">
            <a:avLst/>
          </a:prstGeom>
          <a:solidFill>
            <a:srgbClr val="0070C0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053337756" name="文本框 9"/>
          <p:cNvSpPr txBox="1"/>
          <p:nvPr/>
        </p:nvSpPr>
        <p:spPr bwMode="auto">
          <a:xfrm>
            <a:off x="10606974" y="1714500"/>
            <a:ext cx="1133929" cy="2813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结果</a:t>
            </a:r>
            <a:endParaRPr lang="zh-CN" sz="15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56934640" name="矩形 10"/>
          <p:cNvSpPr/>
          <p:nvPr/>
        </p:nvSpPr>
        <p:spPr bwMode="auto">
          <a:xfrm>
            <a:off x="2742876" y="2057400"/>
            <a:ext cx="2328603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617295195" name="文本框 11"/>
          <p:cNvSpPr txBox="1"/>
          <p:nvPr/>
        </p:nvSpPr>
        <p:spPr bwMode="auto">
          <a:xfrm>
            <a:off x="2823870" y="21463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create_write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6458977" name="矩形 12"/>
          <p:cNvSpPr/>
          <p:nvPr/>
        </p:nvSpPr>
        <p:spPr bwMode="auto">
          <a:xfrm>
            <a:off x="4832545" y="2057400"/>
            <a:ext cx="6212308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422222371" name="文本框 13"/>
          <p:cNvSpPr txBox="1"/>
          <p:nvPr/>
        </p:nvSpPr>
        <p:spPr bwMode="auto">
          <a:xfrm>
            <a:off x="5152474" y="21463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</a:rPr>
              <a:t>创建并写入文件后崩溃，恢复后检查文件内容</a:t>
            </a:r>
            <a:r>
              <a:rPr lang="zh-CN" sz="11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sz="11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16373718" name="矩形 14"/>
          <p:cNvSpPr/>
          <p:nvPr/>
        </p:nvSpPr>
        <p:spPr bwMode="auto">
          <a:xfrm>
            <a:off x="10270846" y="2057400"/>
            <a:ext cx="1615848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98414974" name="文本框 15"/>
          <p:cNvSpPr txBox="1"/>
          <p:nvPr/>
        </p:nvSpPr>
        <p:spPr bwMode="auto">
          <a:xfrm>
            <a:off x="10497312" y="21463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8232780" name="矩形 16"/>
          <p:cNvSpPr/>
          <p:nvPr/>
        </p:nvSpPr>
        <p:spPr bwMode="auto">
          <a:xfrm>
            <a:off x="2742876" y="2514600"/>
            <a:ext cx="2328603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57038446" name="文本框 17"/>
          <p:cNvSpPr txBox="1"/>
          <p:nvPr/>
        </p:nvSpPr>
        <p:spPr bwMode="auto">
          <a:xfrm>
            <a:off x="2823870" y="26035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rename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32944778" name="矩形 18"/>
          <p:cNvSpPr/>
          <p:nvPr/>
        </p:nvSpPr>
        <p:spPr bwMode="auto">
          <a:xfrm>
            <a:off x="4833051" y="2514600"/>
            <a:ext cx="6211802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23040618" name="文本框 19"/>
          <p:cNvSpPr txBox="1"/>
          <p:nvPr/>
        </p:nvSpPr>
        <p:spPr bwMode="auto">
          <a:xfrm>
            <a:off x="5152474" y="26035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rename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后崩溃，恢复后旧路径消失、新路径存在。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562089826" name="矩形 20"/>
          <p:cNvSpPr/>
          <p:nvPr/>
        </p:nvSpPr>
        <p:spPr bwMode="auto">
          <a:xfrm>
            <a:off x="10270846" y="2514600"/>
            <a:ext cx="1615848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79581265" name="文本框 21"/>
          <p:cNvSpPr txBox="1"/>
          <p:nvPr/>
        </p:nvSpPr>
        <p:spPr bwMode="auto">
          <a:xfrm>
            <a:off x="10497312" y="26035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88046098" name="矩形 22"/>
          <p:cNvSpPr/>
          <p:nvPr/>
        </p:nvSpPr>
        <p:spPr bwMode="auto">
          <a:xfrm>
            <a:off x="2742876" y="2971800"/>
            <a:ext cx="2328603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46099118" name="文本框 23"/>
          <p:cNvSpPr txBox="1"/>
          <p:nvPr/>
        </p:nvSpPr>
        <p:spPr bwMode="auto">
          <a:xfrm>
            <a:off x="2823870" y="30607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truncate_append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40641521" name="矩形 24"/>
          <p:cNvSpPr/>
          <p:nvPr/>
        </p:nvSpPr>
        <p:spPr bwMode="auto">
          <a:xfrm>
            <a:off x="4833557" y="2971800"/>
            <a:ext cx="6211296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374713925" name="文本框 25"/>
          <p:cNvSpPr txBox="1"/>
          <p:nvPr/>
        </p:nvSpPr>
        <p:spPr bwMode="auto">
          <a:xfrm>
            <a:off x="5152474" y="30607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truncate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后追加写，恢复后检查最终内容</a:t>
            </a:r>
            <a:r>
              <a:rPr lang="zh-CN" sz="11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sz="11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64394940" name="矩形 26"/>
          <p:cNvSpPr/>
          <p:nvPr/>
        </p:nvSpPr>
        <p:spPr bwMode="auto">
          <a:xfrm>
            <a:off x="10270846" y="2971800"/>
            <a:ext cx="1615848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993286358" name="文本框 27"/>
          <p:cNvSpPr txBox="1"/>
          <p:nvPr/>
        </p:nvSpPr>
        <p:spPr bwMode="auto">
          <a:xfrm>
            <a:off x="10497312" y="30607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30651608" name="矩形 28"/>
          <p:cNvSpPr/>
          <p:nvPr/>
        </p:nvSpPr>
        <p:spPr bwMode="auto">
          <a:xfrm>
            <a:off x="2742876" y="3429000"/>
            <a:ext cx="2328603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74392960" name="文本框 29"/>
          <p:cNvSpPr txBox="1"/>
          <p:nvPr/>
        </p:nvSpPr>
        <p:spPr bwMode="auto">
          <a:xfrm>
            <a:off x="2823870" y="35179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large_write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05541844" name="矩形 30"/>
          <p:cNvSpPr/>
          <p:nvPr/>
        </p:nvSpPr>
        <p:spPr bwMode="auto">
          <a:xfrm>
            <a:off x="4833557" y="3429000"/>
            <a:ext cx="6211296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383461907" name="文本框 31"/>
          <p:cNvSpPr txBox="1"/>
          <p:nvPr/>
        </p:nvSpPr>
        <p:spPr bwMode="auto">
          <a:xfrm>
            <a:off x="5152474" y="35179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4MB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大文件写入后崩溃，恢复后检查文件大小</a:t>
            </a:r>
            <a:r>
              <a:rPr lang="zh-CN" sz="11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  <a:endParaRPr lang="zh-CN" sz="11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61280020" name="矩形 32"/>
          <p:cNvSpPr/>
          <p:nvPr/>
        </p:nvSpPr>
        <p:spPr bwMode="auto">
          <a:xfrm>
            <a:off x="10270846" y="3429000"/>
            <a:ext cx="1615848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647480636" name="文本框 33"/>
          <p:cNvSpPr txBox="1"/>
          <p:nvPr/>
        </p:nvSpPr>
        <p:spPr bwMode="auto">
          <a:xfrm>
            <a:off x="10497312" y="35179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28372089" name="矩形 34"/>
          <p:cNvSpPr/>
          <p:nvPr/>
        </p:nvSpPr>
        <p:spPr bwMode="auto">
          <a:xfrm>
            <a:off x="2742876" y="3886200"/>
            <a:ext cx="2328603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415808032" name="文本框 35"/>
          <p:cNvSpPr txBox="1"/>
          <p:nvPr/>
        </p:nvSpPr>
        <p:spPr bwMode="auto">
          <a:xfrm>
            <a:off x="2823870" y="39751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fsync_durability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0397588" name="矩形 36"/>
          <p:cNvSpPr/>
          <p:nvPr/>
        </p:nvSpPr>
        <p:spPr bwMode="auto">
          <a:xfrm>
            <a:off x="4833557" y="3886200"/>
            <a:ext cx="6211296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666878130" name="文本框 37"/>
          <p:cNvSpPr txBox="1"/>
          <p:nvPr/>
        </p:nvSpPr>
        <p:spPr bwMode="auto">
          <a:xfrm>
            <a:off x="5152474" y="39751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fsync 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后崩溃，恢复后检查数据持久化。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978060729" name="矩形 38"/>
          <p:cNvSpPr/>
          <p:nvPr/>
        </p:nvSpPr>
        <p:spPr bwMode="auto">
          <a:xfrm>
            <a:off x="10270846" y="3886200"/>
            <a:ext cx="1615848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72541721" name="文本框 39"/>
          <p:cNvSpPr txBox="1"/>
          <p:nvPr/>
        </p:nvSpPr>
        <p:spPr bwMode="auto">
          <a:xfrm>
            <a:off x="10497312" y="39751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57910616" name="矩形 40"/>
          <p:cNvSpPr/>
          <p:nvPr/>
        </p:nvSpPr>
        <p:spPr bwMode="auto">
          <a:xfrm>
            <a:off x="2742876" y="4343400"/>
            <a:ext cx="2328603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1109116" name="文本框 41"/>
          <p:cNvSpPr txBox="1"/>
          <p:nvPr/>
        </p:nvSpPr>
        <p:spPr bwMode="auto">
          <a:xfrm>
            <a:off x="2823870" y="44323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multi_file_create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39255675" name="矩形 42"/>
          <p:cNvSpPr/>
          <p:nvPr/>
        </p:nvSpPr>
        <p:spPr bwMode="auto">
          <a:xfrm>
            <a:off x="4833557" y="4343400"/>
            <a:ext cx="6211296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887819455" name="文本框 43"/>
          <p:cNvSpPr txBox="1"/>
          <p:nvPr/>
        </p:nvSpPr>
        <p:spPr bwMode="auto">
          <a:xfrm>
            <a:off x="5152474" y="44323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</a:rPr>
              <a:t>批量创建多个文件后崩溃，恢复后逐个检查内容</a:t>
            </a:r>
            <a:r>
              <a:rPr lang="zh-CN" sz="11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zh-CN" sz="11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1669975" name="矩形 44"/>
          <p:cNvSpPr/>
          <p:nvPr/>
        </p:nvSpPr>
        <p:spPr bwMode="auto">
          <a:xfrm>
            <a:off x="10270846" y="4343400"/>
            <a:ext cx="1615848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467236543" name="文本框 45"/>
          <p:cNvSpPr txBox="1"/>
          <p:nvPr/>
        </p:nvSpPr>
        <p:spPr bwMode="auto">
          <a:xfrm>
            <a:off x="10497312" y="44323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96690385" name="矩形 46"/>
          <p:cNvSpPr/>
          <p:nvPr/>
        </p:nvSpPr>
        <p:spPr bwMode="auto">
          <a:xfrm>
            <a:off x="2742876" y="4800600"/>
            <a:ext cx="2328603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18283850" name="文本框 47"/>
          <p:cNvSpPr txBox="1"/>
          <p:nvPr/>
        </p:nvSpPr>
        <p:spPr bwMode="auto">
          <a:xfrm>
            <a:off x="2823870" y="48895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dir_tree_churn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11110912" name="矩形 48"/>
          <p:cNvSpPr/>
          <p:nvPr/>
        </p:nvSpPr>
        <p:spPr bwMode="auto">
          <a:xfrm>
            <a:off x="4833557" y="4800600"/>
            <a:ext cx="6211296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626984046" name="文本框 49"/>
          <p:cNvSpPr txBox="1"/>
          <p:nvPr/>
        </p:nvSpPr>
        <p:spPr bwMode="auto">
          <a:xfrm>
            <a:off x="5152474" y="4889500"/>
            <a:ext cx="5811384" cy="222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100">
                <a:solidFill>
                  <a:srgbClr val="000000"/>
                </a:solidFill>
                <a:ea typeface="+mn-lt"/>
                <a:cs typeface="+mn-lt"/>
              </a:rPr>
              <a:t>目录树创建</a:t>
            </a:r>
            <a:r>
              <a:rPr lang="en-US" sz="1100">
                <a:solidFill>
                  <a:srgbClr val="000000"/>
                </a:solidFill>
                <a:ea typeface="+mn-lt"/>
                <a:cs typeface="+mn-lt"/>
              </a:rPr>
              <a:t>/</a:t>
            </a:r>
            <a:r>
              <a:rPr lang="zh-CN" sz="1100">
                <a:solidFill>
                  <a:srgbClr val="000000"/>
                </a:solidFill>
                <a:ea typeface="+mn-lt"/>
                <a:cs typeface="+mn-lt"/>
              </a:rPr>
              <a:t>删除后崩溃，恢复后检查目录结构。</a:t>
            </a:r>
            <a:endParaRPr lang="zh-CN" sz="11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316921657" name="矩形 50"/>
          <p:cNvSpPr/>
          <p:nvPr/>
        </p:nvSpPr>
        <p:spPr bwMode="auto">
          <a:xfrm>
            <a:off x="10270846" y="4800600"/>
            <a:ext cx="1615848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609007171" name="文本框 51"/>
          <p:cNvSpPr txBox="1"/>
          <p:nvPr/>
        </p:nvSpPr>
        <p:spPr bwMode="auto">
          <a:xfrm>
            <a:off x="10497312" y="48895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71913990" name="矩形 52"/>
          <p:cNvSpPr/>
          <p:nvPr/>
        </p:nvSpPr>
        <p:spPr bwMode="auto">
          <a:xfrm>
            <a:off x="2742876" y="5257800"/>
            <a:ext cx="2328603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322791156" name="文本框 53"/>
          <p:cNvSpPr txBox="1"/>
          <p:nvPr/>
        </p:nvSpPr>
        <p:spPr bwMode="auto">
          <a:xfrm>
            <a:off x="2823870" y="53467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truncate_shrink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3916636" name="矩形 54"/>
          <p:cNvSpPr/>
          <p:nvPr/>
        </p:nvSpPr>
        <p:spPr bwMode="auto">
          <a:xfrm>
            <a:off x="4832545" y="5257800"/>
            <a:ext cx="6212308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237945208" name="文本框 55"/>
          <p:cNvSpPr txBox="1"/>
          <p:nvPr/>
        </p:nvSpPr>
        <p:spPr bwMode="auto">
          <a:xfrm>
            <a:off x="5152474" y="53467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文件缩小后崩溃，恢复后检查大小为</a:t>
            </a:r>
            <a:r>
              <a:rPr lang="en-US" sz="1400">
                <a:solidFill>
                  <a:srgbClr val="000000"/>
                </a:solidFill>
                <a:ea typeface="+mn-lt"/>
                <a:cs typeface="+mn-lt"/>
              </a:rPr>
              <a:t> 0</a:t>
            </a:r>
            <a:r>
              <a:rPr lang="zh-CN" sz="1400">
                <a:solidFill>
                  <a:srgbClr val="000000"/>
                </a:solidFill>
                <a:ea typeface="+mn-lt"/>
                <a:cs typeface="+mn-lt"/>
              </a:rPr>
              <a:t>。</a:t>
            </a:r>
            <a:endParaRPr lang="zh-CN" sz="1400">
              <a:solidFill>
                <a:srgbClr val="000000"/>
              </a:solidFill>
              <a:ea typeface="+mn-lt"/>
              <a:cs typeface="+mn-lt"/>
            </a:endParaRPr>
          </a:p>
        </p:txBody>
      </p:sp>
      <p:sp>
        <p:nvSpPr>
          <p:cNvPr id="1258477057" name="矩形 56"/>
          <p:cNvSpPr/>
          <p:nvPr/>
        </p:nvSpPr>
        <p:spPr bwMode="auto">
          <a:xfrm>
            <a:off x="10270846" y="5257800"/>
            <a:ext cx="1615848" cy="457200"/>
          </a:xfrm>
          <a:prstGeom prst="rect">
            <a:avLst/>
          </a:prstGeom>
          <a:solidFill>
            <a:srgbClr val="EAEAEA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341677784" name="文本框 57"/>
          <p:cNvSpPr txBox="1"/>
          <p:nvPr/>
        </p:nvSpPr>
        <p:spPr bwMode="auto">
          <a:xfrm>
            <a:off x="10497312" y="53467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90271224" name="矩形 58"/>
          <p:cNvSpPr/>
          <p:nvPr/>
        </p:nvSpPr>
        <p:spPr bwMode="auto">
          <a:xfrm>
            <a:off x="2742876" y="5715000"/>
            <a:ext cx="2328603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058369599" name="文本框 59"/>
          <p:cNvSpPr txBox="1"/>
          <p:nvPr/>
        </p:nvSpPr>
        <p:spPr bwMode="auto">
          <a:xfrm>
            <a:off x="2823870" y="5803900"/>
            <a:ext cx="2166613" cy="2241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1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append_concurrent</a:t>
            </a:r>
            <a:endParaRPr lang="en-US" sz="11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7889032" name="矩形 60"/>
          <p:cNvSpPr/>
          <p:nvPr/>
        </p:nvSpPr>
        <p:spPr bwMode="auto">
          <a:xfrm>
            <a:off x="4833557" y="5715000"/>
            <a:ext cx="6211296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1784521562" name="文本框 61"/>
          <p:cNvSpPr txBox="1"/>
          <p:nvPr/>
        </p:nvSpPr>
        <p:spPr bwMode="auto">
          <a:xfrm>
            <a:off x="5152474" y="5803900"/>
            <a:ext cx="5811384" cy="26606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ctr">
              <a:spcAft>
                <a:spcPts val="0"/>
              </a:spcAft>
              <a:defRPr/>
            </a:pPr>
            <a:r>
              <a:rPr lang="zh-CN" sz="1400">
                <a:solidFill>
                  <a:srgbClr val="000000"/>
                </a:solidFill>
                <a:ea typeface="+mn-lt"/>
              </a:rPr>
              <a:t>并发追加后崩溃，恢复后检查最终标记存在。</a:t>
            </a:r>
            <a:endParaRPr lang="zh-CN" sz="1400">
              <a:solidFill>
                <a:srgbClr val="000000"/>
              </a:solidFill>
              <a:ea typeface="+mn-lt"/>
            </a:endParaRPr>
          </a:p>
        </p:txBody>
      </p:sp>
      <p:sp>
        <p:nvSpPr>
          <p:cNvPr id="859326971" name="矩形 62"/>
          <p:cNvSpPr/>
          <p:nvPr/>
        </p:nvSpPr>
        <p:spPr bwMode="auto">
          <a:xfrm>
            <a:off x="10270846" y="5715000"/>
            <a:ext cx="1615848" cy="457200"/>
          </a:xfrm>
          <a:prstGeom prst="rect">
            <a:avLst/>
          </a:prstGeom>
          <a:solidFill>
            <a:srgbClr val="D9D9D9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>
              <a:defRPr/>
            </a:pPr>
            <a:endParaRPr lang="zh-CN"/>
          </a:p>
        </p:txBody>
      </p:sp>
      <p:sp>
        <p:nvSpPr>
          <p:cNvPr id="2014321654" name="文本框 63"/>
          <p:cNvSpPr txBox="1"/>
          <p:nvPr/>
        </p:nvSpPr>
        <p:spPr bwMode="auto">
          <a:xfrm>
            <a:off x="10497312" y="5803900"/>
            <a:ext cx="1097280" cy="242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spAutoFit/>
          </a:bodyPr>
          <a:p>
            <a:pPr algn="l">
              <a:spcAft>
                <a:spcPts val="0"/>
              </a:spcAft>
              <a:defRPr/>
            </a:pPr>
            <a:r>
              <a:rPr lang="en-US" sz="125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PASS</a:t>
            </a:r>
            <a:endParaRPr lang="en-US" sz="125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50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000329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966915699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520487412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1725696394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131928848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683236209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813813064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670036608" name="组合 19"/>
          <p:cNvGrpSpPr/>
          <p:nvPr/>
        </p:nvGrpSpPr>
        <p:grpSpPr bwMode="auto">
          <a:xfrm>
            <a:off x="0" y="4047533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759863338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308617116" name="TextBox 43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4.4 并发正确性测试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131966239" name="Rounded Rectangle 46"/>
          <p:cNvSpPr/>
          <p:nvPr/>
        </p:nvSpPr>
        <p:spPr bwMode="auto">
          <a:xfrm>
            <a:off x="2834640" y="1234440"/>
            <a:ext cx="1554480" cy="1051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205B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521491082" name="TextBox 47"/>
          <p:cNvSpPr txBox="1"/>
          <p:nvPr/>
        </p:nvSpPr>
        <p:spPr bwMode="auto">
          <a:xfrm>
            <a:off x="2907792" y="1307592"/>
            <a:ext cx="1408535" cy="321222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250" b="1">
                <a:solidFill>
                  <a:srgbClr val="205BA3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多 worker</a:t>
            </a:r>
            <a:endParaRPr sz="1250" b="1">
              <a:solidFill>
                <a:srgbClr val="205BA3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80684563" name="TextBox 48"/>
          <p:cNvSpPr txBox="1"/>
          <p:nvPr/>
        </p:nvSpPr>
        <p:spPr bwMode="auto">
          <a:xfrm>
            <a:off x="2944368" y="1581912"/>
            <a:ext cx="1335384" cy="454581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zh-CN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多线程</a:t>
            </a:r>
            <a:r>
              <a:rPr lang="en-US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/</a:t>
            </a:r>
            <a:r>
              <a:rPr lang="zh-CN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多进程同时访问文件</a:t>
            </a:r>
            <a:endParaRPr sz="105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41925349" name="Right Arrow 49"/>
          <p:cNvSpPr/>
          <p:nvPr/>
        </p:nvSpPr>
        <p:spPr bwMode="auto">
          <a:xfrm>
            <a:off x="4480560" y="1664208"/>
            <a:ext cx="411480" cy="14630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E8926"/>
          </a:solidFill>
          <a:ln>
            <a:solidFill>
              <a:srgbClr val="EE89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341419989" name="Rounded Rectangle 50"/>
          <p:cNvSpPr/>
          <p:nvPr/>
        </p:nvSpPr>
        <p:spPr bwMode="auto">
          <a:xfrm>
            <a:off x="4983480" y="1234440"/>
            <a:ext cx="1554480" cy="1051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892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890457550" name="TextBox 51"/>
          <p:cNvSpPr txBox="1"/>
          <p:nvPr/>
        </p:nvSpPr>
        <p:spPr bwMode="auto">
          <a:xfrm>
            <a:off x="5056631" y="1307592"/>
            <a:ext cx="1408535" cy="30134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250" b="1">
                <a:solidFill>
                  <a:srgbClr val="389253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确定性数据</a:t>
            </a:r>
            <a:endParaRPr sz="1250" b="1">
              <a:solidFill>
                <a:srgbClr val="389253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31913836" name="TextBox 52"/>
          <p:cNvSpPr txBox="1"/>
          <p:nvPr/>
        </p:nvSpPr>
        <p:spPr bwMode="auto">
          <a:xfrm>
            <a:off x="5093208" y="1581912"/>
            <a:ext cx="1335384" cy="454581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seed + worker + round </a:t>
            </a:r>
            <a:r>
              <a:rPr lang="zh-CN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生成期望内容</a:t>
            </a:r>
            <a:endParaRPr sz="105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89532347" name="Right Arrow 53"/>
          <p:cNvSpPr/>
          <p:nvPr/>
        </p:nvSpPr>
        <p:spPr bwMode="auto">
          <a:xfrm>
            <a:off x="6629400" y="1664208"/>
            <a:ext cx="411480" cy="14630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E8926"/>
          </a:solidFill>
          <a:ln>
            <a:solidFill>
              <a:srgbClr val="EE89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524925212" name="Rounded Rectangle 54"/>
          <p:cNvSpPr/>
          <p:nvPr/>
        </p:nvSpPr>
        <p:spPr bwMode="auto">
          <a:xfrm>
            <a:off x="7132320" y="1234440"/>
            <a:ext cx="1554480" cy="1051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E89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673953927" name="TextBox 55"/>
          <p:cNvSpPr txBox="1"/>
          <p:nvPr/>
        </p:nvSpPr>
        <p:spPr bwMode="auto">
          <a:xfrm>
            <a:off x="7205471" y="1307592"/>
            <a:ext cx="1408535" cy="30134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250" b="1">
                <a:solidFill>
                  <a:srgbClr val="EE89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文件回读</a:t>
            </a:r>
            <a:endParaRPr sz="1250" b="1">
              <a:solidFill>
                <a:srgbClr val="EE8926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82407929" name="TextBox 56"/>
          <p:cNvSpPr txBox="1"/>
          <p:nvPr/>
        </p:nvSpPr>
        <p:spPr bwMode="auto">
          <a:xfrm>
            <a:off x="7242048" y="1581912"/>
            <a:ext cx="1335384" cy="443844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zh-CN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读取最终文件并计算</a:t>
            </a:r>
            <a:r>
              <a:rPr lang="en-US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hash</a:t>
            </a:r>
            <a:endParaRPr sz="105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3954277" name="Right Arrow 57"/>
          <p:cNvSpPr/>
          <p:nvPr/>
        </p:nvSpPr>
        <p:spPr bwMode="auto">
          <a:xfrm>
            <a:off x="8778240" y="1664208"/>
            <a:ext cx="411480" cy="14630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E8926"/>
          </a:solidFill>
          <a:ln>
            <a:solidFill>
              <a:srgbClr val="EE89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564548487" name="Rounded Rectangle 58"/>
          <p:cNvSpPr/>
          <p:nvPr/>
        </p:nvSpPr>
        <p:spPr bwMode="auto">
          <a:xfrm>
            <a:off x="9281160" y="1234440"/>
            <a:ext cx="1554480" cy="1051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BD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330114704" name="TextBox 59"/>
          <p:cNvSpPr txBox="1"/>
          <p:nvPr/>
        </p:nvSpPr>
        <p:spPr bwMode="auto">
          <a:xfrm>
            <a:off x="9354312" y="1307592"/>
            <a:ext cx="1408535" cy="30134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250" b="1">
                <a:solidFill>
                  <a:srgbClr val="BD40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结果裁决</a:t>
            </a:r>
            <a:endParaRPr sz="1250" b="1">
              <a:solidFill>
                <a:srgbClr val="BD4040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35909237" name="TextBox 60"/>
          <p:cNvSpPr txBox="1"/>
          <p:nvPr/>
        </p:nvSpPr>
        <p:spPr bwMode="auto">
          <a:xfrm>
            <a:off x="9390888" y="1581912"/>
            <a:ext cx="1335384" cy="443844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sz="105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actual hash == expected hash</a:t>
            </a:r>
            <a:endParaRPr sz="105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7852007" name="文本框 1"/>
          <p:cNvSpPr txBox="1"/>
          <p:nvPr/>
        </p:nvSpPr>
        <p:spPr bwMode="auto">
          <a:xfrm>
            <a:off x="2834639" y="4293869"/>
            <a:ext cx="7724774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xfstests concurrency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10/10 PASS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通过用例：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generic/013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068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076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083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476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269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051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054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055</a:t>
            </a:r>
            <a:r>
              <a:rPr lang="zh-CN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388</a:t>
            </a:r>
            <a:endParaRPr>
              <a:solidFill>
                <a:srgbClr val="FF0000"/>
              </a:solidFill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覆盖能力：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fsstress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多进程随机文件操作；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并发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create/write/truncate/rename/unlink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；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近满盘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ENOSPC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压力；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并发压力下的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shutdown/recovery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。</a:t>
            </a: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672156009" name="文本框 2"/>
          <p:cNvSpPr txBox="1"/>
          <p:nvPr/>
        </p:nvSpPr>
        <p:spPr bwMode="auto">
          <a:xfrm>
            <a:off x="2823845" y="2540635"/>
            <a:ext cx="780859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concurrency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测试：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PASS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测试方法：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多个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worker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并发创建、写入、覆盖和读取文件；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每轮写入内容由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worker id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round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和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seed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决定；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测试结束后重新计算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expected hash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，文件实际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hash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对比。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9562765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59175989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445886194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237009296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827388824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179035066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50867949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56657150" name="组合 19"/>
          <p:cNvGrpSpPr/>
          <p:nvPr/>
        </p:nvGrpSpPr>
        <p:grpSpPr bwMode="auto">
          <a:xfrm>
            <a:off x="0" y="4047533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14207696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702191198" name="TextBox 43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4.5 fio 性能测试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04497276" name="TextBox 46"/>
          <p:cNvSpPr txBox="1"/>
          <p:nvPr/>
        </p:nvSpPr>
        <p:spPr bwMode="auto">
          <a:xfrm>
            <a:off x="8675370" y="1600834"/>
            <a:ext cx="3130274" cy="67183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  <a:defRPr/>
            </a:pPr>
            <a:br>
              <a:rPr sz="1600" b="0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</a:br>
            <a:endParaRPr sz="1600" b="0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433781111" name="文本框 4"/>
          <p:cNvSpPr txBox="1"/>
          <p:nvPr/>
        </p:nvSpPr>
        <p:spPr bwMode="auto">
          <a:xfrm>
            <a:off x="2861945" y="5287644"/>
            <a:ext cx="810196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defRPr/>
            </a:pP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结论：写路径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 4K-64K 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达到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 Linux 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的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 91%-97%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，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256K 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与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 1M 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写入超过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 Linux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；读路径全部达到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 Linux 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的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 90% 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以上，整体读写性能均已接近</a:t>
            </a:r>
            <a:r>
              <a:rPr lang="en-US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 Linux EXT4</a:t>
            </a:r>
            <a:r>
              <a:rPr lang="zh-CN" b="1">
                <a:solidFill>
                  <a:srgbClr val="000000"/>
                </a:solidFill>
                <a:latin typeface="+mn-ea"/>
                <a:ea typeface="微软雅黑" panose="020B0503020204020204" charset="-122"/>
                <a:cs typeface="+mn-ea"/>
              </a:rPr>
              <a:t>。</a:t>
            </a:r>
            <a:endParaRPr lang="zh-CN" b="1">
              <a:solidFill>
                <a:srgbClr val="000000"/>
              </a:solidFill>
              <a:latin typeface="+mn-ea"/>
              <a:ea typeface="微软雅黑" panose="020B0503020204020204" charset="-122"/>
              <a:cs typeface="+mn-ea"/>
            </a:endParaRPr>
          </a:p>
          <a:p>
            <a:pPr>
              <a:defRPr/>
            </a:pPr>
            <a:endParaRPr lang="zh-CN">
              <a:latin typeface="+mn-ea"/>
              <a:cs typeface="+mn-ea"/>
            </a:endParaRPr>
          </a:p>
        </p:txBody>
      </p:sp>
      <p:pic>
        <p:nvPicPr>
          <p:cNvPr id="1140239112" name="图片 11402391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2954490" y="912620"/>
            <a:ext cx="3601327" cy="2505004"/>
          </a:xfrm>
          <a:prstGeom prst="rect">
            <a:avLst/>
          </a:prstGeom>
        </p:spPr>
      </p:pic>
      <p:pic>
        <p:nvPicPr>
          <p:cNvPr id="1530876213" name="图片 153087621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 bwMode="auto">
          <a:xfrm>
            <a:off x="7132859" y="966923"/>
            <a:ext cx="3527367" cy="2444403"/>
          </a:xfrm>
          <a:prstGeom prst="rect">
            <a:avLst/>
          </a:prstGeom>
        </p:spPr>
      </p:pic>
      <p:pic>
        <p:nvPicPr>
          <p:cNvPr id="1831435279" name="图片 1831435278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 bwMode="auto">
          <a:xfrm>
            <a:off x="7132859" y="3617681"/>
            <a:ext cx="3423458" cy="1472455"/>
          </a:xfrm>
          <a:prstGeom prst="rect">
            <a:avLst/>
          </a:prstGeom>
        </p:spPr>
      </p:pic>
      <p:pic>
        <p:nvPicPr>
          <p:cNvPr id="1041210295" name="图片 1041210294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 bwMode="auto">
          <a:xfrm>
            <a:off x="3272108" y="3589597"/>
            <a:ext cx="3552140" cy="15286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8194647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742072346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964510727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174560226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1512825519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856483331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907906788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715423068" name="组合 19"/>
          <p:cNvGrpSpPr/>
          <p:nvPr/>
        </p:nvGrpSpPr>
        <p:grpSpPr bwMode="auto">
          <a:xfrm>
            <a:off x="0" y="4047533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329855681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37576072" name="TextBox 43"/>
          <p:cNvSpPr txBox="1"/>
          <p:nvPr/>
        </p:nvSpPr>
        <p:spPr bwMode="auto">
          <a:xfrm>
            <a:off x="2743200" y="311276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4.5 fio 性能测试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21995068" name="文本框 3"/>
          <p:cNvSpPr txBox="1"/>
          <p:nvPr/>
        </p:nvSpPr>
        <p:spPr bwMode="auto">
          <a:xfrm>
            <a:off x="9166860" y="2600960"/>
            <a:ext cx="2829919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图中展示了引入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O_DIRECT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覆盖写共享锁后，同一文件并发写入的性能结果。在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numjobs=2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和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numjobs=4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时，系统分别达到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Linux EXT4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的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165%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和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187%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，说明纯覆盖写路径中的共享锁设计有效减少了设备</a:t>
            </a:r>
            <a:r>
              <a:rPr lang="en-US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I/O </a:t>
            </a:r>
            <a:r>
              <a:rPr lang="zh-CN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等待期间的不必要串行化。</a:t>
            </a:r>
            <a:endParaRPr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045436473" name="图片 204543647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2795647" y="1769549"/>
            <a:ext cx="6023313" cy="41740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615251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07250525" name="文本框 7"/>
          <p:cNvSpPr txBox="1"/>
          <p:nvPr/>
        </p:nvSpPr>
        <p:spPr bwMode="auto">
          <a:xfrm>
            <a:off x="86359" y="1388370"/>
            <a:ext cx="233823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25331894" name="文本框 8"/>
          <p:cNvSpPr txBox="1"/>
          <p:nvPr/>
        </p:nvSpPr>
        <p:spPr bwMode="auto">
          <a:xfrm>
            <a:off x="86359" y="2325586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463287041" name="文本框 9"/>
          <p:cNvSpPr txBox="1"/>
          <p:nvPr/>
        </p:nvSpPr>
        <p:spPr bwMode="auto">
          <a:xfrm>
            <a:off x="86359" y="3261532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grpSp>
        <p:nvGrpSpPr>
          <p:cNvPr id="1413679697" name="组合 19"/>
          <p:cNvGrpSpPr/>
          <p:nvPr/>
        </p:nvGrpSpPr>
        <p:grpSpPr bwMode="auto">
          <a:xfrm>
            <a:off x="0" y="4096353"/>
            <a:ext cx="2737505" cy="762000"/>
            <a:chOff x="0" y="772160"/>
            <a:chExt cx="2737505" cy="762000"/>
          </a:xfrm>
        </p:grpSpPr>
        <p:sp>
          <p:nvSpPr>
            <p:cNvPr id="1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17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97029284" name="文本框 10"/>
          <p:cNvSpPr txBox="1"/>
          <p:nvPr/>
        </p:nvSpPr>
        <p:spPr bwMode="auto">
          <a:xfrm>
            <a:off x="86359" y="4198113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912962963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526890501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261194986" name="文本框 29"/>
          <p:cNvSpPr txBox="1"/>
          <p:nvPr/>
        </p:nvSpPr>
        <p:spPr bwMode="auto">
          <a:xfrm>
            <a:off x="46049" y="5134696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88657329" name="TextBox 21"/>
          <p:cNvSpPr txBox="1"/>
          <p:nvPr/>
        </p:nvSpPr>
        <p:spPr bwMode="auto">
          <a:xfrm>
            <a:off x="2743200" y="347471"/>
            <a:ext cx="878003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4.6 SQLite speedtest1 性能优化结果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19853495" name="Rounded Rectangle 24"/>
          <p:cNvSpPr/>
          <p:nvPr/>
        </p:nvSpPr>
        <p:spPr bwMode="auto">
          <a:xfrm>
            <a:off x="3108960" y="1143000"/>
            <a:ext cx="18288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BD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948882897" name="TextBox 25"/>
          <p:cNvSpPr txBox="1"/>
          <p:nvPr/>
        </p:nvSpPr>
        <p:spPr bwMode="auto">
          <a:xfrm>
            <a:off x="3200397" y="1216150"/>
            <a:ext cx="1740598" cy="42707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2000" b="1">
                <a:solidFill>
                  <a:srgbClr val="BD404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2010.7s</a:t>
            </a:r>
            <a:endParaRPr sz="2000" b="1">
              <a:solidFill>
                <a:srgbClr val="BD4040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97484331" name="TextBox 26"/>
          <p:cNvSpPr txBox="1"/>
          <p:nvPr/>
        </p:nvSpPr>
        <p:spPr bwMode="auto">
          <a:xfrm>
            <a:off x="3200526" y="1593342"/>
            <a:ext cx="1683575" cy="259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0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初始版本</a:t>
            </a:r>
            <a:endParaRPr sz="10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52101624" name="Rounded Rectangle 27"/>
          <p:cNvSpPr/>
          <p:nvPr/>
        </p:nvSpPr>
        <p:spPr bwMode="auto">
          <a:xfrm>
            <a:off x="6134100" y="1143000"/>
            <a:ext cx="18288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3892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103391597" name="TextBox 28"/>
          <p:cNvSpPr txBox="1"/>
          <p:nvPr/>
        </p:nvSpPr>
        <p:spPr bwMode="auto">
          <a:xfrm>
            <a:off x="6225539" y="1216151"/>
            <a:ext cx="1738439" cy="42707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2000" b="1">
                <a:solidFill>
                  <a:srgbClr val="389253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234.9s</a:t>
            </a:r>
            <a:endParaRPr sz="2000" b="1">
              <a:solidFill>
                <a:srgbClr val="389253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050859283" name="TextBox 29"/>
          <p:cNvSpPr txBox="1"/>
          <p:nvPr/>
        </p:nvSpPr>
        <p:spPr bwMode="auto">
          <a:xfrm>
            <a:off x="6207251" y="1581912"/>
            <a:ext cx="1683575" cy="25943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0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最终版本</a:t>
            </a:r>
            <a:endParaRPr sz="10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742032908" name="Rounded Rectangle 30"/>
          <p:cNvSpPr/>
          <p:nvPr/>
        </p:nvSpPr>
        <p:spPr bwMode="auto">
          <a:xfrm>
            <a:off x="8900160" y="1133475"/>
            <a:ext cx="18288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EE89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6003132" name="TextBox 31"/>
          <p:cNvSpPr txBox="1"/>
          <p:nvPr/>
        </p:nvSpPr>
        <p:spPr bwMode="auto">
          <a:xfrm>
            <a:off x="8991599" y="1216151"/>
            <a:ext cx="1738439" cy="429895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en-US" sz="2000" b="1">
                <a:solidFill>
                  <a:srgbClr val="EE89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8.6</a:t>
            </a:r>
            <a:r>
              <a:rPr sz="2000" b="1">
                <a:solidFill>
                  <a:srgbClr val="EE8926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x</a:t>
            </a:r>
            <a:endParaRPr sz="2000" b="1">
              <a:solidFill>
                <a:srgbClr val="EE8926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922797351" name="TextBox 32"/>
          <p:cNvSpPr txBox="1"/>
          <p:nvPr/>
        </p:nvSpPr>
        <p:spPr bwMode="auto">
          <a:xfrm>
            <a:off x="8991726" y="1592706"/>
            <a:ext cx="1683575" cy="259439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sz="10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整体性能提升</a:t>
            </a:r>
            <a:endParaRPr sz="10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25255058" name="文本框 2"/>
          <p:cNvSpPr txBox="1"/>
          <p:nvPr/>
        </p:nvSpPr>
        <p:spPr bwMode="auto">
          <a:xfrm>
            <a:off x="8834119" y="2554365"/>
            <a:ext cx="2925024" cy="3291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初始版本中，每次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4KiB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写入都容易触发完整的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extent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查找、块分配、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JBD2 handle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和同步写回，导致真实应用性能明显低于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Linux EXT4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经过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unwritten extent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预分配、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DeviceBlockCache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WrittenCoverage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覆盖写路径、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fsync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批量写回和共享锁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O_DIRECT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等优化后，总耗时从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20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10.7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s 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降至</a:t>
            </a:r>
            <a:r>
              <a:rPr lang="en-US" sz="1600">
                <a:latin typeface="Arial" panose="020B0604020202020204"/>
                <a:ea typeface="Arial" panose="020B0604020202020204"/>
                <a:cs typeface="Arial" panose="020B0604020202020204"/>
              </a:rPr>
              <a:t> 234.9s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，整体提升约</a:t>
            </a:r>
            <a:r>
              <a:rPr lang="en-US" alt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8.6</a:t>
            </a:r>
            <a:r>
              <a:rPr lang="zh-CN" sz="1600">
                <a:latin typeface="Arial" panose="020B0604020202020204"/>
                <a:ea typeface="Arial" panose="020B0604020202020204"/>
                <a:cs typeface="Arial" panose="020B0604020202020204"/>
              </a:rPr>
              <a:t>倍。</a:t>
            </a:r>
            <a:endParaRPr sz="1600"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 sz="16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1024758329" name="图片 102475832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2743200" y="2631467"/>
            <a:ext cx="6039132" cy="31332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615251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07250525" name="文本框 7"/>
          <p:cNvSpPr txBox="1"/>
          <p:nvPr/>
        </p:nvSpPr>
        <p:spPr bwMode="auto">
          <a:xfrm>
            <a:off x="86359" y="1388370"/>
            <a:ext cx="233823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25331894" name="文本框 8"/>
          <p:cNvSpPr txBox="1"/>
          <p:nvPr/>
        </p:nvSpPr>
        <p:spPr bwMode="auto">
          <a:xfrm>
            <a:off x="86359" y="2325586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463287041" name="文本框 9"/>
          <p:cNvSpPr txBox="1"/>
          <p:nvPr/>
        </p:nvSpPr>
        <p:spPr bwMode="auto">
          <a:xfrm>
            <a:off x="86359" y="3261532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7029284" name="文本框 10"/>
          <p:cNvSpPr txBox="1"/>
          <p:nvPr/>
        </p:nvSpPr>
        <p:spPr bwMode="auto">
          <a:xfrm>
            <a:off x="86359" y="4198113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912962963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526890501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sp>
        <p:nvSpPr>
          <p:cNvPr id="261194986" name="文本框 29"/>
          <p:cNvSpPr txBox="1"/>
          <p:nvPr/>
        </p:nvSpPr>
        <p:spPr bwMode="auto">
          <a:xfrm>
            <a:off x="46049" y="5134696"/>
            <a:ext cx="233787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837180" y="375285"/>
            <a:ext cx="406400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1"/>
                </a:solidFill>
                <a:effectLst/>
                <a:ea typeface="+mn-lt"/>
                <a:cs typeface="+mn-lt"/>
              </a:rPr>
              <a:t>AI</a:t>
            </a:r>
            <a:r>
              <a:rPr lang="zh-CN" altLang="en-US" sz="2800" b="1">
                <a:solidFill>
                  <a:schemeClr val="tx1"/>
                </a:solidFill>
                <a:effectLst/>
                <a:ea typeface="+mn-lt"/>
                <a:cs typeface="+mn-lt"/>
              </a:rPr>
              <a:t>使用情况说明</a:t>
            </a:r>
            <a:endParaRPr lang="zh-CN" altLang="en-US" sz="2800" b="1">
              <a:solidFill>
                <a:schemeClr val="tx1"/>
              </a:solidFill>
              <a:effectLst/>
              <a:ea typeface="+mn-lt"/>
              <a:cs typeface="+mn-lt"/>
            </a:endParaRPr>
          </a:p>
        </p:txBody>
      </p:sp>
      <p:sp>
        <p:nvSpPr>
          <p:cNvPr id="416082897" name="文本框 1"/>
          <p:cNvSpPr txBox="1"/>
          <p:nvPr/>
        </p:nvSpPr>
        <p:spPr bwMode="auto">
          <a:xfrm>
            <a:off x="2907665" y="1901825"/>
            <a:ext cx="6638925" cy="16605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Arial" panose="020B0604020202020204"/>
              <a:buNone/>
              <a:defRPr/>
            </a:pPr>
            <a:r>
              <a:rPr lang="zh-CN" b="1">
                <a:solidFill>
                  <a:schemeClr val="tx1"/>
                </a:solidFill>
                <a:effectLst/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使用工具：</a:t>
            </a:r>
            <a:endParaRPr b="1">
              <a:solidFill>
                <a:schemeClr val="tx1"/>
              </a:solidFill>
              <a:effectLst/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600">
                <a:ea typeface="+mn-lt"/>
                <a:cs typeface="+mn-lt"/>
              </a:rPr>
              <a:t>交互与执行工具</a:t>
            </a:r>
            <a:r>
              <a:rPr lang="en-US" sz="1600">
                <a:ea typeface="+mn-lt"/>
                <a:cs typeface="+mn-lt"/>
              </a:rPr>
              <a:t>	   </a:t>
            </a:r>
            <a:r>
              <a:rPr lang="en-US" altLang="zh-CN" sz="1600">
                <a:ea typeface="+mn-lt"/>
                <a:cs typeface="+mn-lt"/>
              </a:rPr>
              <a:t>Claude Code</a:t>
            </a:r>
            <a:r>
              <a:rPr lang="zh-CN" altLang="en-US" sz="1600">
                <a:ea typeface="+mn-lt"/>
                <a:cs typeface="+mn-lt"/>
              </a:rPr>
              <a:t>（命令行交互与执行</a:t>
            </a:r>
            <a:r>
              <a:rPr lang="en-US" altLang="zh-CN" sz="1600">
                <a:ea typeface="+mn-lt"/>
                <a:cs typeface="+mn-lt"/>
              </a:rPr>
              <a:t> harness</a:t>
            </a:r>
            <a:r>
              <a:rPr lang="zh-CN" altLang="en-US" sz="1600">
                <a:ea typeface="+mn-lt"/>
                <a:cs typeface="+mn-lt"/>
              </a:rPr>
              <a:t>）</a:t>
            </a:r>
            <a:r>
              <a:rPr lang="en-US" sz="1600">
                <a:ea typeface="+mn-lt"/>
                <a:cs typeface="+mn-lt"/>
              </a:rPr>
              <a:t>	</a:t>
            </a:r>
            <a:endParaRPr lang="en-US" sz="16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600">
                <a:ea typeface="+mn-lt"/>
                <a:cs typeface="+mn-lt"/>
              </a:rPr>
              <a:t>使用的大模型</a:t>
            </a:r>
            <a:r>
              <a:rPr lang="en-US" sz="1600">
                <a:ea typeface="+mn-lt"/>
                <a:cs typeface="+mn-lt"/>
              </a:rPr>
              <a:t>        </a:t>
            </a:r>
            <a:r>
              <a:rPr lang="en-US" altLang="zh-CN" sz="1600">
                <a:ea typeface="+mn-lt"/>
                <a:cs typeface="+mn-lt"/>
              </a:rPr>
              <a:t>DeepSeek V4 Pro</a:t>
            </a:r>
            <a:endParaRPr lang="en-US" altLang="zh-CN" sz="16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600">
                <a:ea typeface="+mn-lt"/>
                <a:cs typeface="+mn-lt"/>
              </a:rPr>
              <a:t>使用方式</a:t>
            </a:r>
            <a:r>
              <a:rPr lang="en-US" sz="1600">
                <a:ea typeface="+mn-lt"/>
                <a:cs typeface="+mn-lt"/>
              </a:rPr>
              <a:t>	   </a:t>
            </a:r>
            <a:r>
              <a:rPr lang="zh-CN" altLang="en-US">
                <a:ea typeface="+mn-lt"/>
                <a:cs typeface="+mn-lt"/>
              </a:rPr>
              <a:t>本地终端交互</a:t>
            </a:r>
            <a:endParaRPr lang="zh-CN" altLang="en-US">
              <a:ea typeface="+mn-lt"/>
              <a:cs typeface="+mn-lt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837180" y="979805"/>
            <a:ext cx="879856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ea typeface="+mn-lt"/>
                <a:cs typeface="+mn-lt"/>
              </a:rPr>
              <a:t>本项目使用</a:t>
            </a:r>
            <a:r>
              <a:rPr lang="en-US" altLang="zh-CN">
                <a:ea typeface="+mn-lt"/>
                <a:cs typeface="+mn-lt"/>
              </a:rPr>
              <a:t> AI </a:t>
            </a:r>
            <a:r>
              <a:rPr lang="zh-CN" altLang="en-US">
                <a:ea typeface="+mn-lt"/>
                <a:cs typeface="+mn-lt"/>
              </a:rPr>
              <a:t>的基本方式是：参赛队负责需求拆分、功能代码实现、代码修改、测试取舍、结果验收和最终提交；</a:t>
            </a:r>
            <a:r>
              <a:rPr lang="en-US" altLang="zh-CN">
                <a:ea typeface="+mn-lt"/>
                <a:cs typeface="+mn-lt"/>
              </a:rPr>
              <a:t>AI </a:t>
            </a:r>
            <a:r>
              <a:rPr lang="zh-CN" altLang="en-US">
                <a:ea typeface="+mn-lt"/>
                <a:cs typeface="+mn-lt"/>
              </a:rPr>
              <a:t>工具主要用于沟通实现思路、检查代码风险、排查运行</a:t>
            </a:r>
            <a:r>
              <a:rPr lang="en-US" altLang="zh-CN">
                <a:ea typeface="+mn-lt"/>
                <a:cs typeface="+mn-lt"/>
              </a:rPr>
              <a:t> bug</a:t>
            </a:r>
            <a:r>
              <a:rPr lang="zh-CN" altLang="en-US">
                <a:ea typeface="+mn-lt"/>
                <a:cs typeface="+mn-lt"/>
              </a:rPr>
              <a:t>、生成自动化测试脚本、整理测试数据表格，以及总结阶段状态供队内讨论。</a:t>
            </a:r>
            <a:endParaRPr lang="zh-CN" altLang="en-US">
              <a:ea typeface="+mn-lt"/>
              <a:cs typeface="+mn-lt"/>
            </a:endParaRPr>
          </a:p>
        </p:txBody>
      </p:sp>
      <p:sp>
        <p:nvSpPr>
          <p:cNvPr id="5" name="文本框 1"/>
          <p:cNvSpPr txBox="1"/>
          <p:nvPr/>
        </p:nvSpPr>
        <p:spPr bwMode="auto">
          <a:xfrm>
            <a:off x="2907665" y="3766185"/>
            <a:ext cx="8981440" cy="2768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Arial" panose="020B0604020202020204"/>
              <a:buNone/>
              <a:defRPr/>
            </a:pPr>
            <a:r>
              <a:rPr lang="zh-CN" b="1">
                <a:solidFill>
                  <a:schemeClr val="tx1"/>
                </a:solidFill>
                <a:effectLst/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使用场景：</a:t>
            </a:r>
            <a:endParaRPr b="1">
              <a:solidFill>
                <a:schemeClr val="tx1"/>
              </a:solidFill>
              <a:effectLst/>
              <a:latin typeface="Arial" panose="020B0604020202020204"/>
              <a:cs typeface="Arial" panose="020B0604020202020204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400" b="1">
                <a:solidFill>
                  <a:schemeClr val="tx1"/>
                </a:solidFill>
                <a:effectLst/>
                <a:ea typeface="+mn-lt"/>
                <a:cs typeface="+mn-lt"/>
              </a:rPr>
              <a:t>思路沟通与代码检查</a:t>
            </a:r>
            <a:r>
              <a:rPr lang="zh-CN" altLang="en-US" sz="1400">
                <a:ea typeface="+mn-lt"/>
                <a:cs typeface="+mn-lt"/>
              </a:rPr>
              <a:t>：围绕参赛队已经实现或准备实现的功能，讨论可能影响的模块、边界条件和风险点。</a:t>
            </a:r>
            <a:endParaRPr lang="en-US" sz="1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400" b="1">
                <a:ea typeface="+mn-lt"/>
                <a:cs typeface="+mn-lt"/>
              </a:rPr>
              <a:t>运行问题排查</a:t>
            </a:r>
            <a:r>
              <a:rPr lang="zh-CN" altLang="en-US" sz="1400">
                <a:ea typeface="+mn-lt"/>
                <a:cs typeface="+mn-lt"/>
              </a:rPr>
              <a:t>：当功能运行不正确、测试失败或出现</a:t>
            </a:r>
            <a:r>
              <a:rPr lang="en-US" altLang="zh-CN" sz="1400">
                <a:ea typeface="+mn-lt"/>
                <a:cs typeface="+mn-lt"/>
              </a:rPr>
              <a:t> panic/timeout </a:t>
            </a:r>
            <a:r>
              <a:rPr lang="zh-CN" altLang="en-US" sz="1400">
                <a:ea typeface="+mn-lt"/>
                <a:cs typeface="+mn-lt"/>
              </a:rPr>
              <a:t>时，辅助分析日志和报错信息。</a:t>
            </a:r>
            <a:endParaRPr lang="zh-CN" altLang="en-US" sz="1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400" b="1">
                <a:ea typeface="+mn-lt"/>
                <a:cs typeface="+mn-lt"/>
              </a:rPr>
              <a:t>自动化测试辅助</a:t>
            </a:r>
            <a:r>
              <a:rPr lang="zh-CN" altLang="en-US" sz="1400">
                <a:ea typeface="+mn-lt"/>
                <a:cs typeface="+mn-lt"/>
              </a:rPr>
              <a:t>：由于</a:t>
            </a:r>
            <a:r>
              <a:rPr lang="en-US" altLang="zh-CN" sz="1400">
                <a:ea typeface="+mn-lt"/>
                <a:cs typeface="+mn-lt"/>
              </a:rPr>
              <a:t> xfstests</a:t>
            </a:r>
            <a:r>
              <a:rPr lang="zh-CN" altLang="en-US" sz="1400">
                <a:ea typeface="+mn-lt"/>
                <a:cs typeface="+mn-lt"/>
              </a:rPr>
              <a:t>、</a:t>
            </a:r>
            <a:r>
              <a:rPr lang="en-US" altLang="zh-CN" sz="1400">
                <a:ea typeface="+mn-lt"/>
                <a:cs typeface="+mn-lt"/>
              </a:rPr>
              <a:t>fio </a:t>
            </a:r>
            <a:r>
              <a:rPr lang="zh-CN" altLang="en-US" sz="1400">
                <a:ea typeface="+mn-lt"/>
                <a:cs typeface="+mn-lt"/>
              </a:rPr>
              <a:t>等测试耗时较长，</a:t>
            </a:r>
            <a:r>
              <a:rPr lang="en-US" altLang="zh-CN" sz="1400">
                <a:ea typeface="+mn-lt"/>
                <a:cs typeface="+mn-lt"/>
              </a:rPr>
              <a:t>AI </a:t>
            </a:r>
            <a:r>
              <a:rPr lang="zh-CN" altLang="en-US" sz="1400">
                <a:ea typeface="+mn-lt"/>
                <a:cs typeface="+mn-lt"/>
              </a:rPr>
              <a:t>辅助编写测试脚本、整理运行命令，并按参赛队要求执行重复测试。</a:t>
            </a:r>
            <a:endParaRPr lang="zh-CN" altLang="en-US" sz="1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400" b="1">
                <a:ea typeface="+mn-lt"/>
                <a:cs typeface="+mn-lt"/>
              </a:rPr>
              <a:t>测试数据整理</a:t>
            </a:r>
            <a:r>
              <a:rPr lang="zh-CN" altLang="en-US" sz="1400">
                <a:ea typeface="+mn-lt"/>
                <a:cs typeface="+mn-lt"/>
              </a:rPr>
              <a:t>：将多轮</a:t>
            </a:r>
            <a:r>
              <a:rPr lang="en-US" altLang="zh-CN" sz="1400">
                <a:ea typeface="+mn-lt"/>
                <a:cs typeface="+mn-lt"/>
              </a:rPr>
              <a:t> benchmark</a:t>
            </a:r>
            <a:r>
              <a:rPr lang="zh-CN" altLang="en-US" sz="1400">
                <a:ea typeface="+mn-lt"/>
                <a:cs typeface="+mn-lt"/>
              </a:rPr>
              <a:t>、</a:t>
            </a:r>
            <a:r>
              <a:rPr lang="en-US" altLang="zh-CN" sz="1400">
                <a:ea typeface="+mn-lt"/>
                <a:cs typeface="+mn-lt"/>
              </a:rPr>
              <a:t>PASS/FAIL </a:t>
            </a:r>
            <a:r>
              <a:rPr lang="zh-CN" altLang="en-US" sz="1400">
                <a:ea typeface="+mn-lt"/>
                <a:cs typeface="+mn-lt"/>
              </a:rPr>
              <a:t>结果整理为表格，便于比较不同阶段的性能变化和正确性状态。</a:t>
            </a:r>
            <a:endParaRPr lang="zh-CN" altLang="en-US" sz="1400">
              <a:ea typeface="+mn-lt"/>
              <a:cs typeface="+mn-lt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/>
              <a:buChar char="n"/>
              <a:defRPr/>
            </a:pPr>
            <a:r>
              <a:rPr lang="zh-CN" altLang="en-US" sz="1400" b="1">
                <a:ea typeface="+mn-lt"/>
                <a:cs typeface="+mn-lt"/>
              </a:rPr>
              <a:t>阶段状态总结</a:t>
            </a:r>
            <a:r>
              <a:rPr lang="zh-CN" altLang="en-US" sz="1400">
                <a:ea typeface="+mn-lt"/>
                <a:cs typeface="+mn-lt"/>
              </a:rPr>
              <a:t>：根据当前代码状态，总结阶段完成情况、遗留问题和下一步计划，方便队内沟通</a:t>
            </a:r>
            <a:r>
              <a:rPr lang="zh-CN" altLang="en-US" sz="1400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。</a:t>
            </a:r>
            <a:endParaRPr lang="zh-CN" altLang="en-US" sz="1400">
              <a:latin typeface="Arial" panose="020B0604020202020204"/>
              <a:ea typeface="宋体" panose="02010600030101010101" pitchFamily="2" charset="-122"/>
              <a:cs typeface="Arial" panose="020B0604020202020204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0740" y="1984375"/>
            <a:ext cx="2234565" cy="19665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187595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295561420" name="文本框 7"/>
          <p:cNvSpPr txBox="1"/>
          <p:nvPr/>
        </p:nvSpPr>
        <p:spPr bwMode="auto">
          <a:xfrm>
            <a:off x="86359" y="1388370"/>
            <a:ext cx="233751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79111926" name="文本框 8"/>
          <p:cNvSpPr txBox="1"/>
          <p:nvPr/>
        </p:nvSpPr>
        <p:spPr bwMode="auto">
          <a:xfrm>
            <a:off x="86359" y="2325586"/>
            <a:ext cx="233751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32171867" name="文本框 9"/>
          <p:cNvSpPr txBox="1"/>
          <p:nvPr/>
        </p:nvSpPr>
        <p:spPr bwMode="auto">
          <a:xfrm>
            <a:off x="86359" y="3261532"/>
            <a:ext cx="233751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25848381" name="文本框 10"/>
          <p:cNvSpPr txBox="1"/>
          <p:nvPr/>
        </p:nvSpPr>
        <p:spPr bwMode="auto">
          <a:xfrm>
            <a:off x="86359" y="4198113"/>
            <a:ext cx="233751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692246456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2080962207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grpSp>
        <p:nvGrpSpPr>
          <p:cNvPr id="507191311" name="组合 19"/>
          <p:cNvGrpSpPr/>
          <p:nvPr/>
        </p:nvGrpSpPr>
        <p:grpSpPr bwMode="auto">
          <a:xfrm>
            <a:off x="0" y="4984083"/>
            <a:ext cx="2737505" cy="762000"/>
            <a:chOff x="0" y="772160"/>
            <a:chExt cx="2737505" cy="762000"/>
          </a:xfrm>
        </p:grpSpPr>
        <p:sp>
          <p:nvSpPr>
            <p:cNvPr id="3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36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363870018" name="文本框 29"/>
          <p:cNvSpPr txBox="1"/>
          <p:nvPr/>
        </p:nvSpPr>
        <p:spPr bwMode="auto">
          <a:xfrm>
            <a:off x="46049" y="5134696"/>
            <a:ext cx="233751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111528609" name="TextBox 37"/>
          <p:cNvSpPr txBox="1"/>
          <p:nvPr/>
        </p:nvSpPr>
        <p:spPr bwMode="auto">
          <a:xfrm>
            <a:off x="2743200" y="347471"/>
            <a:ext cx="878039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5.1 </a:t>
            </a:r>
            <a:r>
              <a:rPr lang="zh-CN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graphicFrame>
        <p:nvGraphicFramePr>
          <p:cNvPr id="1617892350" name="表格 3"/>
          <p:cNvGraphicFramePr>
            <a:graphicFrameLocks noGrp="1"/>
          </p:cNvGraphicFramePr>
          <p:nvPr/>
        </p:nvGraphicFramePr>
        <p:xfrm>
          <a:off x="2737485" y="1297305"/>
          <a:ext cx="9083040" cy="42373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0850"/>
                <a:gridCol w="2533650"/>
                <a:gridCol w="4828540"/>
              </a:tblGrid>
              <a:tr h="50673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zh-CN" sz="20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</a:t>
                      </a:r>
                      <a:endParaRPr sz="20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zh-CN" sz="20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完成情况</a:t>
                      </a:r>
                      <a:endParaRPr sz="20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zh-CN" sz="20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说明</a:t>
                      </a:r>
                      <a:endParaRPr sz="20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</a:tr>
              <a:tr h="86360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：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EXT4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文件系统功能完成度</a:t>
                      </a:r>
                      <a:endParaRPr sz="1600" b="1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defRPr/>
                      </a:pP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       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  <a:p>
                      <a:pPr algn="l">
                        <a:lnSpc>
                          <a:spcPct val="100000"/>
                        </a:lnSpc>
                        <a:defRPr/>
                      </a:pP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     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基本完成（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85%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）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POSIX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核心接口、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Extent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JBD2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fsync/fdatasync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PageCache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、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mmap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和并发读写均已实现并测试。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94996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2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：崩溃恢复一致性</a:t>
                      </a:r>
                      <a:endParaRPr sz="1600" b="1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基本完成（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90%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）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已完成多场景验证。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</a:tr>
              <a:tr h="1024255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目标3：与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Linux EXT4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的性能对比</a:t>
                      </a:r>
                      <a:endParaRPr sz="1600" b="1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  <a:p>
                      <a:pPr marL="0" marR="0" lvl="0" indent="0" algn="ctr" defTabSz="914400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基本完成（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85%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）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fio O_DIRECT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读写达到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Linux EXT4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的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90%</a:t>
                      </a:r>
                      <a:r>
                        <a:rPr lang="zh-CN" sz="1600">
                          <a:latin typeface="Arial" panose="020B0604020202020204"/>
                          <a:ea typeface="宋体" panose="02010600030101010101" pitchFamily="2" charset="-122"/>
                          <a:cs typeface="Arial" panose="020B0604020202020204"/>
                        </a:rPr>
                        <a:t>以上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；并发同文件写在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nj=2/4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时达到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Linux 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的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165%/187%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。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892810"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目标</a:t>
                      </a:r>
                      <a:r>
                        <a:rPr lang="en-US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4</a:t>
                      </a:r>
                      <a:r>
                        <a:rPr lang="zh-CN" sz="1600" b="1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：创新性优化</a:t>
                      </a:r>
                      <a:endParaRPr sz="1600" b="1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初步完成（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50</a:t>
                      </a:r>
                      <a:r>
                        <a:rPr lang="en-US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%</a:t>
                      </a:r>
                      <a:r>
                        <a:rPr lang="zh-CN" sz="160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）</a:t>
                      </a:r>
                      <a:endParaRPr sz="160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lnSpc>
                          <a:spcPct val="100000"/>
                        </a:lnSpc>
                        <a:defRPr/>
                      </a:pPr>
                      <a:r>
                        <a:rPr lang="zh-CN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围绕</a:t>
                      </a:r>
                      <a:r>
                        <a:rPr lang="en-US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 Rust </a:t>
                      </a:r>
                      <a:r>
                        <a:rPr lang="zh-CN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语言特性、</a:t>
                      </a:r>
                      <a:r>
                        <a:rPr lang="en-US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Asterinas </a:t>
                      </a:r>
                      <a:r>
                        <a:rPr lang="zh-CN" sz="1600" b="0">
                          <a:latin typeface="Arial" panose="020B0604020202020204"/>
                          <a:ea typeface="Arial" panose="020B0604020202020204"/>
                          <a:cs typeface="Arial" panose="020B0604020202020204"/>
                        </a:rPr>
                        <a:t>平台边界以及实际测试中暴露的性能瓶颈开展优化。</a:t>
                      </a:r>
                      <a:endParaRPr sz="1600" b="0">
                        <a:latin typeface="Arial" panose="020B0604020202020204"/>
                        <a:cs typeface="Arial" panose="020B0604020202020204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50987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185693537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86379121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334316267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837234001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786638455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1342631083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grpSp>
        <p:nvGrpSpPr>
          <p:cNvPr id="1157652546" name="组合 19"/>
          <p:cNvGrpSpPr/>
          <p:nvPr/>
        </p:nvGrpSpPr>
        <p:grpSpPr bwMode="auto">
          <a:xfrm>
            <a:off x="0" y="4984083"/>
            <a:ext cx="2737505" cy="762000"/>
            <a:chOff x="0" y="772160"/>
            <a:chExt cx="2737505" cy="762000"/>
          </a:xfrm>
        </p:grpSpPr>
        <p:sp>
          <p:nvSpPr>
            <p:cNvPr id="3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36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173196294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48747734" name="TextBox 37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5.1 </a:t>
            </a:r>
            <a:r>
              <a:rPr lang="zh-CN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项目总结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901329429" name="文本框 2"/>
          <p:cNvSpPr txBox="1"/>
          <p:nvPr/>
        </p:nvSpPr>
        <p:spPr bwMode="auto">
          <a:xfrm>
            <a:off x="2863850" y="1124585"/>
            <a:ext cx="4064000" cy="52514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主体功能完整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实现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POSIX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核心接口、目录操作、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Extent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连续块管理、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inode/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块分配与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Asterinas VFS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集成，完成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EXT4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主体功能。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强一致性保障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实现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JBD2 transaction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handle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commit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checkpoint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与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recovery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，支持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ordered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模式下的数据写回与日志提交顺序。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缓存与</a:t>
            </a:r>
            <a:r>
              <a:rPr lang="en-US" b="1">
                <a:latin typeface="Arial" panose="020B0604020202020204"/>
                <a:ea typeface="Arial" panose="020B0604020202020204"/>
                <a:cs typeface="Arial" panose="020B0604020202020204"/>
              </a:rPr>
              <a:t> I/O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协同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接入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PageCache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mmap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fsync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与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O_DIRECT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路径，统一处理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buffered I/O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、直接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I/O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和持久化语义。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5894082" name="文本框 4"/>
          <p:cNvSpPr txBox="1"/>
          <p:nvPr/>
        </p:nvSpPr>
        <p:spPr bwMode="auto">
          <a:xfrm>
            <a:off x="7451724" y="1388109"/>
            <a:ext cx="4481554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系统化测试验证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通过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xfstests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Crash Matrix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fio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SQLite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和并发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hash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校验，覆盖功能、崩溃恢复、并发和性能。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性能持续优化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实现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DeviceBlockCache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WrittenCoverage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Extent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映射缓存、批量写回和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O_DIRECT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共享锁优化，在保证正确性的前提下提升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fio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SQLite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与并发负载表现。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pic>
        <p:nvPicPr>
          <p:cNvPr id="274648147" name="图片 18" descr="post_object_image_235499035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 bwMode="auto">
          <a:xfrm>
            <a:off x="7054215" y="4869180"/>
            <a:ext cx="4928870" cy="10744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436487" name="矩形 11"/>
          <p:cNvSpPr/>
          <p:nvPr/>
        </p:nvSpPr>
        <p:spPr bwMode="auto">
          <a:xfrm>
            <a:off x="0" y="0"/>
            <a:ext cx="2509520" cy="6858000"/>
          </a:xfrm>
          <a:prstGeom prst="rect">
            <a:avLst/>
          </a:prstGeom>
          <a:solidFill>
            <a:srgbClr val="1D50A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  <p:sp>
        <p:nvSpPr>
          <p:cNvPr id="1346688395" name="文本框 7"/>
          <p:cNvSpPr txBox="1"/>
          <p:nvPr/>
        </p:nvSpPr>
        <p:spPr bwMode="auto">
          <a:xfrm>
            <a:off x="86359" y="1388370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879648731" name="文本框 8"/>
          <p:cNvSpPr txBox="1"/>
          <p:nvPr/>
        </p:nvSpPr>
        <p:spPr bwMode="auto">
          <a:xfrm>
            <a:off x="86359" y="232558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项目目标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247272926" name="文本框 9"/>
          <p:cNvSpPr txBox="1"/>
          <p:nvPr/>
        </p:nvSpPr>
        <p:spPr bwMode="auto">
          <a:xfrm>
            <a:off x="86359" y="3261532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设计实现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414680452" name="文本框 10"/>
          <p:cNvSpPr txBox="1"/>
          <p:nvPr/>
        </p:nvSpPr>
        <p:spPr bwMode="auto">
          <a:xfrm>
            <a:off x="86359" y="4198113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测试评估</a:t>
            </a:r>
            <a:endParaRPr sz="2400" b="1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pic>
        <p:nvPicPr>
          <p:cNvPr id="836505119" name="图形 22" descr="文凭卷筒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797560" y="5943600"/>
            <a:ext cx="914400" cy="914400"/>
          </a:xfrm>
          <a:prstGeom prst="rect">
            <a:avLst/>
          </a:prstGeom>
        </p:spPr>
      </p:pic>
      <p:pic>
        <p:nvPicPr>
          <p:cNvPr id="2016999444" name="图片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 bwMode="auto">
          <a:xfrm>
            <a:off x="126668" y="311328"/>
            <a:ext cx="2256183" cy="414149"/>
          </a:xfrm>
          <a:prstGeom prst="rect">
            <a:avLst/>
          </a:prstGeom>
        </p:spPr>
      </p:pic>
      <p:grpSp>
        <p:nvGrpSpPr>
          <p:cNvPr id="430329363" name="组合 19"/>
          <p:cNvGrpSpPr/>
          <p:nvPr/>
        </p:nvGrpSpPr>
        <p:grpSpPr bwMode="auto">
          <a:xfrm>
            <a:off x="0" y="4984083"/>
            <a:ext cx="2737505" cy="762000"/>
            <a:chOff x="0" y="772160"/>
            <a:chExt cx="2737505" cy="762000"/>
          </a:xfrm>
        </p:grpSpPr>
        <p:sp>
          <p:nvSpPr>
            <p:cNvPr id="35" name="矩形 14"/>
            <p:cNvSpPr/>
            <p:nvPr/>
          </p:nvSpPr>
          <p:spPr bwMode="auto">
            <a:xfrm>
              <a:off x="0" y="772160"/>
              <a:ext cx="2509520" cy="76200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  <p:sp>
          <p:nvSpPr>
            <p:cNvPr id="36" name="等腰三角形 16"/>
            <p:cNvSpPr/>
            <p:nvPr/>
          </p:nvSpPr>
          <p:spPr bwMode="auto">
            <a:xfrm rot="5400000">
              <a:off x="2491281" y="1039167"/>
              <a:ext cx="264463" cy="227985"/>
            </a:xfrm>
            <a:prstGeom prst="triangle">
              <a:avLst>
                <a:gd name="adj" fmla="val 5000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>
                <a:latin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665297588" name="文本框 29"/>
          <p:cNvSpPr txBox="1"/>
          <p:nvPr/>
        </p:nvSpPr>
        <p:spPr bwMode="auto">
          <a:xfrm>
            <a:off x="46049" y="5134696"/>
            <a:ext cx="2337159" cy="4575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zh-CN" sz="2400" b="1">
                <a:solidFill>
                  <a:schemeClr val="bg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总结展望</a:t>
            </a:r>
            <a:endParaRPr sz="2400">
              <a:solidFill>
                <a:schemeClr val="bg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670589479" name="TextBox 37"/>
          <p:cNvSpPr txBox="1"/>
          <p:nvPr/>
        </p:nvSpPr>
        <p:spPr bwMode="auto">
          <a:xfrm>
            <a:off x="2743200" y="347471"/>
            <a:ext cx="8779319" cy="56515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5.</a:t>
            </a:r>
            <a:r>
              <a:rPr lang="en-US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r>
              <a:rPr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 sz="2800" b="1">
                <a:solidFill>
                  <a:schemeClr val="tx1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项目展望</a:t>
            </a:r>
            <a:endParaRPr sz="2800" b="1">
              <a:solidFill>
                <a:schemeClr val="tx1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85670462" name="文本框 1"/>
          <p:cNvSpPr txBox="1"/>
          <p:nvPr/>
        </p:nvSpPr>
        <p:spPr bwMode="auto">
          <a:xfrm>
            <a:off x="2737485" y="1071244"/>
            <a:ext cx="8294094" cy="4246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继续完成工作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对初赛阶段尚未完成的功能与待解决问题，在决赛阶段持续完善。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——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补齐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JBD2 revoke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写盘路径，完善元数据块释放、复用和崩溃恢复场景。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——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完善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ENOSPC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中途失败处理，加入回滚、只读降级和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e2fsck </a:t>
            </a: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控制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——</a:t>
            </a: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通过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official xfstests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全量测试，补充测试所需的环境和能力。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完善已有工作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对当前已经完成的主体功能、日志恢复和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I/O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路径进一步优化。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■ </a:t>
            </a:r>
            <a:r>
              <a:rPr lang="zh-CN" b="1">
                <a:latin typeface="Arial" panose="020B0604020202020204"/>
                <a:ea typeface="Arial" panose="020B0604020202020204"/>
                <a:cs typeface="Arial" panose="020B0604020202020204"/>
              </a:rPr>
              <a:t>思考新的优化方向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：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在保证正确性的前提下，探索更接近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Linux EXT4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的性能路径。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——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研究安全前提下的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writeback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、脏页节流、空间预留和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delalloc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——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针对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SQLite</a:t>
            </a: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、</a:t>
            </a:r>
            <a:r>
              <a:rPr lang="en-US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fio</a:t>
            </a:r>
            <a:r>
              <a:rPr lang="zh-CN">
                <a:latin typeface="Arial" panose="020B0604020202020204"/>
                <a:ea typeface="宋体" panose="02010600030101010101" pitchFamily="2" charset="-122"/>
                <a:cs typeface="Arial" panose="020B0604020202020204"/>
              </a:rPr>
              <a:t>等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场景继续做性能归因。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——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探索适合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Asterinas framekernel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架构的缓存、空间分配和异步</a:t>
            </a: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 I/O </a:t>
            </a:r>
            <a:r>
              <a:rPr lang="zh-CN">
                <a:latin typeface="Arial" panose="020B0604020202020204"/>
                <a:ea typeface="Arial" panose="020B0604020202020204"/>
                <a:cs typeface="Arial" panose="020B0604020202020204"/>
              </a:rPr>
              <a:t>优化方法。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r>
              <a:rPr lang="en-US">
                <a:latin typeface="Arial" panose="020B0604020202020204"/>
                <a:ea typeface="Arial" panose="020B0604020202020204"/>
                <a:cs typeface="Arial" panose="020B0604020202020204"/>
              </a:rPr>
              <a:t>……</a:t>
            </a:r>
            <a:endParaRPr>
              <a:latin typeface="Arial" panose="020B0604020202020204"/>
              <a:cs typeface="Arial" panose="020B0604020202020204"/>
            </a:endParaRPr>
          </a:p>
          <a:p>
            <a:pPr>
              <a:defRPr/>
            </a:pPr>
            <a:endParaRPr>
              <a:latin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52649345" name="图片 6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152399" y="163511"/>
            <a:ext cx="3922388" cy="720000"/>
          </a:xfrm>
          <a:prstGeom prst="rect">
            <a:avLst/>
          </a:prstGeom>
        </p:spPr>
      </p:pic>
      <p:grpSp>
        <p:nvGrpSpPr>
          <p:cNvPr id="161754565" name="组合 30"/>
          <p:cNvGrpSpPr/>
          <p:nvPr/>
        </p:nvGrpSpPr>
        <p:grpSpPr bwMode="auto">
          <a:xfrm>
            <a:off x="2151350" y="1337698"/>
            <a:ext cx="7889293" cy="473519"/>
            <a:chOff x="2151350" y="1337698"/>
            <a:chExt cx="7889293" cy="473519"/>
          </a:xfrm>
        </p:grpSpPr>
        <p:sp>
          <p:nvSpPr>
            <p:cNvPr id="20" name="文本框 19"/>
            <p:cNvSpPr txBox="1"/>
            <p:nvPr/>
          </p:nvSpPr>
          <p:spPr bwMode="auto">
            <a:xfrm>
              <a:off x="2151350" y="1337698"/>
              <a:ext cx="7889293" cy="3683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rPr>
                <a:t>2024</a:t>
              </a:r>
              <a:r>
                <a:rPr lang="zh-CN" b="1">
                  <a:solidFill>
                    <a:srgbClr val="FFFFFF"/>
                  </a:solidFill>
                  <a:latin typeface="微软雅黑" panose="020B0503020204020204" charset="-122"/>
                  <a:ea typeface="微软雅黑" panose="020B0503020204020204" charset="-122"/>
                </a:rPr>
                <a:t>年全国大学生计算机系统能力大赛操作系统设计</a:t>
              </a:r>
              <a:endParaRPr lang="zh-CN" b="1">
                <a:latin typeface="微软雅黑" panose="020B0503020204020204" charset="-122"/>
                <a:ea typeface="微软雅黑" panose="020B0503020204020204" charset="-122"/>
                <a:cs typeface="Times New Roman" panose="02020603050405020304"/>
              </a:endParaRPr>
            </a:p>
          </p:txBody>
        </p:sp>
        <p:cxnSp>
          <p:nvCxnSpPr>
            <p:cNvPr id="23" name="直接连接符 22"/>
            <p:cNvCxnSpPr/>
            <p:nvPr/>
          </p:nvCxnSpPr>
          <p:spPr bwMode="auto">
            <a:xfrm>
              <a:off x="3290563" y="1811217"/>
              <a:ext cx="5610875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6812658" name="TextBox 31"/>
          <p:cNvSpPr txBox="1"/>
          <p:nvPr/>
        </p:nvSpPr>
        <p:spPr bwMode="auto">
          <a:xfrm>
            <a:off x="914400" y="2148840"/>
            <a:ext cx="4572000" cy="6400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4200" b="1">
                <a:solidFill>
                  <a:srgbClr val="183F79"/>
                </a:solidFill>
                <a:latin typeface="微软雅黑" panose="020B0503020204020204" charset="-122"/>
              </a:rPr>
              <a:t>Thanks</a:t>
            </a:r>
            <a:endParaRPr sz="4200" b="1">
              <a:solidFill>
                <a:srgbClr val="183F79"/>
              </a:solidFill>
              <a:latin typeface="微软雅黑" panose="020B0503020204020204" charset="-122"/>
            </a:endParaRPr>
          </a:p>
        </p:txBody>
      </p:sp>
      <p:sp>
        <p:nvSpPr>
          <p:cNvPr id="1477303860" name="TextBox 32"/>
          <p:cNvSpPr txBox="1"/>
          <p:nvPr/>
        </p:nvSpPr>
        <p:spPr bwMode="auto">
          <a:xfrm>
            <a:off x="960120" y="2907792"/>
            <a:ext cx="5669280" cy="4114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l">
              <a:lnSpc>
                <a:spcPct val="110000"/>
              </a:lnSpc>
              <a:defRPr/>
            </a:pPr>
            <a:r>
              <a:rPr sz="2000" b="0">
                <a:solidFill>
                  <a:srgbClr val="183F79"/>
                </a:solidFill>
                <a:latin typeface="微软雅黑" panose="020B0503020204020204" charset="-122"/>
              </a:rPr>
              <a:t>Asterinas EXT4 文件系统设计与实现</a:t>
            </a:r>
            <a:endParaRPr sz="2000" b="0">
              <a:solidFill>
                <a:srgbClr val="183F79"/>
              </a:solidFill>
              <a:latin typeface="微软雅黑" panose="020B0503020204020204" charset="-122"/>
            </a:endParaRPr>
          </a:p>
        </p:txBody>
      </p:sp>
      <p:sp>
        <p:nvSpPr>
          <p:cNvPr id="379409400" name="TextBox 33"/>
          <p:cNvSpPr txBox="1"/>
          <p:nvPr/>
        </p:nvSpPr>
        <p:spPr bwMode="auto">
          <a:xfrm>
            <a:off x="1894839" y="4594860"/>
            <a:ext cx="7684494" cy="17377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zh-CN" sz="2400" b="1">
                <a:latin typeface="Arial" panose="020B0604020202020204"/>
                <a:ea typeface="Arial" panose="020B0604020202020204"/>
                <a:cs typeface="Arial" panose="020B0604020202020204"/>
              </a:rPr>
              <a:t>队伍名称：日志写了吗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marL="457200" lvl="1" indent="457200" algn="ctr">
              <a:lnSpc>
                <a:spcPct val="150000"/>
              </a:lnSpc>
              <a:defRPr/>
            </a:pPr>
            <a:r>
              <a:rPr lang="en-US" sz="2400" b="1">
                <a:latin typeface="Arial" panose="020B0604020202020204"/>
                <a:ea typeface="Arial" panose="020B0604020202020204"/>
                <a:cs typeface="Arial" panose="020B0604020202020204"/>
              </a:rPr>
              <a:t>        </a:t>
            </a:r>
            <a:r>
              <a:rPr lang="zh-CN" sz="2400" b="1">
                <a:latin typeface="Arial" panose="020B0604020202020204"/>
                <a:ea typeface="Arial" panose="020B0604020202020204"/>
                <a:cs typeface="Arial" panose="020B0604020202020204"/>
              </a:rPr>
              <a:t>队伍成员：俞杰、梁丙煜、王毅航</a:t>
            </a:r>
            <a:endParaRPr sz="2400">
              <a:latin typeface="Arial" panose="020B0604020202020204"/>
              <a:cs typeface="Arial" panose="020B0604020202020204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sz="2400" b="1">
                <a:latin typeface="Arial" panose="020B0604020202020204"/>
                <a:ea typeface="Arial" panose="020B0604020202020204"/>
                <a:cs typeface="Arial" panose="020B0604020202020204"/>
              </a:rPr>
              <a:t>    </a:t>
            </a:r>
            <a:r>
              <a:rPr lang="zh-CN" sz="2400" b="1">
                <a:latin typeface="Arial" panose="020B0604020202020204"/>
                <a:ea typeface="Arial" panose="020B0604020202020204"/>
                <a:cs typeface="Arial" panose="020B0604020202020204"/>
              </a:rPr>
              <a:t>校内导师：夏文、李诗逸</a:t>
            </a:r>
            <a:endParaRPr sz="2400" b="1">
              <a:solidFill>
                <a:srgbClr val="545C69"/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7506866" name="矩形 7"/>
          <p:cNvSpPr/>
          <p:nvPr/>
        </p:nvSpPr>
        <p:spPr bwMode="auto">
          <a:xfrm>
            <a:off x="-5" y="0"/>
            <a:ext cx="12192000" cy="4411744"/>
          </a:xfrm>
          <a:prstGeom prst="rect">
            <a:avLst/>
          </a:prstGeom>
          <a:gradFill>
            <a:gsLst>
              <a:gs pos="0">
                <a:srgbClr val="215CC1"/>
              </a:gs>
              <a:gs pos="100000">
                <a:srgbClr val="215CC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>
              <a:latin typeface="微软雅黑" panose="020B0503020204020204" charset="-122"/>
              <a:ea typeface="微软雅黑" panose="020B0503020204020204" charset="-122"/>
              <a:cs typeface="Times New Roman" panose="02020603050405020304"/>
            </a:endParaRPr>
          </a:p>
        </p:txBody>
      </p:sp>
      <p:pic>
        <p:nvPicPr>
          <p:cNvPr id="296191161" name="图片 1"/>
          <p:cNvPicPr>
            <a:picLocks noChangeAspect="1"/>
          </p:cNvPicPr>
          <p:nvPr/>
        </p:nvPicPr>
        <p:blipFill rotWithShape="1">
          <a:blip r:embed="rId1"/>
          <a:stretch>
            <a:fillRect/>
          </a:stretch>
        </p:blipFill>
        <p:spPr bwMode="auto">
          <a:xfrm>
            <a:off x="279399" y="290511"/>
            <a:ext cx="3922388" cy="720000"/>
          </a:xfrm>
          <a:prstGeom prst="rect">
            <a:avLst/>
          </a:prstGeom>
        </p:spPr>
      </p:pic>
      <p:grpSp>
        <p:nvGrpSpPr>
          <p:cNvPr id="1520355000" name="组合 3"/>
          <p:cNvGrpSpPr/>
          <p:nvPr/>
        </p:nvGrpSpPr>
        <p:grpSpPr bwMode="auto">
          <a:xfrm>
            <a:off x="2151350" y="1342143"/>
            <a:ext cx="7889293" cy="473519"/>
            <a:chOff x="2151350" y="1337698"/>
            <a:chExt cx="7889293" cy="473519"/>
          </a:xfrm>
        </p:grpSpPr>
        <p:sp>
          <p:nvSpPr>
            <p:cNvPr id="5" name="文本框 4"/>
            <p:cNvSpPr txBox="1"/>
            <p:nvPr/>
          </p:nvSpPr>
          <p:spPr bwMode="auto">
            <a:xfrm>
              <a:off x="2151350" y="1337698"/>
              <a:ext cx="7889293" cy="3683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US" b="1">
                  <a:solidFill>
                    <a:srgbClr val="FFFFFF"/>
                  </a:solidFill>
                  <a:latin typeface="Helvetica Neue"/>
                </a:rPr>
                <a:t>2026</a:t>
              </a:r>
              <a:r>
                <a:rPr lang="zh-CN" b="1">
                  <a:solidFill>
                    <a:srgbClr val="FFFFFF"/>
                  </a:solidFill>
                  <a:latin typeface="Helvetica Neue"/>
                </a:rPr>
                <a:t>年全国大学生计算机系统能力大赛操作系统设计</a:t>
              </a:r>
              <a:endParaRPr lang="zh-CN" b="1">
                <a:latin typeface="Times New Roman" panose="02020603050405020304"/>
                <a:cs typeface="Times New Roman" panose="02020603050405020304"/>
              </a:endParaRPr>
            </a:p>
          </p:txBody>
        </p:sp>
        <p:cxnSp>
          <p:nvCxnSpPr>
            <p:cNvPr id="6" name="直接连接符 5"/>
            <p:cNvCxnSpPr/>
            <p:nvPr/>
          </p:nvCxnSpPr>
          <p:spPr bwMode="auto">
            <a:xfrm>
              <a:off x="3290563" y="1811217"/>
              <a:ext cx="5610875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9606925" name="文本框 10"/>
          <p:cNvSpPr txBox="1"/>
          <p:nvPr/>
        </p:nvSpPr>
        <p:spPr bwMode="auto">
          <a:xfrm>
            <a:off x="999720" y="2033677"/>
            <a:ext cx="10195089" cy="8299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4800" b="1">
                <a:solidFill>
                  <a:schemeClr val="bg1"/>
                </a:solidFill>
                <a:latin typeface="Times New Roman" panose="02020603050405020304"/>
                <a:cs typeface="Times New Roman" panose="02020603050405020304"/>
              </a:rPr>
              <a:t>Thanks</a:t>
            </a:r>
            <a:endParaRPr lang="en-US" sz="4800" b="1">
              <a:solidFill>
                <a:schemeClr val="bg1"/>
              </a:solidFill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1813408388" name="文本框 9"/>
          <p:cNvSpPr txBox="1"/>
          <p:nvPr/>
        </p:nvSpPr>
        <p:spPr bwMode="auto">
          <a:xfrm>
            <a:off x="3683635" y="2907665"/>
            <a:ext cx="530034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1">
                <a:solidFill>
                  <a:schemeClr val="bg1"/>
                </a:solidFill>
                <a:latin typeface="Times New Roman" panose="02020603050405020304"/>
                <a:cs typeface="Times New Roman" panose="02020603050405020304"/>
              </a:rPr>
              <a:t>Proj8-</a:t>
            </a:r>
            <a:r>
              <a:rPr lang="en-US" sz="2400">
                <a:solidFill>
                  <a:schemeClr val="bg1"/>
                </a:solidFill>
                <a:latin typeface="Times New Roman" panose="02020603050405020304"/>
                <a:cs typeface="Times New Roman" panose="02020603050405020304"/>
              </a:rPr>
              <a:t>Research on High-Performance and Strong-Consistency File System for RustOS</a:t>
            </a:r>
            <a:endParaRPr lang="en-US" sz="2400">
              <a:solidFill>
                <a:schemeClr val="bg1"/>
              </a:solidFill>
              <a:latin typeface="Times New Roman" panose="02020603050405020304"/>
              <a:cs typeface="Times New Roman" panose="02020603050405020304"/>
            </a:endParaRPr>
          </a:p>
          <a:p>
            <a:pPr>
              <a:defRPr/>
            </a:pPr>
            <a:endParaRPr lang="zh-CN" sz="240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>
        <p159:morph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Arial"/>
        <a:cs typeface="Arial"/>
      </a:majorFont>
      <a:minorFont>
        <a:latin typeface="等线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8622</Words>
  <Application>WPS 演示</Application>
  <PresentationFormat>On-screen Show (4:3)</PresentationFormat>
  <Paragraphs>875</Paragraphs>
  <Slides>28</Slides>
  <Notes>27</Notes>
  <HiddenSlides>0</HiddenSlides>
  <MMClips>2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44" baseType="lpstr">
      <vt:lpstr>Arial</vt:lpstr>
      <vt:lpstr>宋体</vt:lpstr>
      <vt:lpstr>Wingdings</vt:lpstr>
      <vt:lpstr>Arial</vt:lpstr>
      <vt:lpstr>Times New Roman</vt:lpstr>
      <vt:lpstr>微软雅黑</vt:lpstr>
      <vt:lpstr>等线</vt:lpstr>
      <vt:lpstr>Arial Unicode MS</vt:lpstr>
      <vt:lpstr>等线 Light</vt:lpstr>
      <vt:lpstr>Wingdings</vt:lpstr>
      <vt:lpstr>Helvetica Neue</vt:lpstr>
      <vt:lpstr>Calibri</vt:lpstr>
      <vt:lpstr>Helvetica Neue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Wade Wilson</dc:creator>
  <cp:lastModifiedBy>俞杰</cp:lastModifiedBy>
  <cp:revision>76</cp:revision>
  <dcterms:created xsi:type="dcterms:W3CDTF">2026-06-23T15:20:00Z</dcterms:created>
  <dcterms:modified xsi:type="dcterms:W3CDTF">2026-06-27T16:52:48Z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4B21ECCC776B4CCE8D8722BBF71E9A00_13</vt:lpwstr>
  </property>
  <property fmtid="{D5CDD505-2E9C-101B-9397-08002B2CF9AE}" pid="3" name="KSOProductBuildVer">
    <vt:lpwstr>2052-12.1.0.24031</vt:lpwstr>
  </property>
</Properties>
</file>