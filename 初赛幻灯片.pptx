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3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2" userDrawn="1">
          <p15:clr>
            <a:srgbClr val="A4A3A4"/>
          </p15:clr>
        </p15:guide>
        <p15:guide id="2" orient="horz" pos="21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22" y="101"/>
      </p:cViewPr>
      <p:guideLst>
        <p:guide pos="3832"/>
        <p:guide orient="horz" pos="219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83276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35978061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B8A4295-B070-46F3-B15F-D4E196C5EB95}" type="datetimeFigureOut">
              <a:rPr lang="en-US"/>
            </a:fld>
            <a:endParaRPr lang="zh-CN"/>
          </a:p>
        </p:txBody>
      </p:sp>
      <p:sp>
        <p:nvSpPr>
          <p:cNvPr id="226982451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254395817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827000167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1575371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02DFC15-3355-469B-85D3-7BD4F7D9FC5B}" type="slidenum">
              <a:rPr lang="en-US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544370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5971034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0719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91203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936887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63B67-02AD-1C20-89C3-8F2A32FB6F5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96997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78936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03419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4990437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14330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734328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884798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6354457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67485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589897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11102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013321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21247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575154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882687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502076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30040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190796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00350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1037335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2755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971660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29882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2561641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089050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079716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07327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405656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98595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94805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21BE5B-7573-B8A3-DF06-C922D58B791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A9A73F-99B9-8204-5996-A581EDE297C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2776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957487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55201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243028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743228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7336053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1236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261674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1236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261674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24851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600100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41046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1631886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19468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020527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337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441252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53794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836518979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704199438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B34F21-4D77-43D5-81A5-2C827B8679A7}" type="datetime1">
              <a:rPr lang="en-US"/>
            </a:fld>
            <a:endParaRPr lang="zh-CN"/>
          </a:p>
        </p:txBody>
      </p:sp>
      <p:sp>
        <p:nvSpPr>
          <p:cNvPr id="190521641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54656750" name="文本框 5"/>
          <p:cNvSpPr txBox="1"/>
          <p:nvPr userDrawn="1"/>
        </p:nvSpPr>
        <p:spPr bwMode="auto">
          <a:xfrm>
            <a:off x="11475720" y="65868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330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751362690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69756608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8FC3F3-897E-44E4-9BD4-3E6A1CD90B4B}" type="datetime1">
              <a:rPr lang="en-US"/>
            </a:fld>
            <a:endParaRPr lang="zh-CN"/>
          </a:p>
        </p:txBody>
      </p:sp>
      <p:sp>
        <p:nvSpPr>
          <p:cNvPr id="149213345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带导航页面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11530" name="矩形 6"/>
          <p:cNvSpPr/>
          <p:nvPr userDrawn="1"/>
        </p:nvSpPr>
        <p:spPr bwMode="auto">
          <a:xfrm>
            <a:off x="0" y="0"/>
            <a:ext cx="3220720" cy="6858000"/>
          </a:xfrm>
          <a:prstGeom prst="rect">
            <a:avLst/>
          </a:prstGeom>
          <a:gradFill>
            <a:gsLst>
              <a:gs pos="0">
                <a:srgbClr val="D1E6F3"/>
              </a:gs>
              <a:gs pos="100000">
                <a:srgbClr val="DEF0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09960447" name="内容占位符 14"/>
          <p:cNvSpPr>
            <a:spLocks noGrp="1"/>
          </p:cNvSpPr>
          <p:nvPr>
            <p:ph sz="quarter" idx="10"/>
          </p:nvPr>
        </p:nvSpPr>
        <p:spPr bwMode="auto">
          <a:xfrm>
            <a:off x="295274" y="528638"/>
            <a:ext cx="2214563" cy="5830887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385058371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5449E5-BCFC-43B8-9298-C792E301F5DA}" type="slidenum">
              <a:rPr lang="en-US"/>
            </a:fld>
            <a:r>
              <a:rPr lang="en-US"/>
              <a:t>/114</a:t>
            </a:r>
            <a:endParaRPr lang="zh-CN"/>
          </a:p>
        </p:txBody>
      </p:sp>
      <p:sp>
        <p:nvSpPr>
          <p:cNvPr id="1493502274" name="文本框 2"/>
          <p:cNvSpPr txBox="1"/>
          <p:nvPr userDrawn="1"/>
        </p:nvSpPr>
        <p:spPr bwMode="auto">
          <a:xfrm>
            <a:off x="11586210" y="6588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367505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31309441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24431443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/>
          <a:lstStyle/>
          <a:p>
            <a:pPr>
              <a:defRPr/>
            </a:pPr>
            <a:fld id="{49AE70B2-8BF9-45C0-BB95-33D1B9D3A85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208920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756133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14780165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2328E2-7D99-4FDE-B9B2-57203E0F95C5}" type="datetime1">
              <a:rPr lang="en-US"/>
            </a:fld>
            <a:endParaRPr lang="zh-CN"/>
          </a:p>
        </p:txBody>
      </p:sp>
      <p:sp>
        <p:nvSpPr>
          <p:cNvPr id="90669716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94034755" name="平行四边形 6"/>
          <p:cNvSpPr/>
          <p:nvPr userDrawn="1"/>
        </p:nvSpPr>
        <p:spPr bwMode="auto">
          <a:xfrm>
            <a:off x="11185864" y="6489577"/>
            <a:ext cx="926237" cy="231898"/>
          </a:xfrm>
          <a:prstGeom prst="parallelogram">
            <a:avLst>
              <a:gd name="adj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sz="1200"/>
              <a:t>  </a:t>
            </a:r>
            <a:fld id="{495449E5-BCFC-43B8-9298-C792E301F5DA}" type="slidenum">
              <a:rPr lang="en-US" sz="1200"/>
            </a:fld>
            <a:r>
              <a:rPr lang="en-US" sz="1200"/>
              <a:t> /28</a:t>
            </a:r>
            <a:endParaRPr 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7596407" name="图形 17" descr="功能区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10991296" y="381594"/>
            <a:ext cx="914400" cy="914400"/>
          </a:xfrm>
          <a:prstGeom prst="rect">
            <a:avLst/>
          </a:prstGeom>
        </p:spPr>
      </p:pic>
      <p:pic>
        <p:nvPicPr>
          <p:cNvPr id="751478523" name="图片 18"/>
          <p:cNvPicPr>
            <a:picLocks noChangeAspect="1"/>
          </p:cNvPicPr>
          <p:nvPr/>
        </p:nvPicPr>
        <p:blipFill rotWithShape="1">
          <a:blip r:embed="rId3"/>
          <a:srcRect t="29956" r="-277"/>
          <a:stretch>
            <a:fillRect/>
          </a:stretch>
        </p:blipFill>
        <p:spPr bwMode="auto">
          <a:xfrm>
            <a:off x="286304" y="252136"/>
            <a:ext cx="5288915" cy="1173317"/>
          </a:xfrm>
          <a:prstGeom prst="rect">
            <a:avLst/>
          </a:prstGeom>
        </p:spPr>
      </p:pic>
      <p:sp>
        <p:nvSpPr>
          <p:cNvPr id="2048982309" name="TextBox 19"/>
          <p:cNvSpPr txBox="1"/>
          <p:nvPr/>
        </p:nvSpPr>
        <p:spPr bwMode="auto">
          <a:xfrm>
            <a:off x="2251710" y="1425575"/>
            <a:ext cx="6949440" cy="90360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4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Asterinas EXT4</a:t>
            </a:r>
            <a:endParaRPr sz="48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44998377" name="TextBox 20"/>
          <p:cNvSpPr txBox="1"/>
          <p:nvPr/>
        </p:nvSpPr>
        <p:spPr bwMode="auto">
          <a:xfrm>
            <a:off x="2773172" y="2395220"/>
            <a:ext cx="6583680" cy="1173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3200" b="1"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32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面向 RustOS 的高性能强一致性 EXT4 文件系统</a:t>
            </a:r>
            <a:endParaRPr sz="32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3324218" name="TextBox 21"/>
          <p:cNvSpPr txBox="1"/>
          <p:nvPr/>
        </p:nvSpPr>
        <p:spPr bwMode="auto">
          <a:xfrm>
            <a:off x="2773045" y="3619500"/>
            <a:ext cx="7390765" cy="10388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proj</a:t>
            </a:r>
            <a:r>
              <a:rPr lang="en-US" sz="2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8-Research on High-Performance and Strong-Consistency File System for RustOS</a:t>
            </a:r>
            <a:endParaRPr lang="en-US" sz="28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62902207" name="TextBox 22"/>
          <p:cNvSpPr txBox="1"/>
          <p:nvPr/>
        </p:nvSpPr>
        <p:spPr bwMode="auto">
          <a:xfrm>
            <a:off x="4049394" y="4672329"/>
            <a:ext cx="5669639" cy="1920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队伍名称：日志写了吗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队伍成员：俞杰、梁丙煜、王毅航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校内导师：夏文、李诗逸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endParaRPr sz="2000" b="0">
              <a:solidFill>
                <a:srgbClr val="545C69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975274" name="TextBox 1"/>
          <p:cNvSpPr txBox="1"/>
          <p:nvPr/>
        </p:nvSpPr>
        <p:spPr bwMode="auto">
          <a:xfrm>
            <a:off x="987552" y="640080"/>
            <a:ext cx="4572360" cy="76235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4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答辩大纲</a:t>
            </a:r>
            <a:endParaRPr sz="4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7442" name="TextBox 2"/>
          <p:cNvSpPr txBox="1"/>
          <p:nvPr/>
        </p:nvSpPr>
        <p:spPr bwMode="auto">
          <a:xfrm>
            <a:off x="1096009" y="1693544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1、项目背景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2305785" name="TextBox 3"/>
          <p:cNvSpPr txBox="1"/>
          <p:nvPr/>
        </p:nvSpPr>
        <p:spPr bwMode="auto">
          <a:xfrm>
            <a:off x="1096009" y="2588132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2、项目目标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0806986" name="TextBox 4"/>
          <p:cNvSpPr txBox="1"/>
          <p:nvPr/>
        </p:nvSpPr>
        <p:spPr bwMode="auto">
          <a:xfrm>
            <a:off x="1096009" y="3575430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3、设计实现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2219964" name="TextBox 5"/>
          <p:cNvSpPr txBox="1"/>
          <p:nvPr/>
        </p:nvSpPr>
        <p:spPr bwMode="auto">
          <a:xfrm>
            <a:off x="1096009" y="4516373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4、项目测试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8374847" name="TextBox 6"/>
          <p:cNvSpPr txBox="1"/>
          <p:nvPr/>
        </p:nvSpPr>
        <p:spPr bwMode="auto">
          <a:xfrm>
            <a:off x="1096009" y="5456682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5、总结展望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66616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973164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39667791" name="文本框 7"/>
          <p:cNvSpPr txBox="1"/>
          <p:nvPr/>
        </p:nvSpPr>
        <p:spPr bwMode="auto">
          <a:xfrm>
            <a:off x="86359" y="1388370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327343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74620497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18838492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04725256" name="图形 22" descr="文凭卷筒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117880368" name="图片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484873683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0076332" name="文本框 24"/>
          <p:cNvSpPr txBox="1"/>
          <p:nvPr/>
        </p:nvSpPr>
        <p:spPr bwMode="auto">
          <a:xfrm>
            <a:off x="2717800" y="320675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1.1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文件系统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cxnSp>
        <p:nvCxnSpPr>
          <p:cNvPr id="1591253133" name="直接连接符 25"/>
          <p:cNvCxnSpPr/>
          <p:nvPr/>
        </p:nvCxnSpPr>
        <p:spPr bwMode="auto">
          <a:xfrm>
            <a:off x="2743200" y="863599"/>
            <a:ext cx="9093200" cy="635"/>
          </a:xfrm>
          <a:prstGeom prst="line">
            <a:avLst/>
          </a:prstGeom>
          <a:ln w="1270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03488876" name="文本框 26"/>
          <p:cNvSpPr txBox="1"/>
          <p:nvPr/>
        </p:nvSpPr>
        <p:spPr bwMode="auto">
          <a:xfrm>
            <a:off x="2737485" y="1043940"/>
            <a:ext cx="8653145" cy="1035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现代云服务可以灵活调度计算任务，但数据最终仍要落到持久化存储中。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AI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训练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checkpoint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、数据库日志与数据页、对象存储元数据等，都需要通过文件系统完成组织和读写。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46226707" name="圆角矩形 17"/>
          <p:cNvSpPr/>
          <p:nvPr/>
        </p:nvSpPr>
        <p:spPr bwMode="auto">
          <a:xfrm>
            <a:off x="2717800" y="2472690"/>
            <a:ext cx="4432300" cy="381571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524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548972293" name="文本框 18"/>
          <p:cNvSpPr txBox="1"/>
          <p:nvPr/>
        </p:nvSpPr>
        <p:spPr bwMode="auto">
          <a:xfrm>
            <a:off x="3215640" y="2818130"/>
            <a:ext cx="3251200" cy="22542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典型数据服务负载</a:t>
            </a:r>
            <a:endParaRPr lang="zh-CN" sz="13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615272" name="圆角矩形 19"/>
          <p:cNvSpPr/>
          <p:nvPr/>
        </p:nvSpPr>
        <p:spPr bwMode="auto">
          <a:xfrm>
            <a:off x="294703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pic>
        <p:nvPicPr>
          <p:cNvPr id="851576378" name="图片 20" descr="cloud-computi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3174365" y="3470910"/>
            <a:ext cx="509905" cy="392430"/>
          </a:xfrm>
          <a:prstGeom prst="rect">
            <a:avLst/>
          </a:prstGeom>
        </p:spPr>
      </p:pic>
      <p:sp>
        <p:nvSpPr>
          <p:cNvPr id="1247851224" name="文本框 21"/>
          <p:cNvSpPr txBox="1"/>
          <p:nvPr/>
        </p:nvSpPr>
        <p:spPr bwMode="auto">
          <a:xfrm>
            <a:off x="3023235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云原生</a:t>
            </a:r>
            <a:endParaRPr lang="zh-CN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254081" name="圆角矩形 23"/>
          <p:cNvSpPr/>
          <p:nvPr/>
        </p:nvSpPr>
        <p:spPr bwMode="auto">
          <a:xfrm>
            <a:off x="453453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405807506" name="文本框 46"/>
          <p:cNvSpPr txBox="1"/>
          <p:nvPr/>
        </p:nvSpPr>
        <p:spPr bwMode="auto">
          <a:xfrm>
            <a:off x="4740909" y="3536315"/>
            <a:ext cx="552450" cy="414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noAutofit/>
          </a:bodyPr>
          <a:p>
            <a:pPr algn="ctr">
              <a:spcAft>
                <a:spcPts val="0"/>
              </a:spcAft>
              <a:defRPr/>
            </a:pPr>
            <a:r>
              <a:rPr 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lang="en-US" sz="16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643883" name="文本框 52"/>
          <p:cNvSpPr txBox="1"/>
          <p:nvPr/>
        </p:nvSpPr>
        <p:spPr bwMode="auto">
          <a:xfrm>
            <a:off x="4610735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9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lang="zh-CN" sz="9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992384" name="圆角矩形 54"/>
          <p:cNvSpPr/>
          <p:nvPr/>
        </p:nvSpPr>
        <p:spPr bwMode="auto">
          <a:xfrm>
            <a:off x="608647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pic>
        <p:nvPicPr>
          <p:cNvPr id="1860777342" name="图片 55" descr="database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auto">
          <a:xfrm>
            <a:off x="6441440" y="3470910"/>
            <a:ext cx="304800" cy="279400"/>
          </a:xfrm>
          <a:prstGeom prst="rect">
            <a:avLst/>
          </a:prstGeom>
        </p:spPr>
      </p:pic>
      <p:sp>
        <p:nvSpPr>
          <p:cNvPr id="1393539583" name="文本框 56"/>
          <p:cNvSpPr txBox="1"/>
          <p:nvPr/>
        </p:nvSpPr>
        <p:spPr bwMode="auto">
          <a:xfrm>
            <a:off x="6235700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sz="9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7611147" name="直接连接符 58"/>
          <p:cNvCxnSpPr>
            <a:stCxn id="107254081" idx="2"/>
          </p:cNvCxnSpPr>
          <p:nvPr/>
        </p:nvCxnSpPr>
        <p:spPr bwMode="auto">
          <a:xfrm flipH="1">
            <a:off x="5011420" y="4106545"/>
            <a:ext cx="5715" cy="645159"/>
          </a:xfrm>
          <a:prstGeom prst="line">
            <a:avLst/>
          </a:prstGeom>
          <a:ln w="2032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1571214" name="圆角矩形 59"/>
          <p:cNvSpPr/>
          <p:nvPr/>
        </p:nvSpPr>
        <p:spPr bwMode="auto">
          <a:xfrm>
            <a:off x="3902075" y="4751705"/>
            <a:ext cx="2184400" cy="4572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1524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522570837" name="文本框 60"/>
          <p:cNvSpPr txBox="1"/>
          <p:nvPr/>
        </p:nvSpPr>
        <p:spPr bwMode="auto">
          <a:xfrm>
            <a:off x="4092575" y="4843780"/>
            <a:ext cx="1803400" cy="18669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文件系统语义层</a:t>
            </a:r>
            <a:endParaRPr lang="zh-CN" sz="10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4321282" name="文本框 61"/>
          <p:cNvSpPr txBox="1"/>
          <p:nvPr/>
        </p:nvSpPr>
        <p:spPr bwMode="auto">
          <a:xfrm>
            <a:off x="4186555" y="5036820"/>
            <a:ext cx="1778000" cy="14033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7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POSIX / VFS / EXT4</a:t>
            </a:r>
            <a:endParaRPr lang="en-US" sz="75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23639168" name="直接连接符 62"/>
          <p:cNvCxnSpPr/>
          <p:nvPr/>
        </p:nvCxnSpPr>
        <p:spPr bwMode="auto">
          <a:xfrm>
            <a:off x="5022850" y="5208905"/>
            <a:ext cx="8890" cy="513080"/>
          </a:xfrm>
          <a:prstGeom prst="line">
            <a:avLst/>
          </a:prstGeom>
          <a:ln w="2032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72002064" name="圆角矩形 63"/>
          <p:cNvSpPr/>
          <p:nvPr/>
        </p:nvSpPr>
        <p:spPr bwMode="auto">
          <a:xfrm>
            <a:off x="3983355" y="5713095"/>
            <a:ext cx="2184400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481879922" name="文本框 64"/>
          <p:cNvSpPr txBox="1"/>
          <p:nvPr/>
        </p:nvSpPr>
        <p:spPr bwMode="auto">
          <a:xfrm>
            <a:off x="4092575" y="5767705"/>
            <a:ext cx="1727199" cy="1555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8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块设备</a:t>
            </a:r>
            <a:r>
              <a:rPr lang="en-US" sz="8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SSD / NVMe</a:t>
            </a:r>
            <a:endParaRPr lang="en-US" sz="8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7973378" name="文本框 2"/>
          <p:cNvSpPr txBox="1"/>
          <p:nvPr/>
        </p:nvSpPr>
        <p:spPr bwMode="auto">
          <a:xfrm>
            <a:off x="7545070" y="2325370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因此，文件系统不只是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读写文件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”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，还需要提供三类基础能力：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稳定接口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：向上提供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POSIX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文件、目录、权限和同步语义，屏蔽底层设备差异。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数据组织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：向下管理块分配、空间回收和连续区间映射，高效组织磁盘数据。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可靠恢复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：在系统异常、掉电或应用崩溃后，帮助磁盘恢复到一致状态。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defRPr/>
            </a:pPr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02638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35511882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6561766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8726866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840925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40368123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2755570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028732010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074219420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1156702" name="文本框 5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1.2 EXT4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cxnSp>
        <p:nvCxnSpPr>
          <p:cNvPr id="1324619007" name="直接连接符 7"/>
          <p:cNvCxnSpPr/>
          <p:nvPr/>
        </p:nvCxnSpPr>
        <p:spPr bwMode="auto">
          <a:xfrm>
            <a:off x="2743200" y="863599"/>
            <a:ext cx="9093200" cy="635"/>
          </a:xfrm>
          <a:prstGeom prst="line">
            <a:avLst/>
          </a:prstGeom>
          <a:ln w="1270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5066512" name="文本框 8"/>
          <p:cNvSpPr txBox="1"/>
          <p:nvPr/>
        </p:nvSpPr>
        <p:spPr bwMode="auto">
          <a:xfrm>
            <a:off x="2794000" y="1016000"/>
            <a:ext cx="8890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EXT4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文件系统长期支撑了大量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Linux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应用场景。服务器、数据库、虚拟化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容器和嵌入式设备都依赖它成熟的实现、完善的工具链和可靠的恢复机制。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35353227" name="文本框 9"/>
          <p:cNvSpPr txBox="1"/>
          <p:nvPr/>
        </p:nvSpPr>
        <p:spPr bwMode="auto">
          <a:xfrm>
            <a:off x="2844800" y="1778000"/>
            <a:ext cx="33020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4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Linux </a:t>
            </a:r>
            <a:r>
              <a:rPr lang="zh-CN" sz="14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生态中的典型工作负载</a:t>
            </a:r>
            <a:endParaRPr lang="zh-CN" sz="1400" b="1">
              <a:solidFill>
                <a:srgbClr val="0070C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sp>
        <p:nvSpPr>
          <p:cNvPr id="2047220472" name="圆角矩形 10"/>
          <p:cNvSpPr/>
          <p:nvPr/>
        </p:nvSpPr>
        <p:spPr bwMode="auto">
          <a:xfrm>
            <a:off x="2794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365565621" name="文本框 11"/>
          <p:cNvSpPr txBox="1"/>
          <p:nvPr/>
        </p:nvSpPr>
        <p:spPr bwMode="auto">
          <a:xfrm>
            <a:off x="285051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服务器</a:t>
            </a:r>
            <a:r>
              <a:rPr lang="en-US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 / </a:t>
            </a:r>
            <a:r>
              <a:rPr lang="zh-CN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云主机</a:t>
            </a:r>
            <a:endParaRPr lang="zh-CN" sz="1150" b="1">
              <a:solidFill>
                <a:srgbClr val="0070C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1659602759" name="直接连接符 14"/>
          <p:cNvCxnSpPr/>
          <p:nvPr/>
        </p:nvCxnSpPr>
        <p:spPr bwMode="auto">
          <a:xfrm>
            <a:off x="3797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43072515" name="圆角矩形 15"/>
          <p:cNvSpPr/>
          <p:nvPr/>
        </p:nvSpPr>
        <p:spPr bwMode="auto">
          <a:xfrm>
            <a:off x="5080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404199527" name="文本框 16"/>
          <p:cNvSpPr txBox="1"/>
          <p:nvPr/>
        </p:nvSpPr>
        <p:spPr bwMode="auto">
          <a:xfrm>
            <a:off x="515937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lang="en-US" sz="11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1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中间件</a:t>
            </a:r>
            <a:endParaRPr lang="zh-CN" sz="11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9874879" name="直接连接符 18"/>
          <p:cNvCxnSpPr/>
          <p:nvPr/>
        </p:nvCxnSpPr>
        <p:spPr bwMode="auto">
          <a:xfrm>
            <a:off x="6083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8824664" name="圆角矩形 19"/>
          <p:cNvSpPr/>
          <p:nvPr/>
        </p:nvSpPr>
        <p:spPr bwMode="auto">
          <a:xfrm>
            <a:off x="7366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345298714" name="文本框 20"/>
          <p:cNvSpPr txBox="1"/>
          <p:nvPr/>
        </p:nvSpPr>
        <p:spPr bwMode="auto">
          <a:xfrm>
            <a:off x="7467600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00B050"/>
                </a:solidFill>
                <a:latin typeface="+mn-ea"/>
                <a:ea typeface="微软雅黑" panose="020B0503020204020204" charset="-122"/>
                <a:cs typeface="+mn-ea"/>
              </a:rPr>
              <a:t>虚拟机</a:t>
            </a:r>
            <a:r>
              <a:rPr lang="en-US" sz="1150" b="1">
                <a:solidFill>
                  <a:srgbClr val="00B050"/>
                </a:solidFill>
                <a:latin typeface="+mn-ea"/>
                <a:ea typeface="微软雅黑" panose="020B0503020204020204" charset="-122"/>
                <a:cs typeface="+mn-ea"/>
              </a:rPr>
              <a:t> / </a:t>
            </a:r>
            <a:r>
              <a:rPr lang="zh-CN" sz="1150" b="1">
                <a:solidFill>
                  <a:srgbClr val="00B050"/>
                </a:solidFill>
                <a:latin typeface="+mn-ea"/>
                <a:ea typeface="微软雅黑" panose="020B0503020204020204" charset="-122"/>
                <a:cs typeface="+mn-ea"/>
              </a:rPr>
              <a:t>容器</a:t>
            </a:r>
            <a:endParaRPr lang="zh-CN" sz="1150" b="1">
              <a:solidFill>
                <a:srgbClr val="00B05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2025600370" name="直接连接符 22"/>
          <p:cNvCxnSpPr/>
          <p:nvPr/>
        </p:nvCxnSpPr>
        <p:spPr bwMode="auto">
          <a:xfrm>
            <a:off x="8369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42163038" name="圆角矩形 23"/>
          <p:cNvSpPr/>
          <p:nvPr/>
        </p:nvSpPr>
        <p:spPr bwMode="auto">
          <a:xfrm>
            <a:off x="9652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008403043" name="文本框 24"/>
          <p:cNvSpPr txBox="1"/>
          <p:nvPr/>
        </p:nvSpPr>
        <p:spPr bwMode="auto">
          <a:xfrm>
            <a:off x="974280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FF8000"/>
                </a:solidFill>
                <a:latin typeface="+mn-ea"/>
                <a:ea typeface="微软雅黑" panose="020B0503020204020204" charset="-122"/>
              </a:rPr>
              <a:t>开发与嵌入式</a:t>
            </a:r>
            <a:endParaRPr lang="zh-CN" sz="1150" b="1">
              <a:solidFill>
                <a:srgbClr val="FF8000"/>
              </a:solidFill>
              <a:latin typeface="+mn-ea"/>
              <a:ea typeface="微软雅黑" panose="020B0503020204020204" charset="-122"/>
            </a:endParaRPr>
          </a:p>
        </p:txBody>
      </p:sp>
      <p:cxnSp>
        <p:nvCxnSpPr>
          <p:cNvPr id="1735341477" name="直接连接符 26"/>
          <p:cNvCxnSpPr/>
          <p:nvPr/>
        </p:nvCxnSpPr>
        <p:spPr bwMode="auto">
          <a:xfrm>
            <a:off x="10655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5305560" name="圆角矩形 27"/>
          <p:cNvSpPr/>
          <p:nvPr/>
        </p:nvSpPr>
        <p:spPr bwMode="auto">
          <a:xfrm>
            <a:off x="3175000" y="3505199"/>
            <a:ext cx="8153399" cy="9398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2032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473125937" name="文本框 47"/>
          <p:cNvSpPr txBox="1"/>
          <p:nvPr/>
        </p:nvSpPr>
        <p:spPr bwMode="auto">
          <a:xfrm>
            <a:off x="5905500" y="3670300"/>
            <a:ext cx="13335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EXT4</a:t>
            </a:r>
            <a:endParaRPr 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2597247" name="文本框 49"/>
          <p:cNvSpPr txBox="1"/>
          <p:nvPr/>
        </p:nvSpPr>
        <p:spPr bwMode="auto">
          <a:xfrm>
            <a:off x="4597400" y="4114800"/>
            <a:ext cx="5461000" cy="2133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向上承接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POSIX/VFS 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语义，向下组织块设备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I/O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，并通过成熟工具链支撑长期运维。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pic>
        <p:nvPicPr>
          <p:cNvPr id="1570154856" name="图片 50" descr="tux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581400" y="3606800"/>
            <a:ext cx="609600" cy="698500"/>
          </a:xfrm>
          <a:prstGeom prst="rect">
            <a:avLst/>
          </a:prstGeom>
        </p:spPr>
      </p:pic>
      <p:sp>
        <p:nvSpPr>
          <p:cNvPr id="686943685" name="文本框 56"/>
          <p:cNvSpPr txBox="1"/>
          <p:nvPr/>
        </p:nvSpPr>
        <p:spPr bwMode="auto">
          <a:xfrm>
            <a:off x="2844800" y="4762500"/>
            <a:ext cx="1524000" cy="258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350" b="1">
                <a:solidFill>
                  <a:srgbClr val="0070C0"/>
                </a:solidFill>
                <a:latin typeface="+mn-ea"/>
                <a:ea typeface="微软雅黑" panose="020B0503020204020204" charset="-122"/>
              </a:rPr>
              <a:t>核心工程能力</a:t>
            </a:r>
            <a:endParaRPr lang="zh-CN" sz="1350" b="1">
              <a:solidFill>
                <a:srgbClr val="0070C0"/>
              </a:solidFill>
              <a:latin typeface="+mn-ea"/>
              <a:ea typeface="微软雅黑" panose="020B0503020204020204" charset="-122"/>
            </a:endParaRPr>
          </a:p>
        </p:txBody>
      </p:sp>
      <p:sp>
        <p:nvSpPr>
          <p:cNvPr id="1129405054" name="圆角矩形 57"/>
          <p:cNvSpPr/>
          <p:nvPr/>
        </p:nvSpPr>
        <p:spPr bwMode="auto">
          <a:xfrm>
            <a:off x="28194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92798013" name="文本框 58"/>
          <p:cNvSpPr txBox="1"/>
          <p:nvPr/>
        </p:nvSpPr>
        <p:spPr bwMode="auto">
          <a:xfrm>
            <a:off x="2882899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extent </a:t>
            </a:r>
            <a:r>
              <a:rPr lang="zh-CN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连续块映射</a:t>
            </a:r>
            <a:endParaRPr lang="zh-CN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1890130" name="圆角矩形 59"/>
          <p:cNvSpPr/>
          <p:nvPr/>
        </p:nvSpPr>
        <p:spPr bwMode="auto">
          <a:xfrm>
            <a:off x="49022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31000000" name="文本框 60"/>
          <p:cNvSpPr txBox="1"/>
          <p:nvPr/>
        </p:nvSpPr>
        <p:spPr bwMode="auto">
          <a:xfrm>
            <a:off x="4965700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delayed allocation</a:t>
            </a:r>
            <a:endParaRPr 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38273" name="圆角矩形 61"/>
          <p:cNvSpPr/>
          <p:nvPr/>
        </p:nvSpPr>
        <p:spPr bwMode="auto">
          <a:xfrm>
            <a:off x="69850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783310457" name="文本框 62"/>
          <p:cNvSpPr txBox="1"/>
          <p:nvPr/>
        </p:nvSpPr>
        <p:spPr bwMode="auto">
          <a:xfrm>
            <a:off x="6921500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JBD2 journal</a:t>
            </a:r>
            <a:endParaRPr 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4825244" name="圆角矩形 63"/>
          <p:cNvSpPr/>
          <p:nvPr/>
        </p:nvSpPr>
        <p:spPr bwMode="auto">
          <a:xfrm>
            <a:off x="92710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530649076" name="文本框 64"/>
          <p:cNvSpPr txBox="1"/>
          <p:nvPr/>
        </p:nvSpPr>
        <p:spPr bwMode="auto">
          <a:xfrm>
            <a:off x="9220200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metadata checksum</a:t>
            </a:r>
            <a:endParaRPr 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083022" name="文本框 67"/>
          <p:cNvSpPr txBox="1"/>
          <p:nvPr/>
        </p:nvSpPr>
        <p:spPr bwMode="auto">
          <a:xfrm>
            <a:off x="3111500" y="5867399"/>
            <a:ext cx="82550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项目背景：在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 Asterinas 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上实现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 EXT4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，就是补齐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 RustOS 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承载真实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 Linux 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应用生态的关键存储底座。</a:t>
            </a:r>
            <a:endParaRPr lang="zh-CN" sz="1400" b="1">
              <a:solidFill>
                <a:schemeClr val="tx1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50070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91699541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113296301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5671119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010658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2069770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4235365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8309021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379327059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93554233" name="文本框 32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1.3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一致性与性能代价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cxnSp>
        <p:nvCxnSpPr>
          <p:cNvPr id="1410311430" name="直接连接符 33"/>
          <p:cNvCxnSpPr/>
          <p:nvPr/>
        </p:nvCxnSpPr>
        <p:spPr bwMode="auto">
          <a:xfrm>
            <a:off x="2743200" y="863599"/>
            <a:ext cx="9093200" cy="635"/>
          </a:xfrm>
          <a:prstGeom prst="line">
            <a:avLst/>
          </a:prstGeom>
          <a:ln w="1270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5157832" name="文本框 34"/>
          <p:cNvSpPr txBox="1"/>
          <p:nvPr/>
        </p:nvSpPr>
        <p:spPr bwMode="auto">
          <a:xfrm>
            <a:off x="2794000" y="990600"/>
            <a:ext cx="9017000" cy="789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传统文件系统通常假设系统可能随时崩溃，因此会通过日志、写入顺序约束和同步刷盘来保证恢复后状态一致。这样做提高了可靠性，但也在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I/O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路径中加入了额外开销。随着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SSD/NVMe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等高速设备降低了硬件访问延迟，这些软件层面的等待、排序和元数据写入，反而更容易成为性能瓶颈。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62824636" name="文本框 35"/>
          <p:cNvSpPr txBox="1"/>
          <p:nvPr/>
        </p:nvSpPr>
        <p:spPr bwMode="auto">
          <a:xfrm>
            <a:off x="3022600" y="1981200"/>
            <a:ext cx="1397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安全收益</a:t>
            </a:r>
            <a:endParaRPr lang="zh-CN" sz="15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187503" name="文本框 36"/>
          <p:cNvSpPr txBox="1"/>
          <p:nvPr/>
        </p:nvSpPr>
        <p:spPr bwMode="auto">
          <a:xfrm>
            <a:off x="8153399" y="1981200"/>
            <a:ext cx="1397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性能代价</a:t>
            </a:r>
            <a:endParaRPr lang="zh-CN" sz="1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45560" name="矩形 37"/>
          <p:cNvSpPr/>
          <p:nvPr/>
        </p:nvSpPr>
        <p:spPr bwMode="auto">
          <a:xfrm>
            <a:off x="2794000" y="241300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800355405" name="文本框 38"/>
          <p:cNvSpPr txBox="1"/>
          <p:nvPr/>
        </p:nvSpPr>
        <p:spPr bwMode="auto">
          <a:xfrm>
            <a:off x="2895600" y="256540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JBD2 </a:t>
            </a:r>
            <a:r>
              <a:rPr lang="zh-CN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lang="zh-CN" sz="11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4893202" name="文本框 39"/>
          <p:cNvSpPr txBox="1"/>
          <p:nvPr/>
        </p:nvSpPr>
        <p:spPr bwMode="auto">
          <a:xfrm>
            <a:off x="4699000" y="2565400"/>
            <a:ext cx="3111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崩溃后只重放完整事务</a:t>
            </a:r>
            <a:endParaRPr lang="zh-CN" sz="105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368668761" name="文本框 40"/>
          <p:cNvSpPr txBox="1"/>
          <p:nvPr/>
        </p:nvSpPr>
        <p:spPr bwMode="auto">
          <a:xfrm>
            <a:off x="8246110" y="2567940"/>
            <a:ext cx="3238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额外元数据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I/O 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与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checkpoint 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写回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1886168491" name="直接连接符 41"/>
          <p:cNvCxnSpPr/>
          <p:nvPr/>
        </p:nvCxnSpPr>
        <p:spPr bwMode="auto">
          <a:xfrm>
            <a:off x="4445000" y="269240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5762024" name="直接连接符 42"/>
          <p:cNvCxnSpPr/>
          <p:nvPr/>
        </p:nvCxnSpPr>
        <p:spPr bwMode="auto">
          <a:xfrm>
            <a:off x="7874000" y="2692400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9816687" name="矩形 43"/>
          <p:cNvSpPr/>
          <p:nvPr/>
        </p:nvSpPr>
        <p:spPr bwMode="auto">
          <a:xfrm>
            <a:off x="2794000" y="312420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997290694" name="文本框 44"/>
          <p:cNvSpPr txBox="1"/>
          <p:nvPr/>
        </p:nvSpPr>
        <p:spPr bwMode="auto">
          <a:xfrm>
            <a:off x="2895600" y="327660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顺序屏障</a:t>
            </a:r>
            <a:endParaRPr lang="zh-CN" sz="11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453784" name="文本框 45"/>
          <p:cNvSpPr txBox="1"/>
          <p:nvPr/>
        </p:nvSpPr>
        <p:spPr bwMode="auto">
          <a:xfrm>
            <a:off x="4699000" y="3291840"/>
            <a:ext cx="3111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约束提交顺序，避免写缓存乱序导致</a:t>
            </a:r>
            <a:r>
              <a:rPr lang="en-US" sz="1050" b="1">
                <a:solidFill>
                  <a:srgbClr val="333333"/>
                </a:solidFill>
                <a:ea typeface="+mn-lt"/>
                <a:cs typeface="+mn-lt"/>
              </a:rPr>
              <a:t> journal </a:t>
            </a: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失效</a:t>
            </a:r>
            <a:endParaRPr lang="zh-CN" sz="105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879530206" name="文本框 46"/>
          <p:cNvSpPr txBox="1"/>
          <p:nvPr/>
        </p:nvSpPr>
        <p:spPr bwMode="auto">
          <a:xfrm>
            <a:off x="8242300" y="3291840"/>
            <a:ext cx="3238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增加等待，降低高速设备并行度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1872661526" name="直接连接符 47"/>
          <p:cNvCxnSpPr/>
          <p:nvPr/>
        </p:nvCxnSpPr>
        <p:spPr bwMode="auto">
          <a:xfrm>
            <a:off x="4445000" y="340360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9404032" name="直接连接符 48"/>
          <p:cNvCxnSpPr/>
          <p:nvPr/>
        </p:nvCxnSpPr>
        <p:spPr bwMode="auto">
          <a:xfrm>
            <a:off x="7874000" y="3403600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20191896" name="矩形 49"/>
          <p:cNvSpPr/>
          <p:nvPr/>
        </p:nvSpPr>
        <p:spPr bwMode="auto">
          <a:xfrm>
            <a:off x="2819400" y="393573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536512894" name="文本框 50"/>
          <p:cNvSpPr txBox="1"/>
          <p:nvPr/>
        </p:nvSpPr>
        <p:spPr bwMode="auto">
          <a:xfrm>
            <a:off x="2895600" y="4101464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fsync </a:t>
            </a:r>
            <a:r>
              <a:rPr lang="zh-CN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</a:t>
            </a:r>
            <a:endParaRPr lang="zh-CN" sz="11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7624954" name="文本框 51"/>
          <p:cNvSpPr txBox="1"/>
          <p:nvPr/>
        </p:nvSpPr>
        <p:spPr bwMode="auto">
          <a:xfrm>
            <a:off x="4704080" y="4153535"/>
            <a:ext cx="3111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ea typeface="+mn-lt"/>
              </a:rPr>
              <a:t>给数据库事务提交提供明确持久化裁决点</a:t>
            </a:r>
            <a:endParaRPr lang="zh-CN" sz="1050" b="1">
              <a:solidFill>
                <a:srgbClr val="333333"/>
              </a:solidFill>
              <a:ea typeface="+mn-lt"/>
            </a:endParaRPr>
          </a:p>
        </p:txBody>
      </p:sp>
      <p:sp>
        <p:nvSpPr>
          <p:cNvPr id="1730712977" name="文本框 52"/>
          <p:cNvSpPr txBox="1"/>
          <p:nvPr/>
        </p:nvSpPr>
        <p:spPr bwMode="auto">
          <a:xfrm>
            <a:off x="8255000" y="4172585"/>
            <a:ext cx="3238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</a:rPr>
              <a:t>同步等待脏页和事务提交，延迟被放大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</a:endParaRPr>
          </a:p>
        </p:txBody>
      </p:sp>
      <p:cxnSp>
        <p:nvCxnSpPr>
          <p:cNvPr id="1910577068" name="直接连接符 53"/>
          <p:cNvCxnSpPr/>
          <p:nvPr/>
        </p:nvCxnSpPr>
        <p:spPr bwMode="auto">
          <a:xfrm>
            <a:off x="4479290" y="422783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7422024" name="直接连接符 54"/>
          <p:cNvCxnSpPr/>
          <p:nvPr/>
        </p:nvCxnSpPr>
        <p:spPr bwMode="auto">
          <a:xfrm>
            <a:off x="7962900" y="4269105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0711842" name="矩形 55"/>
          <p:cNvSpPr/>
          <p:nvPr/>
        </p:nvSpPr>
        <p:spPr bwMode="auto">
          <a:xfrm>
            <a:off x="2819400" y="492633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9949756" name="文本框 56"/>
          <p:cNvSpPr txBox="1"/>
          <p:nvPr/>
        </p:nvSpPr>
        <p:spPr bwMode="auto">
          <a:xfrm>
            <a:off x="2895600" y="505333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锁与缓存一致性</a:t>
            </a:r>
            <a:endParaRPr lang="zh-CN" sz="11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83033" name="文本框 57"/>
          <p:cNvSpPr txBox="1"/>
          <p:nvPr/>
        </p:nvSpPr>
        <p:spPr bwMode="auto">
          <a:xfrm>
            <a:off x="4704080" y="5015865"/>
            <a:ext cx="3111500" cy="373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保护目录、</a:t>
            </a:r>
            <a:r>
              <a:rPr lang="en-US" sz="1050" b="1">
                <a:solidFill>
                  <a:srgbClr val="333333"/>
                </a:solidFill>
                <a:ea typeface="+mn-lt"/>
                <a:cs typeface="+mn-lt"/>
              </a:rPr>
              <a:t>inode</a:t>
            </a: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050" b="1">
                <a:solidFill>
                  <a:srgbClr val="333333"/>
                </a:solidFill>
                <a:ea typeface="+mn-lt"/>
                <a:cs typeface="+mn-lt"/>
              </a:rPr>
              <a:t>extent</a:t>
            </a: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050" b="1">
                <a:solidFill>
                  <a:srgbClr val="333333"/>
                </a:solidFill>
                <a:ea typeface="+mn-lt"/>
                <a:cs typeface="+mn-lt"/>
              </a:rPr>
              <a:t>PageCache </a:t>
            </a: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与</a:t>
            </a:r>
            <a:r>
              <a:rPr lang="en-US" sz="1050" b="1">
                <a:solidFill>
                  <a:srgbClr val="333333"/>
                </a:solidFill>
                <a:ea typeface="+mn-lt"/>
                <a:cs typeface="+mn-lt"/>
              </a:rPr>
              <a:t> journal </a:t>
            </a:r>
            <a:r>
              <a:rPr lang="zh-CN" sz="1050" b="1">
                <a:solidFill>
                  <a:srgbClr val="333333"/>
                </a:solidFill>
                <a:ea typeface="+mn-lt"/>
                <a:cs typeface="+mn-lt"/>
              </a:rPr>
              <a:t>状态一致</a:t>
            </a:r>
            <a:endParaRPr lang="zh-CN" sz="105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882442691" name="文本框 58"/>
          <p:cNvSpPr txBox="1"/>
          <p:nvPr/>
        </p:nvSpPr>
        <p:spPr bwMode="auto">
          <a:xfrm>
            <a:off x="8255000" y="5053330"/>
            <a:ext cx="32385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粗粒度锁或频繁失效会削弱并发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I/O 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扩展性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1274221252" name="直接连接符 59"/>
          <p:cNvCxnSpPr/>
          <p:nvPr/>
        </p:nvCxnSpPr>
        <p:spPr bwMode="auto">
          <a:xfrm>
            <a:off x="4479290" y="520192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9618149" name="直接连接符 60"/>
          <p:cNvCxnSpPr/>
          <p:nvPr/>
        </p:nvCxnSpPr>
        <p:spPr bwMode="auto">
          <a:xfrm>
            <a:off x="7962900" y="5135245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429308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33185290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799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002747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7561115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62105655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5105819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3923927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813874096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3795794" name="文本框 23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1.4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在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 Asterinas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上重做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安全且高性能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”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的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 EXT4</a:t>
            </a:r>
            <a:endParaRPr lang="en-US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cxnSp>
        <p:nvCxnSpPr>
          <p:cNvPr id="1305708771" name="直接连接符 24"/>
          <p:cNvCxnSpPr/>
          <p:nvPr/>
        </p:nvCxnSpPr>
        <p:spPr bwMode="auto">
          <a:xfrm>
            <a:off x="2743200" y="863599"/>
            <a:ext cx="9093200" cy="635"/>
          </a:xfrm>
          <a:prstGeom prst="line">
            <a:avLst/>
          </a:prstGeom>
          <a:ln w="1270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0720819" name="文本框 25"/>
          <p:cNvSpPr txBox="1"/>
          <p:nvPr/>
        </p:nvSpPr>
        <p:spPr bwMode="auto">
          <a:xfrm>
            <a:off x="2794000" y="990600"/>
            <a:ext cx="8763000" cy="789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Rust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framekernel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把内存安全、隔离和错误边界前移，使文件系统运行环境更可控；但真实应用仍需要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EXT4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这样成熟的磁盘格式与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POSIX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语义。本项目的意义在于：把主流文件系统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EXT4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的能力带到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Asterinas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平台上，同时研究一致性机制与性能的均衡问题。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146468574" name="文本框 26"/>
          <p:cNvSpPr txBox="1"/>
          <p:nvPr/>
        </p:nvSpPr>
        <p:spPr bwMode="auto">
          <a:xfrm>
            <a:off x="2946400" y="2013585"/>
            <a:ext cx="2413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理由：</a:t>
            </a:r>
            <a:endParaRPr lang="zh-CN" sz="15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7509027" name="文本框 27"/>
          <p:cNvSpPr txBox="1"/>
          <p:nvPr/>
        </p:nvSpPr>
        <p:spPr bwMode="auto">
          <a:xfrm>
            <a:off x="2946400" y="2413000"/>
            <a:ext cx="3282315" cy="2512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RustOS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降低内存安全类崩溃风险，为实现更复杂的存储子系统提供了更可靠的基础。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高速块设备让传统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journal / fsync /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锁路径的开销更明显，优化收益更容易被放大。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EXT4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生态成熟，适合用作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RustOS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Linux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应用兼容性的验收场景。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135275160" name="椭圆 30"/>
          <p:cNvSpPr/>
          <p:nvPr/>
        </p:nvSpPr>
        <p:spPr bwMode="auto">
          <a:xfrm>
            <a:off x="8382000" y="21082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801804369" name="文本框 31"/>
          <p:cNvSpPr txBox="1"/>
          <p:nvPr/>
        </p:nvSpPr>
        <p:spPr bwMode="auto">
          <a:xfrm>
            <a:off x="8432800" y="22098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5018104" name="文本框 32"/>
          <p:cNvSpPr txBox="1"/>
          <p:nvPr/>
        </p:nvSpPr>
        <p:spPr bwMode="auto">
          <a:xfrm>
            <a:off x="8991600" y="20955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安全运行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8097841" name="文本框 33"/>
          <p:cNvSpPr txBox="1"/>
          <p:nvPr/>
        </p:nvSpPr>
        <p:spPr bwMode="auto">
          <a:xfrm>
            <a:off x="8991600" y="23749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safe Rust + framekernel 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提供更可控的内核服务边界</a:t>
            </a:r>
            <a:endParaRPr lang="zh-CN" sz="1200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1802293932" name="直接连接符 34"/>
          <p:cNvCxnSpPr/>
          <p:nvPr/>
        </p:nvCxnSpPr>
        <p:spPr bwMode="auto">
          <a:xfrm>
            <a:off x="8597900" y="25654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15435307" name="椭圆 35"/>
          <p:cNvSpPr/>
          <p:nvPr/>
        </p:nvSpPr>
        <p:spPr bwMode="auto">
          <a:xfrm>
            <a:off x="8382000" y="30226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19993897" name="文本框 36"/>
          <p:cNvSpPr txBox="1"/>
          <p:nvPr/>
        </p:nvSpPr>
        <p:spPr bwMode="auto">
          <a:xfrm>
            <a:off x="8432800" y="31242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9654427" name="文本框 37"/>
          <p:cNvSpPr txBox="1"/>
          <p:nvPr/>
        </p:nvSpPr>
        <p:spPr bwMode="auto">
          <a:xfrm>
            <a:off x="8991600" y="30099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EXT4 </a:t>
            </a: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语义补齐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0600549" name="文本框 38"/>
          <p:cNvSpPr txBox="1"/>
          <p:nvPr/>
        </p:nvSpPr>
        <p:spPr bwMode="auto">
          <a:xfrm>
            <a:off x="8991600" y="32893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对接</a:t>
            </a:r>
            <a:r>
              <a:rPr lang="en-US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 VFS / PageCache / block device</a:t>
            </a: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，支持真实应用</a:t>
            </a:r>
            <a:endParaRPr lang="zh-CN" sz="1200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746632232" name="直接连接符 39"/>
          <p:cNvCxnSpPr/>
          <p:nvPr/>
        </p:nvCxnSpPr>
        <p:spPr bwMode="auto">
          <a:xfrm>
            <a:off x="8597900" y="34798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276560" name="椭圆 40"/>
          <p:cNvSpPr/>
          <p:nvPr/>
        </p:nvSpPr>
        <p:spPr bwMode="auto">
          <a:xfrm>
            <a:off x="8382000" y="39370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189085223" name="文本框 41"/>
          <p:cNvSpPr txBox="1"/>
          <p:nvPr/>
        </p:nvSpPr>
        <p:spPr bwMode="auto">
          <a:xfrm>
            <a:off x="8432800" y="40386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780625" name="文本框 42"/>
          <p:cNvSpPr txBox="1"/>
          <p:nvPr/>
        </p:nvSpPr>
        <p:spPr bwMode="auto">
          <a:xfrm>
            <a:off x="8991600" y="39243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一致性约束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133923" name="文本框 43"/>
          <p:cNvSpPr txBox="1"/>
          <p:nvPr/>
        </p:nvSpPr>
        <p:spPr bwMode="auto">
          <a:xfrm>
            <a:off x="8991600" y="42037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JBD2 ordered</a:t>
            </a: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、</a:t>
            </a:r>
            <a:r>
              <a:rPr lang="en-US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fsync</a:t>
            </a: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、</a:t>
            </a:r>
            <a:r>
              <a:rPr lang="en-US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recovery </a:t>
            </a: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保证崩溃后可恢复</a:t>
            </a:r>
            <a:endParaRPr lang="zh-CN" sz="1200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587386031" name="直接连接符 44"/>
          <p:cNvCxnSpPr/>
          <p:nvPr/>
        </p:nvCxnSpPr>
        <p:spPr bwMode="auto">
          <a:xfrm>
            <a:off x="8597900" y="43942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7741754" name="椭圆 45"/>
          <p:cNvSpPr/>
          <p:nvPr/>
        </p:nvSpPr>
        <p:spPr bwMode="auto">
          <a:xfrm>
            <a:off x="8382000" y="48514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56639256" name="文本框 46"/>
          <p:cNvSpPr txBox="1"/>
          <p:nvPr/>
        </p:nvSpPr>
        <p:spPr bwMode="auto">
          <a:xfrm>
            <a:off x="8432800" y="49530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1519256" name="文本框 47"/>
          <p:cNvSpPr txBox="1"/>
          <p:nvPr/>
        </p:nvSpPr>
        <p:spPr bwMode="auto">
          <a:xfrm>
            <a:off x="8991600" y="48387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性能路径优化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16164" name="文本框 48"/>
          <p:cNvSpPr txBox="1"/>
          <p:nvPr/>
        </p:nvSpPr>
        <p:spPr bwMode="auto">
          <a:xfrm>
            <a:off x="8991600" y="5118100"/>
            <a:ext cx="26670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200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缓存、日志、锁的优化</a:t>
            </a:r>
            <a:endParaRPr lang="zh-CN" sz="1200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sp>
        <p:nvSpPr>
          <p:cNvPr id="184491102" name="圆角矩形 49"/>
          <p:cNvSpPr/>
          <p:nvPr/>
        </p:nvSpPr>
        <p:spPr bwMode="auto">
          <a:xfrm>
            <a:off x="2794000" y="5186044"/>
            <a:ext cx="3098800" cy="4064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645636005" name="文本框 50"/>
          <p:cNvSpPr txBox="1"/>
          <p:nvPr/>
        </p:nvSpPr>
        <p:spPr bwMode="auto">
          <a:xfrm>
            <a:off x="2819400" y="5209540"/>
            <a:ext cx="2819400" cy="3829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目标：面向</a:t>
            </a:r>
            <a:r>
              <a:rPr lang="en-US" sz="11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 RustOS </a:t>
            </a:r>
            <a:r>
              <a:rPr lang="zh-CN" sz="11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的高性能强一致</a:t>
            </a:r>
            <a:r>
              <a:rPr lang="en-US" sz="11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 EXT4 </a:t>
            </a:r>
            <a:r>
              <a:rPr lang="zh-CN" sz="11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文件系统</a:t>
            </a:r>
            <a:endParaRPr lang="zh-CN" sz="1100" b="1">
              <a:solidFill>
                <a:srgbClr val="0070C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61143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52296680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97848106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0333834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2965169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30409069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750054616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61035398" name="组合 19"/>
          <p:cNvGrpSpPr/>
          <p:nvPr/>
        </p:nvGrpSpPr>
        <p:grpSpPr bwMode="auto">
          <a:xfrm>
            <a:off x="0" y="2175081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3404113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6306022" name="TextBox 24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2.1 项目目标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05774833" name="表格 3"/>
          <p:cNvGraphicFramePr>
            <a:graphicFrameLocks noGrp="1"/>
          </p:cNvGraphicFramePr>
          <p:nvPr/>
        </p:nvGraphicFramePr>
        <p:xfrm>
          <a:off x="2737485" y="1247140"/>
          <a:ext cx="9238615" cy="4562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50"/>
                <a:gridCol w="2533650"/>
                <a:gridCol w="4984115"/>
              </a:tblGrid>
              <a:tr h="44831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完成情况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说明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01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文件系统功能完成度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85%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POSIX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核心接口、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Extent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JBD2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fsync/fdatasync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PageCache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mmap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和并发读写均已实现并通过大量测试。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982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：崩溃恢复一致性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90%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已完成多场景验证。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1379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目标3：与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Linux 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的性能对比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85%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fio O_DIRECT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读写达到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Linux EXT4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90%</a:t>
                      </a:r>
                      <a:r>
                        <a:rPr lang="zh-CN" sz="16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以上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；并发同文件写在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nj=2/4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时达到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Linux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165%/187%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6202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：创新性优化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初步完成（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围绕</a:t>
                      </a:r>
                      <a:r>
                        <a:rPr lang="en-US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Rust </a:t>
                      </a: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语言特性、</a:t>
                      </a:r>
                      <a:r>
                        <a:rPr lang="en-US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Asterinas </a:t>
                      </a: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平台边界以及实际测试中暴露的性能瓶颈开展优化。</a:t>
                      </a:r>
                      <a:endParaRPr sz="1600" b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8920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9872470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6623274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97643837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5525789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038066148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881306159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12494074" name="组合 19"/>
          <p:cNvGrpSpPr/>
          <p:nvPr/>
        </p:nvGrpSpPr>
        <p:grpSpPr bwMode="auto">
          <a:xfrm>
            <a:off x="0" y="2175081"/>
            <a:ext cx="2737505" cy="762000"/>
            <a:chOff x="0" y="772160"/>
            <a:chExt cx="2737505" cy="762000"/>
          </a:xfrm>
        </p:grpSpPr>
        <p:sp>
          <p:nvSpPr>
            <p:cNvPr id="14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1699003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460061" name="TextBox 26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2.2 </a:t>
            </a:r>
            <a:r>
              <a:rPr lang="zh-CN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决赛前瞻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9967577" name="文本框 1"/>
          <p:cNvSpPr txBox="1"/>
          <p:nvPr/>
        </p:nvSpPr>
        <p:spPr bwMode="auto">
          <a:xfrm>
            <a:off x="2737485" y="1062758"/>
            <a:ext cx="7920079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进一步完善</a:t>
            </a:r>
            <a:r>
              <a:rPr 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EXT4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的功能实现与崩溃一致性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完善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revoke block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的生成、去重与写入，补充分配失败场景下的处理，进一步提升崩溃恢复的能力。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推进</a:t>
            </a: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</a:rPr>
              <a:t> xfstests </a:t>
            </a:r>
            <a:r>
              <a:rPr lang="zh-CN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核心功能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全量测试通过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补充测试所需环境和能力，使测试覆盖从核心子集扩展到更完整的全量测试并通过。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优化</a:t>
            </a: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</a:rPr>
              <a:t> SQLite</a:t>
            </a:r>
            <a:r>
              <a:rPr lang="zh-CN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性能</a:t>
            </a: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在保证正确性和可行性的前提下，继续探索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writeback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、脏页节流、空间预留和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delalloc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，缩小真实应用负载与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Linux EXT4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的性能差距。</a:t>
            </a:r>
            <a:endParaRPr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776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92301375" name="文本框 7"/>
          <p:cNvSpPr txBox="1"/>
          <p:nvPr/>
        </p:nvSpPr>
        <p:spPr bwMode="auto">
          <a:xfrm>
            <a:off x="86357" y="1388368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43147360" name="组合 19"/>
          <p:cNvGrpSpPr/>
          <p:nvPr/>
        </p:nvGrpSpPr>
        <p:grpSpPr bwMode="auto">
          <a:xfrm>
            <a:off x="0" y="3062808"/>
            <a:ext cx="2737501" cy="761997"/>
            <a:chOff x="0" y="772157"/>
            <a:chExt cx="2737501" cy="761997"/>
          </a:xfrm>
        </p:grpSpPr>
        <p:sp>
          <p:nvSpPr>
            <p:cNvPr id="1732252265" name="矩形 14"/>
            <p:cNvSpPr/>
            <p:nvPr/>
          </p:nvSpPr>
          <p:spPr bwMode="auto">
            <a:xfrm>
              <a:off x="0" y="772157"/>
              <a:ext cx="2509520" cy="76199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34851169" name="等腰三角形 16"/>
            <p:cNvSpPr/>
            <p:nvPr/>
          </p:nvSpPr>
          <p:spPr bwMode="auto">
            <a:xfrm rot="5400000">
              <a:off x="2491281" y="1039167"/>
              <a:ext cx="264460" cy="227982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85448973" name="文本框 9"/>
          <p:cNvSpPr txBox="1"/>
          <p:nvPr/>
        </p:nvSpPr>
        <p:spPr bwMode="auto">
          <a:xfrm>
            <a:off x="86357" y="3261530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7294970" name="文本框 10"/>
          <p:cNvSpPr txBox="1"/>
          <p:nvPr/>
        </p:nvSpPr>
        <p:spPr bwMode="auto">
          <a:xfrm>
            <a:off x="86357" y="4198113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542410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7" y="5943600"/>
            <a:ext cx="914400" cy="914400"/>
          </a:xfrm>
          <a:prstGeom prst="rect">
            <a:avLst/>
          </a:prstGeom>
        </p:spPr>
      </p:pic>
      <p:pic>
        <p:nvPicPr>
          <p:cNvPr id="146768372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6" y="311328"/>
            <a:ext cx="2256183" cy="414146"/>
          </a:xfrm>
          <a:prstGeom prst="rect">
            <a:avLst/>
          </a:prstGeom>
        </p:spPr>
      </p:pic>
      <p:sp>
        <p:nvSpPr>
          <p:cNvPr id="1921854245" name="文本框 29"/>
          <p:cNvSpPr txBox="1"/>
          <p:nvPr/>
        </p:nvSpPr>
        <p:spPr bwMode="auto">
          <a:xfrm>
            <a:off x="46047" y="5134694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24594420" name="文本框 8"/>
          <p:cNvSpPr txBox="1"/>
          <p:nvPr/>
        </p:nvSpPr>
        <p:spPr bwMode="auto">
          <a:xfrm>
            <a:off x="86357" y="2325584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57232589" name="TextBox 24"/>
          <p:cNvSpPr txBox="1"/>
          <p:nvPr/>
        </p:nvSpPr>
        <p:spPr bwMode="auto">
          <a:xfrm>
            <a:off x="2743200" y="347469"/>
            <a:ext cx="8783280" cy="565150"/>
          </a:xfrm>
          <a:prstGeom prst="rect">
            <a:avLst/>
          </a:prstGeom>
          <a:noFill/>
        </p:spPr>
        <p:txBody>
          <a:bodyPr wrap="square" lIns="25398" rIns="25398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3.1 需求分层与系统边界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3033126" name="TextBox 46"/>
          <p:cNvSpPr txBox="1"/>
          <p:nvPr/>
        </p:nvSpPr>
        <p:spPr bwMode="auto">
          <a:xfrm>
            <a:off x="2788920" y="915408"/>
            <a:ext cx="8483076" cy="2559050"/>
          </a:xfrm>
          <a:prstGeom prst="rect">
            <a:avLst/>
          </a:prstGeom>
          <a:noFill/>
        </p:spPr>
        <p:txBody>
          <a:bodyPr wrap="square" lIns="25398" rIns="25398">
            <a:spAutoFit/>
          </a:bodyPr>
          <a:lstStyle/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把赛题需求自顶向下拆为四层，各层职责单一、边界清晰。</a:t>
            </a:r>
            <a:endParaRPr sz="18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接口层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：向应用提供标准 POSIX 文件语义，是系统对外的功能边界。</a:t>
            </a:r>
            <a:endParaRPr sz="18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格式层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：定义并管理 EXT4 盘上的数据布局与空间分配。</a:t>
            </a:r>
            <a:endParaRPr sz="18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一致性层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：用 JBD2 事务约束元数据修改，保证崩溃后强一致。</a:t>
            </a:r>
            <a:endParaRPr sz="18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性能层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：在保证正确性的前提下，围绕缓存与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I/O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路径做优化。</a:t>
            </a:r>
            <a:endParaRPr sz="18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795"/>
              </a:spcAft>
              <a:defRPr/>
            </a:pPr>
            <a:r>
              <a:rPr lang="zh-CN" sz="1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系统边界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：向上对接 Asterinas VFS，向下对接块设备。</a:t>
            </a:r>
            <a:endParaRPr lang="zh-CN" sz="180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499037850" name="图片 92830737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3661603" y="3824368"/>
            <a:ext cx="6095998" cy="2608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14191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438374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8807363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4267194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201181694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43396252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031664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94136190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1862428904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8160985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40593101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39834946" name="TextBox 43"/>
          <p:cNvSpPr txBox="1"/>
          <p:nvPr/>
        </p:nvSpPr>
        <p:spPr bwMode="auto">
          <a:xfrm>
            <a:off x="2743200" y="347471"/>
            <a:ext cx="878076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运行时核心 Ext4Fs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38894479" name="Fac0"/>
          <p:cNvSpPr/>
          <p:nvPr/>
        </p:nvSpPr>
        <p:spPr bwMode="auto">
          <a:xfrm>
            <a:off x="2743198" y="974047"/>
            <a:ext cx="5050000" cy="720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</p:spPr>
        <p:txBody>
          <a:bodyPr wrap="square" lIns="199999" tIns="45720" rIns="199999" bIns="45720" anchor="ctr"/>
          <a:lstStyle/>
          <a:p>
            <a:pPr algn="l">
              <a:spcAft>
                <a:spcPts val="200"/>
              </a:spcAft>
              <a:defRPr/>
            </a:pPr>
            <a:r>
              <a:rPr lang="zh-CN" sz="135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核心数据操作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05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inode · 目录 · Extent · 空间分配</a:t>
            </a:r>
            <a:endParaRPr lang="zh-CN" sz="105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4095632" name="Mod0"/>
          <p:cNvSpPr/>
          <p:nvPr/>
        </p:nvSpPr>
        <p:spPr bwMode="auto">
          <a:xfrm>
            <a:off x="8093199" y="974047"/>
            <a:ext cx="3428240" cy="7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defRPr/>
            </a:pP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文件读写流程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86486739" name="Fac1"/>
          <p:cNvSpPr/>
          <p:nvPr/>
        </p:nvSpPr>
        <p:spPr bwMode="auto">
          <a:xfrm>
            <a:off x="2743198" y="2128339"/>
            <a:ext cx="5050000" cy="720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</p:spPr>
        <p:txBody>
          <a:bodyPr wrap="square" lIns="199999" tIns="45720" rIns="199999" bIns="45720" anchor="ctr"/>
          <a:lstStyle/>
          <a:p>
            <a:pPr algn="l">
              <a:spcAft>
                <a:spcPts val="200"/>
              </a:spcAft>
              <a:defRPr/>
            </a:pPr>
            <a:r>
              <a:rPr lang="zh-CN" sz="135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JBD2 运行时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05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事务 overlay · 提交 · 恢复</a:t>
            </a:r>
            <a:endParaRPr lang="zh-CN" sz="105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6595467" name="Mod1"/>
          <p:cNvSpPr/>
          <p:nvPr/>
        </p:nvSpPr>
        <p:spPr bwMode="auto">
          <a:xfrm>
            <a:off x="8093199" y="2128339"/>
            <a:ext cx="3428240" cy="7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defRPr/>
            </a:pP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崩溃一致性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26356162" name="Fac2"/>
          <p:cNvSpPr/>
          <p:nvPr/>
        </p:nvSpPr>
        <p:spPr bwMode="auto">
          <a:xfrm>
            <a:off x="2743198" y="3261532"/>
            <a:ext cx="5050000" cy="720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</p:spPr>
        <p:txBody>
          <a:bodyPr wrap="square" lIns="199999" tIns="45720" rIns="199999" bIns="45720" anchor="ctr"/>
          <a:lstStyle/>
          <a:p>
            <a:pPr algn="l">
              <a:spcAft>
                <a:spcPts val="200"/>
              </a:spcAft>
              <a:defRPr/>
            </a:pPr>
            <a:r>
              <a:rPr lang="zh-CN" sz="135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并发边界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05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inode · dir · checkpoint 锁序</a:t>
            </a:r>
            <a:endParaRPr lang="zh-CN" sz="105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821531" name="Mod2"/>
          <p:cNvSpPr/>
          <p:nvPr/>
        </p:nvSpPr>
        <p:spPr bwMode="auto">
          <a:xfrm>
            <a:off x="8093199" y="3261532"/>
            <a:ext cx="3428240" cy="7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defRPr/>
            </a:pP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并发一致性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01169215" name="Fac3"/>
          <p:cNvSpPr/>
          <p:nvPr/>
        </p:nvSpPr>
        <p:spPr bwMode="auto">
          <a:xfrm>
            <a:off x="2743198" y="4428300"/>
            <a:ext cx="5050000" cy="720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</p:spPr>
        <p:txBody>
          <a:bodyPr wrap="square" lIns="199999" tIns="45720" rIns="199999" bIns="45720" anchor="ctr"/>
          <a:lstStyle/>
          <a:p>
            <a:pPr algn="l">
              <a:spcAft>
                <a:spcPts val="200"/>
              </a:spcAft>
              <a:defRPr/>
            </a:pPr>
            <a:r>
              <a:rPr lang="zh-CN" sz="135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缓存体系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05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PageCache · 映射 · 设备块缓存</a:t>
            </a:r>
            <a:endParaRPr lang="zh-CN" sz="105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5402358" name="Mod3"/>
          <p:cNvSpPr/>
          <p:nvPr/>
        </p:nvSpPr>
        <p:spPr bwMode="auto">
          <a:xfrm>
            <a:off x="8093199" y="4428300"/>
            <a:ext cx="3428240" cy="7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defRPr/>
            </a:pP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缓存一致性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533841726" name="Fac4"/>
          <p:cNvSpPr/>
          <p:nvPr/>
        </p:nvSpPr>
        <p:spPr bwMode="auto">
          <a:xfrm>
            <a:off x="2743200" y="5583600"/>
            <a:ext cx="5050000" cy="720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</p:spPr>
        <p:txBody>
          <a:bodyPr wrap="square" lIns="199999" tIns="45720" rIns="199999" bIns="45720" anchor="ctr"/>
          <a:lstStyle/>
          <a:p>
            <a:pPr algn="l">
              <a:spcAft>
                <a:spcPts val="200"/>
              </a:spcAft>
              <a:defRPr/>
            </a:pPr>
            <a:r>
              <a:rPr lang="zh-CN" sz="135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可观测性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05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direct · buffered · journaled profiling</a:t>
            </a:r>
            <a:endParaRPr lang="zh-CN" sz="105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9054403" name="Mod4"/>
          <p:cNvSpPr/>
          <p:nvPr/>
        </p:nvSpPr>
        <p:spPr bwMode="auto">
          <a:xfrm>
            <a:off x="8093199" y="5583600"/>
            <a:ext cx="3428240" cy="7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algn="ctr">
              <a:defRPr/>
            </a:pP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3.</a:t>
            </a:r>
            <a:r>
              <a:rPr lang="en-US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r>
              <a:rPr lang="zh-CN"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性能优化</a:t>
            </a:r>
            <a:endParaRPr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03208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9240574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58802933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15630510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67717365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770280684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05461433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92018690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949635408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6244413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26858237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22487662" name="TextBox 43"/>
          <p:cNvSpPr txBox="1"/>
          <p:nvPr/>
        </p:nvSpPr>
        <p:spPr bwMode="auto">
          <a:xfrm>
            <a:off x="2743200" y="347471"/>
            <a:ext cx="877968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文件读写基本流程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918968" name="L7001"/>
          <p:cNvSpPr/>
          <p:nvPr/>
        </p:nvSpPr>
        <p:spPr bwMode="auto">
          <a:xfrm>
            <a:off x="2743200" y="1179999"/>
            <a:ext cx="1280160" cy="320040"/>
          </a:xfrm>
          <a:prstGeom prst="roundRect">
            <a:avLst>
              <a:gd name="adj" fmla="val 25000"/>
            </a:avLst>
          </a:prstGeom>
          <a:solidFill>
            <a:srgbClr val="1D50A2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zh-CN" sz="1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写流程 WRITE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97690211" name="S7100"/>
          <p:cNvSpPr/>
          <p:nvPr/>
        </p:nvSpPr>
        <p:spPr bwMode="auto">
          <a:xfrm>
            <a:off x="2743200" y="155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EAF0F8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应用 write()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发起写请求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51225472" name="A7101"/>
          <p:cNvSpPr/>
          <p:nvPr/>
        </p:nvSpPr>
        <p:spPr bwMode="auto">
          <a:xfrm>
            <a:off x="4264848" y="1980000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36690676" name="S7102"/>
          <p:cNvSpPr/>
          <p:nvPr/>
        </p:nvSpPr>
        <p:spPr bwMode="auto">
          <a:xfrm>
            <a:off x="4554847" y="155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EAF0F8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VFS → Ext4Fs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进入文件系统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8381256" name="A7103"/>
          <p:cNvSpPr/>
          <p:nvPr/>
        </p:nvSpPr>
        <p:spPr bwMode="auto">
          <a:xfrm>
            <a:off x="6076495" y="1980000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3419871" name="S7104"/>
          <p:cNvSpPr/>
          <p:nvPr/>
        </p:nvSpPr>
        <p:spPr bwMode="auto">
          <a:xfrm>
            <a:off x="6366495" y="155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EAF0F8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写入 PageCache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buffered 脏页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1745072" name="A7105"/>
          <p:cNvSpPr/>
          <p:nvPr/>
        </p:nvSpPr>
        <p:spPr bwMode="auto">
          <a:xfrm>
            <a:off x="7888143" y="1980000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074309" name="S7106"/>
          <p:cNvSpPr/>
          <p:nvPr/>
        </p:nvSpPr>
        <p:spPr bwMode="auto">
          <a:xfrm>
            <a:off x="8178144" y="155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EAF0F8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事务入口分配块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Extent 树插入/合并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6838990" name="A7107"/>
          <p:cNvSpPr/>
          <p:nvPr/>
        </p:nvSpPr>
        <p:spPr bwMode="auto">
          <a:xfrm>
            <a:off x="9699792" y="1980000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28887698" name="S7108"/>
          <p:cNvSpPr/>
          <p:nvPr/>
        </p:nvSpPr>
        <p:spPr bwMode="auto">
          <a:xfrm>
            <a:off x="9989790" y="155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EAF0F8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1D5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回写落盘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数据落盘 + JBD2 提交元数据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9373627" name="L7002"/>
          <p:cNvSpPr/>
          <p:nvPr/>
        </p:nvSpPr>
        <p:spPr bwMode="auto">
          <a:xfrm>
            <a:off x="2743200" y="3060000"/>
            <a:ext cx="1280160" cy="32004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zh-CN" sz="1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读流程 READ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925488917" name="S7200"/>
          <p:cNvSpPr/>
          <p:nvPr/>
        </p:nvSpPr>
        <p:spPr bwMode="auto">
          <a:xfrm>
            <a:off x="2743200" y="343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应用 read()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发起读请求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02691645" name="A7201"/>
          <p:cNvSpPr/>
          <p:nvPr/>
        </p:nvSpPr>
        <p:spPr bwMode="auto">
          <a:xfrm>
            <a:off x="4264848" y="3859999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E0A6A6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50834" name="S7202"/>
          <p:cNvSpPr/>
          <p:nvPr/>
        </p:nvSpPr>
        <p:spPr bwMode="auto">
          <a:xfrm>
            <a:off x="4554847" y="343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VFS → Ext4Fs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进入文件系统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2952144" name="A7203"/>
          <p:cNvSpPr/>
          <p:nvPr/>
        </p:nvSpPr>
        <p:spPr bwMode="auto">
          <a:xfrm>
            <a:off x="6076495" y="3859999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E0A6A6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14759250" name="S7204"/>
          <p:cNvSpPr/>
          <p:nvPr/>
        </p:nvSpPr>
        <p:spPr bwMode="auto">
          <a:xfrm>
            <a:off x="6366495" y="343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查 PageCache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命中即返回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44866707" name="A7205"/>
          <p:cNvSpPr/>
          <p:nvPr/>
        </p:nvSpPr>
        <p:spPr bwMode="auto">
          <a:xfrm>
            <a:off x="7888143" y="3859999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E0A6A6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62022917" name="S7206"/>
          <p:cNvSpPr/>
          <p:nvPr/>
        </p:nvSpPr>
        <p:spPr bwMode="auto">
          <a:xfrm>
            <a:off x="8178144" y="343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未命中查 Extent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定位物理块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93548529" name="A7207"/>
          <p:cNvSpPr/>
          <p:nvPr/>
        </p:nvSpPr>
        <p:spPr bwMode="auto">
          <a:xfrm>
            <a:off x="9699792" y="3859999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E0A6A6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2188766" name="S7208"/>
          <p:cNvSpPr/>
          <p:nvPr/>
        </p:nvSpPr>
        <p:spPr bwMode="auto">
          <a:xfrm>
            <a:off x="9989790" y="3439999"/>
            <a:ext cx="1531647" cy="1019999"/>
          </a:xfrm>
          <a:prstGeom prst="roundRect">
            <a:avLst>
              <a:gd name="adj" fmla="val 9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spcAft>
                <a:spcPts val="200"/>
              </a:spcAft>
              <a:defRPr/>
            </a:pPr>
            <a:r>
              <a:rPr lang="zh-CN" sz="1200" b="1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块设备读入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lang="zh-CN" sz="95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填充缓存并返回</a:t>
            </a:r>
            <a:endParaRPr lang="zh-CN" sz="95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44588167" name="文本框 124990715"/>
          <p:cNvSpPr txBox="1"/>
          <p:nvPr/>
        </p:nvSpPr>
        <p:spPr bwMode="auto">
          <a:xfrm>
            <a:off x="2743200" y="4817540"/>
            <a:ext cx="8782558" cy="9988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lang="zh-CN" sz="18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Extent 树统一完成逻辑块↔物理块映射，连续区间合并降低碎片与查找开销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unwritten 区间读返回零，防止未初始化数据泄露；写入时再转为 written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spcAft>
                <a:spcPts val="300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O_DIRECT 绕过 PageCache，按 Extent 映射直接提交 bio</a:t>
            </a:r>
            <a:endParaRPr lang="zh-CN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53284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2482684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24186141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609554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2145179575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1006796647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631056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38936568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2006302216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7539272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40954974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6771397" name="TextBox 43"/>
          <p:cNvSpPr txBox="1"/>
          <p:nvPr/>
        </p:nvSpPr>
        <p:spPr bwMode="auto">
          <a:xfrm>
            <a:off x="2743200" y="347471"/>
            <a:ext cx="878040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崩溃一致性 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10910429" name="CardTx"/>
          <p:cNvSpPr/>
          <p:nvPr/>
        </p:nvSpPr>
        <p:spPr bwMode="auto">
          <a:xfrm>
            <a:off x="2893199" y="3884883"/>
            <a:ext cx="4137617" cy="1479999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</p:spPr>
        <p:txBody>
          <a:bodyPr wrap="square" lIns="182880" tIns="54864" rIns="182880" bIns="54864" anchor="t"/>
          <a:lstStyle/>
          <a:p>
            <a:pPr algn="l">
              <a:spcAft>
                <a:spcPts val="300"/>
              </a:spcAft>
              <a:defRPr/>
            </a:pPr>
            <a:r>
              <a:rPr lang="zh-CN"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事务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一组相关元数据修改封装进同一事务（handle），要么整体生效、要么整体回滚；</a:t>
            </a:r>
            <a:endParaRPr sz="14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统一入口登记修改范围与事务号，杜绝半完成的中间状态。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86509479" name="CardFsync"/>
          <p:cNvSpPr/>
          <p:nvPr/>
        </p:nvSpPr>
        <p:spPr bwMode="auto">
          <a:xfrm>
            <a:off x="7500264" y="3887423"/>
            <a:ext cx="4167126" cy="1479999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>
            <a:noFill/>
          </a:ln>
        </p:spPr>
        <p:txBody>
          <a:bodyPr wrap="square" lIns="182880" tIns="54864" rIns="182880" bIns="54864" anchor="t"/>
          <a:lstStyle/>
          <a:p>
            <a:pPr algn="l">
              <a:spcAft>
                <a:spcPts val="300"/>
              </a:spcAft>
              <a:defRPr/>
            </a:pPr>
            <a:r>
              <a:rPr lang="zh-CN"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fsync 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defRPr/>
            </a:pPr>
            <a:r>
              <a:rPr 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它会等待相关脏页写回磁盘，并等对应的日志事务提交完成。只有</a:t>
            </a:r>
            <a:r>
              <a:rPr lang="en-US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fsync </a:t>
            </a:r>
            <a:r>
              <a:rPr 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返回成功后，系统才认为这部分数据在崩溃后也应该能够恢复。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05585268" name="文本框 979678908"/>
          <p:cNvSpPr txBox="1"/>
          <p:nvPr/>
        </p:nvSpPr>
        <p:spPr bwMode="auto">
          <a:xfrm>
            <a:off x="2817269" y="5826303"/>
            <a:ext cx="7906618" cy="3683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zh-CN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二者共同支撑崩溃一致性，并为崩溃恢复测试提供依据。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98264963" name=" 2002752207"/>
          <p:cNvSpPr/>
          <p:nvPr/>
        </p:nvSpPr>
        <p:spPr bwMode="auto">
          <a:xfrm>
            <a:off x="2816550" y="1143583"/>
            <a:ext cx="3279807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800" b="1" i="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元数据修改的事务提交流程</a:t>
            </a:r>
            <a:endParaRPr sz="2400" b="1" u="sng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10111922" name="图片 79142635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733199" y="1772285"/>
            <a:ext cx="8977964" cy="16567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54499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39254478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52619070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5960193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9219705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008348051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396190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95525303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865200169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1751616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24348148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08461074" name="TextBox 43"/>
          <p:cNvSpPr txBox="1"/>
          <p:nvPr/>
        </p:nvSpPr>
        <p:spPr bwMode="auto">
          <a:xfrm>
            <a:off x="2743200" y="347471"/>
            <a:ext cx="877968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崩溃一致性 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14596642" name="TextBox 65"/>
          <p:cNvSpPr txBox="1"/>
          <p:nvPr/>
        </p:nvSpPr>
        <p:spPr bwMode="auto">
          <a:xfrm>
            <a:off x="2813560" y="3999619"/>
            <a:ext cx="8360170" cy="1851660"/>
          </a:xfrm>
          <a:prstGeom prst="rect">
            <a:avLst/>
          </a:prstGeom>
          <a:noFill/>
        </p:spPr>
        <p:txBody>
          <a:bodyPr wrap="square" lIns="25398" rIns="25398">
            <a:spAutoFit/>
          </a:bodyPr>
          <a:lstStyle/>
          <a:p>
            <a:pPr>
              <a:defRPr/>
            </a:pPr>
            <a:r>
              <a:rPr lang="zh-CN" sz="18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建模：ordered 模式下数据块先直接落盘、只有元数据进 journal，降低日志开销。</a:t>
            </a:r>
            <a:endParaRPr sz="1800" b="0" i="0" u="none" strike="noStrike" cap="none" spc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提交：先持久化 descriptor 与元数据，再写 commit block。</a:t>
            </a:r>
            <a:endParaRPr lang="zh-CN" sz="180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恢复：崩溃重启时扫描日志，只重放带完整 commit block 的事务，未写完的一律丢弃。</a:t>
            </a:r>
            <a:endParaRPr sz="1800" b="0" i="0" u="none" strike="noStrike" cap="none" spc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回收：已提交事务进入 checkpoint 队列，异步将元数据写回 home 位置并释放日志空间。</a:t>
            </a:r>
            <a:endParaRPr lang="zh-CN" sz="180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68008184" name=" 2002752207"/>
          <p:cNvSpPr/>
          <p:nvPr/>
        </p:nvSpPr>
        <p:spPr bwMode="auto">
          <a:xfrm>
            <a:off x="2816550" y="1143582"/>
            <a:ext cx="3280887" cy="39213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lang="zh-CN" sz="1800" b="1" i="0" u="sng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JBD2 ordered 模式提交顺序</a:t>
            </a:r>
            <a:endParaRPr lang="zh-CN" sz="1800" b="1" i="0" u="sng" strike="noStrike" cap="non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787020133" name="图片 17870201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3205250" y="1956794"/>
            <a:ext cx="7576788" cy="165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160706" name="Rounded Rectangle 50"/>
          <p:cNvSpPr/>
          <p:nvPr/>
        </p:nvSpPr>
        <p:spPr bwMode="auto">
          <a:xfrm>
            <a:off x="9444512" y="5080019"/>
            <a:ext cx="2271828" cy="8011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988526" name="Rounded Rectangle 50"/>
          <p:cNvSpPr/>
          <p:nvPr/>
        </p:nvSpPr>
        <p:spPr bwMode="auto">
          <a:xfrm>
            <a:off x="9444512" y="3894826"/>
            <a:ext cx="2271828" cy="8011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10172689" name="Rounded Rectangle 50"/>
          <p:cNvSpPr/>
          <p:nvPr/>
        </p:nvSpPr>
        <p:spPr bwMode="auto">
          <a:xfrm>
            <a:off x="9444512" y="2709633"/>
            <a:ext cx="2271828" cy="8011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24240808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2692788" name="文本框 7"/>
          <p:cNvSpPr txBox="1"/>
          <p:nvPr/>
        </p:nvSpPr>
        <p:spPr bwMode="auto">
          <a:xfrm>
            <a:off x="86358" y="1388369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7852480" name="文本框 10"/>
          <p:cNvSpPr txBox="1"/>
          <p:nvPr/>
        </p:nvSpPr>
        <p:spPr bwMode="auto">
          <a:xfrm>
            <a:off x="86358" y="4198113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07357641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8" y="5943600"/>
            <a:ext cx="914400" cy="914400"/>
          </a:xfrm>
          <a:prstGeom prst="rect">
            <a:avLst/>
          </a:prstGeom>
        </p:spPr>
      </p:pic>
      <p:pic>
        <p:nvPicPr>
          <p:cNvPr id="1566109520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6" y="311328"/>
            <a:ext cx="2256183" cy="414147"/>
          </a:xfrm>
          <a:prstGeom prst="rect">
            <a:avLst/>
          </a:prstGeom>
        </p:spPr>
      </p:pic>
      <p:sp>
        <p:nvSpPr>
          <p:cNvPr id="1583498255" name="文本框 29"/>
          <p:cNvSpPr txBox="1"/>
          <p:nvPr/>
        </p:nvSpPr>
        <p:spPr bwMode="auto">
          <a:xfrm>
            <a:off x="46048" y="5134695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21151296" name="文本框 8"/>
          <p:cNvSpPr txBox="1"/>
          <p:nvPr/>
        </p:nvSpPr>
        <p:spPr bwMode="auto">
          <a:xfrm>
            <a:off x="86358" y="2325585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08513245" name="组合 19"/>
          <p:cNvGrpSpPr/>
          <p:nvPr/>
        </p:nvGrpSpPr>
        <p:grpSpPr bwMode="auto">
          <a:xfrm>
            <a:off x="0" y="3110994"/>
            <a:ext cx="2737502" cy="761998"/>
            <a:chOff x="0" y="772158"/>
            <a:chExt cx="2737502" cy="761998"/>
          </a:xfrm>
        </p:grpSpPr>
        <p:sp>
          <p:nvSpPr>
            <p:cNvPr id="1452730168" name="矩形 14"/>
            <p:cNvSpPr/>
            <p:nvPr/>
          </p:nvSpPr>
          <p:spPr bwMode="auto">
            <a:xfrm>
              <a:off x="0" y="772158"/>
              <a:ext cx="2509520" cy="7619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8989341" name="等腰三角形 16"/>
            <p:cNvSpPr/>
            <p:nvPr/>
          </p:nvSpPr>
          <p:spPr bwMode="auto">
            <a:xfrm rot="5400000">
              <a:off x="2491281" y="1039167"/>
              <a:ext cx="264461" cy="227983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23957009" name="文本框 9"/>
          <p:cNvSpPr txBox="1"/>
          <p:nvPr/>
        </p:nvSpPr>
        <p:spPr bwMode="auto">
          <a:xfrm>
            <a:off x="86358" y="3261531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1679592" name="TextBox 43"/>
          <p:cNvSpPr txBox="1"/>
          <p:nvPr/>
        </p:nvSpPr>
        <p:spPr bwMode="auto">
          <a:xfrm>
            <a:off x="2743200" y="347469"/>
            <a:ext cx="8832238" cy="565150"/>
          </a:xfrm>
          <a:prstGeom prst="rect">
            <a:avLst/>
          </a:prstGeom>
          <a:noFill/>
        </p:spPr>
        <p:txBody>
          <a:bodyPr wrap="square" lIns="25398" rIns="25398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并发一致性 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4718374" name=" 1239990778"/>
          <p:cNvSpPr/>
          <p:nvPr/>
        </p:nvSpPr>
        <p:spPr bwMode="auto">
          <a:xfrm>
            <a:off x="2711639" y="976708"/>
            <a:ext cx="6328927" cy="8695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问题：</a:t>
            </a:r>
            <a:endParaRPr sz="1600" b="1" i="0" u="none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6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6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多线程 fio 并发写同一文件时，若所有写入都持有 inode 独占锁，设备 I/O 等待会被串行化。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85846309" name=" 454400369"/>
          <p:cNvSpPr/>
          <p:nvPr/>
        </p:nvSpPr>
        <p:spPr bwMode="auto">
          <a:xfrm>
            <a:off x="2739960" y="2090323"/>
            <a:ext cx="2596453" cy="84644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共享锁成立条件：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6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6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page_cache = 0                       </a:t>
            </a:r>
            <a:br>
              <a:rPr lang="zh-CN" sz="16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zh-CN" sz="16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16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已建立稳定 Extent 映射            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584053622" name="Rounded Rectangle 50"/>
          <p:cNvSpPr/>
          <p:nvPr/>
        </p:nvSpPr>
        <p:spPr bwMode="auto">
          <a:xfrm>
            <a:off x="9444512" y="1524440"/>
            <a:ext cx="2271830" cy="8011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63951757" name=" 1797634510"/>
          <p:cNvSpPr/>
          <p:nvPr/>
        </p:nvSpPr>
        <p:spPr bwMode="auto">
          <a:xfrm>
            <a:off x="9599981" y="1741953"/>
            <a:ext cx="1961608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O_DIRECT write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0855603" name=" 1623347211"/>
          <p:cNvSpPr/>
          <p:nvPr/>
        </p:nvSpPr>
        <p:spPr bwMode="auto">
          <a:xfrm>
            <a:off x="9548192" y="2942685"/>
            <a:ext cx="2168867" cy="39213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获取 inode 共享锁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4845491" name=" 1760994512"/>
          <p:cNvSpPr/>
          <p:nvPr/>
        </p:nvSpPr>
        <p:spPr bwMode="auto">
          <a:xfrm>
            <a:off x="9548192" y="3975179"/>
            <a:ext cx="2166526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判断是否为稳定覆盖写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79663171" name=" 1693630586"/>
          <p:cNvSpPr/>
          <p:nvPr/>
        </p:nvSpPr>
        <p:spPr bwMode="auto">
          <a:xfrm>
            <a:off x="9649932" y="5160372"/>
            <a:ext cx="1963047" cy="66645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共享锁下提交 direct bio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37238053" name="文本框 1668563326"/>
          <p:cNvSpPr txBox="1"/>
          <p:nvPr/>
        </p:nvSpPr>
        <p:spPr bwMode="auto">
          <a:xfrm>
            <a:off x="9387339" y="1056407"/>
            <a:ext cx="228376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45" indent="-283845">
              <a:buFont typeface="Wingdings" panose="05000000000000000000"/>
              <a:buChar char="Ø"/>
              <a:defRPr/>
            </a:pPr>
            <a:r>
              <a:rPr b="1" u="sng">
                <a:latin typeface="Arial" panose="020B0604020202020204"/>
                <a:ea typeface="Arial" panose="020B0604020202020204"/>
                <a:cs typeface="Arial" panose="020B0604020202020204"/>
              </a:rPr>
              <a:t>实现路径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58752680" name="文本框 1687101705"/>
          <p:cNvSpPr txBox="1"/>
          <p:nvPr/>
        </p:nvSpPr>
        <p:spPr bwMode="auto">
          <a:xfrm>
            <a:off x="5735676" y="2325585"/>
            <a:ext cx="3305610" cy="617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zh-CN" sz="16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6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纯覆盖已有 written extent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600" b="0" i="0" u="none" strike="noStrike" cap="none" spc="0">
                <a:solidFill>
                  <a:srgbClr val="2D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lang="zh-CN" sz="1600" b="0" i="0" u="none" strike="noStrike" cap="non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不追加、不填洞、不分配新块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301375403" name=" 54166607"/>
          <p:cNvSpPr/>
          <p:nvPr/>
        </p:nvSpPr>
        <p:spPr bwMode="auto">
          <a:xfrm>
            <a:off x="2865695" y="5992673"/>
            <a:ext cx="8062605" cy="66645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只让“不改变文件结构”的 O_DIRECT 覆盖写走共享锁；所有可能改变映射、目录关系或持久化状态的操作仍使用独占锁。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9779342" name="A7101"/>
          <p:cNvSpPr/>
          <p:nvPr/>
        </p:nvSpPr>
        <p:spPr bwMode="auto">
          <a:xfrm rot="5400000">
            <a:off x="10403471" y="2436015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9334113" name="A7101"/>
          <p:cNvSpPr/>
          <p:nvPr/>
        </p:nvSpPr>
        <p:spPr bwMode="auto">
          <a:xfrm rot="5400000">
            <a:off x="10403471" y="3631905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70876510" name="A7101"/>
          <p:cNvSpPr/>
          <p:nvPr/>
        </p:nvSpPr>
        <p:spPr bwMode="auto">
          <a:xfrm rot="5400000">
            <a:off x="10403471" y="4812004"/>
            <a:ext cx="299999" cy="18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FB4D4"/>
          </a:solidFill>
          <a:ln>
            <a:noFill/>
          </a:ln>
        </p:spPr>
        <p:txBody>
          <a:bodyPr/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779885958" name="图片 2" descr="ChatGPT Image 2026年6月26日 18_09_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865755" y="2924810"/>
            <a:ext cx="5683885" cy="290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87412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55736908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09550999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6116376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100647947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1945208993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4982213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88484143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1837278609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3103267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44125684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16731353" name="TextBox 43"/>
          <p:cNvSpPr txBox="1"/>
          <p:nvPr/>
        </p:nvSpPr>
        <p:spPr bwMode="auto">
          <a:xfrm>
            <a:off x="2743200" y="347470"/>
            <a:ext cx="878220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缓存一致性 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55496891" name="Rounded Rectangle 46"/>
          <p:cNvSpPr/>
          <p:nvPr/>
        </p:nvSpPr>
        <p:spPr bwMode="auto">
          <a:xfrm>
            <a:off x="8762577" y="1044771"/>
            <a:ext cx="2560320" cy="11552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29031944" name="Rectangle 47"/>
          <p:cNvSpPr/>
          <p:nvPr/>
        </p:nvSpPr>
        <p:spPr bwMode="auto">
          <a:xfrm>
            <a:off x="8743749" y="1044771"/>
            <a:ext cx="73152" cy="1155248"/>
          </a:xfrm>
          <a:prstGeom prst="rect">
            <a:avLst/>
          </a:prstGeom>
          <a:solidFill>
            <a:srgbClr val="205BA3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73497463" name="TextBox 48"/>
          <p:cNvSpPr txBox="1"/>
          <p:nvPr/>
        </p:nvSpPr>
        <p:spPr bwMode="auto">
          <a:xfrm>
            <a:off x="8899557" y="1154499"/>
            <a:ext cx="2287440" cy="367107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zh-CN" sz="1500" b="1" i="0" u="none" strike="noStrike" cap="none" spc="0">
                <a:solidFill>
                  <a:srgbClr val="205B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PageCache/mmap 统一</a:t>
            </a:r>
            <a:endParaRPr sz="1500" b="1">
              <a:solidFill>
                <a:srgbClr val="205BA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3455071" name="TextBox 49"/>
          <p:cNvSpPr txBox="1"/>
          <p:nvPr/>
        </p:nvSpPr>
        <p:spPr bwMode="auto">
          <a:xfrm>
            <a:off x="8926629" y="1585804"/>
            <a:ext cx="2271309" cy="508933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>
              <a:defRPr/>
            </a:pPr>
            <a:r>
              <a:rPr lang="zh-CN" sz="125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buffered 与 mmap 共享同一批页,双向可见、无多份副本</a:t>
            </a:r>
            <a:endParaRPr lang="zh-CN" sz="125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7928774" name="Rounded Rectangle 50"/>
          <p:cNvSpPr/>
          <p:nvPr/>
        </p:nvSpPr>
        <p:spPr bwMode="auto">
          <a:xfrm>
            <a:off x="8756493" y="2521408"/>
            <a:ext cx="2560320" cy="11028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2160210" name="Rectangle 51"/>
          <p:cNvSpPr/>
          <p:nvPr/>
        </p:nvSpPr>
        <p:spPr bwMode="auto">
          <a:xfrm>
            <a:off x="8756493" y="2521408"/>
            <a:ext cx="73152" cy="1102816"/>
          </a:xfrm>
          <a:prstGeom prst="rect">
            <a:avLst/>
          </a:prstGeom>
          <a:solidFill>
            <a:srgbClr val="389253"/>
          </a:solidFill>
          <a:ln>
            <a:solidFill>
              <a:srgbClr val="389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642893377" name="TextBox 52"/>
          <p:cNvSpPr txBox="1"/>
          <p:nvPr/>
        </p:nvSpPr>
        <p:spPr bwMode="auto">
          <a:xfrm>
            <a:off x="8921084" y="2631136"/>
            <a:ext cx="2287080" cy="367107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zh-CN" sz="1500" b="1" i="0" u="none" strike="noStrike" cap="none" spc="0">
                <a:solidFill>
                  <a:srgbClr val="38925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改后即失效</a:t>
            </a:r>
            <a:endParaRPr sz="1500" b="1">
              <a:solidFill>
                <a:srgbClr val="38925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8437865" name="TextBox 53"/>
          <p:cNvSpPr txBox="1"/>
          <p:nvPr/>
        </p:nvSpPr>
        <p:spPr bwMode="auto">
          <a:xfrm>
            <a:off x="8921082" y="3025132"/>
            <a:ext cx="2271669" cy="508933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>
              <a:defRPr/>
            </a:pPr>
            <a:r>
              <a:rPr lang="zh-CN" sz="125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Extent映射/stat/Written</a:t>
            </a:r>
            <a:endParaRPr sz="1250" b="0" i="0" u="none" strike="noStrike" cap="none" spc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25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一改即失效,统一入口触发</a:t>
            </a:r>
            <a:endParaRPr lang="zh-CN" sz="125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4127517" name="Rounded Rectangle 54"/>
          <p:cNvSpPr/>
          <p:nvPr/>
        </p:nvSpPr>
        <p:spPr bwMode="auto">
          <a:xfrm>
            <a:off x="8772981" y="4018407"/>
            <a:ext cx="256032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83688720" name="Rectangle 55"/>
          <p:cNvSpPr/>
          <p:nvPr/>
        </p:nvSpPr>
        <p:spPr bwMode="auto">
          <a:xfrm>
            <a:off x="8772981" y="4018407"/>
            <a:ext cx="73152" cy="1234440"/>
          </a:xfrm>
          <a:prstGeom prst="rect">
            <a:avLst/>
          </a:prstGeom>
          <a:solidFill>
            <a:srgbClr val="EE8926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029818949" name="TextBox 56"/>
          <p:cNvSpPr txBox="1"/>
          <p:nvPr/>
        </p:nvSpPr>
        <p:spPr bwMode="auto">
          <a:xfrm>
            <a:off x="8937573" y="4128135"/>
            <a:ext cx="2287440" cy="34326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zh-CN" sz="1500" b="1" i="0" u="none" strike="noStrike" cap="none" spc="0">
                <a:solidFill>
                  <a:srgbClr val="EE89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缓存边界隔离</a:t>
            </a:r>
            <a:endParaRPr sz="1500" b="1">
              <a:solidFill>
                <a:srgbClr val="EE892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52397536" name="TextBox 57"/>
          <p:cNvSpPr txBox="1"/>
          <p:nvPr/>
        </p:nvSpPr>
        <p:spPr bwMode="auto">
          <a:xfrm>
            <a:off x="8937573" y="4471395"/>
            <a:ext cx="2270589" cy="699432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>
              <a:defRPr/>
            </a:pPr>
            <a:r>
              <a:rPr lang="zh-CN" sz="125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JBD2 overlay 不污染</a:t>
            </a:r>
            <a:endParaRPr sz="1250" b="0" i="0" u="none" strike="noStrike" cap="none" spc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250" b="0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DeviceBlockCache,未提交元数据不被当成已落盘块</a:t>
            </a:r>
            <a:endParaRPr lang="zh-CN" sz="1250" b="0" i="0" u="none" strike="noStrike" cap="none" spc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3888253" name="文本框 959116336"/>
          <p:cNvSpPr txBox="1"/>
          <p:nvPr/>
        </p:nvSpPr>
        <p:spPr bwMode="auto">
          <a:xfrm>
            <a:off x="2914248" y="5492058"/>
            <a:ext cx="8761002" cy="64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以上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</a:rPr>
              <a:t>共同保证:无论应用走 buffered、mmap 还是经事务改元数据,读到的永远是最新值,</a:t>
            </a:r>
            <a:r>
              <a:rPr b="1">
                <a:latin typeface="Arial" panose="020B0604020202020204"/>
                <a:ea typeface="Arial" panose="020B0604020202020204"/>
                <a:cs typeface="Arial" panose="020B0604020202020204"/>
              </a:rPr>
              <a:t>绝不出现"改了却读到旧数据"</a:t>
            </a:r>
            <a:r>
              <a:rPr lang="zh-CN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的情况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09961529" name="图片 1" descr="ChatGPT Image 2026年6月26日 18_06_3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880995" y="989965"/>
            <a:ext cx="5491480" cy="4020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837762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24356471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57307130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2630549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13031147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81972800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525986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6486761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487115468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6379798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74188046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37661996" name="TextBox 43"/>
          <p:cNvSpPr txBox="1"/>
          <p:nvPr/>
        </p:nvSpPr>
        <p:spPr bwMode="auto">
          <a:xfrm>
            <a:off x="2743200" y="347469"/>
            <a:ext cx="8781840" cy="565150"/>
          </a:xfrm>
          <a:prstGeom prst="rect">
            <a:avLst/>
          </a:prstGeom>
          <a:noFill/>
        </p:spPr>
        <p:txBody>
          <a:bodyPr wrap="square" lIns="25399" rIns="25399">
            <a:spAutoFit/>
          </a:bodyPr>
          <a:lstStyle/>
          <a:p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r>
              <a:rPr lang="zh-CN" sz="2800" b="1" i="0" u="none" strike="noStrike" cap="none" spc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性能优化 · 分层缓存与关键优化</a:t>
            </a:r>
            <a:endParaRPr sz="2800" b="1">
              <a:solidFill>
                <a:srgbClr val="183F7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35439456" name=" 1233623455"/>
          <p:cNvSpPr/>
          <p:nvPr/>
        </p:nvSpPr>
        <p:spPr bwMode="auto">
          <a:xfrm>
            <a:off x="2743198" y="5760358"/>
            <a:ext cx="8721073" cy="3683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800" b="0" i="0" u="none" strike="noStrike" cap="none" spc="0">
                <a:solidFill/>
                <a:latin typeface="Arial" panose="020B0604020202020204"/>
                <a:ea typeface="Arial" panose="020B0604020202020204"/>
                <a:cs typeface="Arial" panose="020B0604020202020204"/>
              </a:rPr>
              <a:t>缓存优化的重点是让每类缓存只服务明确路径，并配套更新与失效协议。</a:t>
            </a:r>
            <a:endParaRPr sz="1800" b="0" i="0" u="none" strike="noStrike" cap="none" spc="0">
              <a:solidFill/>
              <a:latin typeface="Arial" panose="020B0604020202020204"/>
              <a:cs typeface="Arial" panose="020B0604020202020204"/>
            </a:endParaRPr>
          </a:p>
        </p:txBody>
      </p:sp>
      <p:sp>
        <p:nvSpPr>
          <p:cNvPr id="1493338372" name="文本框 645709975"/>
          <p:cNvSpPr txBox="1"/>
          <p:nvPr/>
        </p:nvSpPr>
        <p:spPr bwMode="auto">
          <a:xfrm>
            <a:off x="2743200" y="1252437"/>
            <a:ext cx="369594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45" indent="-283845">
              <a:buFont typeface="Wingdings" panose="05000000000000000000"/>
              <a:buChar char="Ø"/>
              <a:defRPr/>
            </a:pPr>
            <a:r>
              <a:rPr sz="2000" b="1" i="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五层缓存分工图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04969545" name="图片 3" descr="ChatGPT Image 2026年6月26日 18_12_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823210" y="1649095"/>
            <a:ext cx="6654165" cy="403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71487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4028806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609131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2723069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328523372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1804481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3100674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33536174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32381386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2933288" name="TextBox 43"/>
          <p:cNvSpPr txBox="1"/>
          <p:nvPr/>
        </p:nvSpPr>
        <p:spPr bwMode="auto">
          <a:xfrm>
            <a:off x="2743200" y="347471"/>
            <a:ext cx="877967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4.1 测试环境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6082897" name="文本框 1"/>
          <p:cNvSpPr txBox="1"/>
          <p:nvPr/>
        </p:nvSpPr>
        <p:spPr bwMode="auto">
          <a:xfrm>
            <a:off x="2666999" y="979804"/>
            <a:ext cx="4689834" cy="419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</a:t>
            </a:r>
            <a:r>
              <a:rPr lang="en-US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环境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宿主系统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Ubuntu 24.04.1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，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Linux 6.8.0-41Linux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虚拟化环境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QEMU/KVM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，块设备采用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virtio-blk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容器镜像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        asterinas/asterinas:0.17.0-20260227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虚拟机配置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8 GiB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内存，单处理器</a:t>
            </a: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对照系统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相同虚拟化与块设备环境下的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Linux EXT4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6586069" name="文本框 4"/>
          <p:cNvSpPr txBox="1"/>
          <p:nvPr/>
        </p:nvSpPr>
        <p:spPr bwMode="auto">
          <a:xfrm>
            <a:off x="7426959" y="979804"/>
            <a:ext cx="4689834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测试体系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fio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：测试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O_DIRECT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和并发场景下的带宽数据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xfstests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：用于验证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POSIX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功能正确性</a:t>
            </a: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Crash Matrix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：验证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JBD2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崩溃一致性</a:t>
            </a: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SQLite speedtest1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：用于模拟真实数据库负载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1197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07899097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80377735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75039652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983398682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7452027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05378757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49114307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49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13025736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5440739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4.2 xfstests 功能与兼容性测试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92202232" name="文本框 3"/>
          <p:cNvSpPr txBox="1"/>
          <p:nvPr/>
        </p:nvSpPr>
        <p:spPr bwMode="auto">
          <a:xfrm>
            <a:off x="2743200" y="902335"/>
            <a:ext cx="91440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采用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xfstests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重点子集验证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EXT4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主路径功能，将用例按能力域归类展示。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20082928" name="矩形 4"/>
          <p:cNvSpPr/>
          <p:nvPr/>
        </p:nvSpPr>
        <p:spPr bwMode="auto">
          <a:xfrm>
            <a:off x="2742882" y="1625600"/>
            <a:ext cx="1837844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602329443" name="文本框 5"/>
          <p:cNvSpPr txBox="1"/>
          <p:nvPr/>
        </p:nvSpPr>
        <p:spPr bwMode="auto">
          <a:xfrm>
            <a:off x="2782620" y="1714500"/>
            <a:ext cx="175837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测试类别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7055143" name="矩形 6"/>
          <p:cNvSpPr/>
          <p:nvPr/>
        </p:nvSpPr>
        <p:spPr bwMode="auto">
          <a:xfrm>
            <a:off x="4580727" y="1625600"/>
            <a:ext cx="1291458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628264525" name="文本框 7"/>
          <p:cNvSpPr txBox="1"/>
          <p:nvPr/>
        </p:nvSpPr>
        <p:spPr bwMode="auto">
          <a:xfrm>
            <a:off x="4620464" y="1714500"/>
            <a:ext cx="1211984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通过情况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8684870" name="矩形 8"/>
          <p:cNvSpPr/>
          <p:nvPr/>
        </p:nvSpPr>
        <p:spPr bwMode="auto">
          <a:xfrm>
            <a:off x="5872185" y="1625600"/>
            <a:ext cx="6015214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429004152" name="文本框 9"/>
          <p:cNvSpPr txBox="1"/>
          <p:nvPr/>
        </p:nvSpPr>
        <p:spPr bwMode="auto">
          <a:xfrm>
            <a:off x="5911922" y="1714500"/>
            <a:ext cx="6129457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覆盖能力与代表用例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4735445" name="矩形 10"/>
          <p:cNvSpPr/>
          <p:nvPr/>
        </p:nvSpPr>
        <p:spPr bwMode="auto">
          <a:xfrm>
            <a:off x="2742882" y="2082800"/>
            <a:ext cx="183784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060501843" name="文本框 11"/>
          <p:cNvSpPr txBox="1"/>
          <p:nvPr/>
        </p:nvSpPr>
        <p:spPr bwMode="auto">
          <a:xfrm>
            <a:off x="2822357" y="21717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基础文件与目录语义</a:t>
            </a:r>
            <a:endParaRPr 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434664" name="矩形 12"/>
          <p:cNvSpPr/>
          <p:nvPr/>
        </p:nvSpPr>
        <p:spPr bwMode="auto">
          <a:xfrm>
            <a:off x="4580727" y="2082800"/>
            <a:ext cx="1291458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874662591" name="文本框 13"/>
          <p:cNvSpPr txBox="1"/>
          <p:nvPr/>
        </p:nvSpPr>
        <p:spPr bwMode="auto">
          <a:xfrm>
            <a:off x="4660201" y="21717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24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1765006" name="矩形 14"/>
          <p:cNvSpPr/>
          <p:nvPr/>
        </p:nvSpPr>
        <p:spPr bwMode="auto">
          <a:xfrm>
            <a:off x="5872185" y="2082800"/>
            <a:ext cx="601521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552274090" name="文本框 15"/>
          <p:cNvSpPr txBox="1"/>
          <p:nvPr/>
        </p:nvSpPr>
        <p:spPr bwMode="auto">
          <a:xfrm>
            <a:off x="5951659" y="2171700"/>
            <a:ext cx="5918851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覆盖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create/open/read/write/stat/truncate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mkdir/rmdir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rename/unlink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、权限、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atime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ENOSPC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等主路径。代表用例：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generic/001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003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006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007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011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811325022" name="矩形 16"/>
          <p:cNvSpPr/>
          <p:nvPr/>
        </p:nvSpPr>
        <p:spPr bwMode="auto">
          <a:xfrm>
            <a:off x="2742882" y="2895600"/>
            <a:ext cx="1837844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789618978" name="文本框 17"/>
          <p:cNvSpPr txBox="1"/>
          <p:nvPr/>
        </p:nvSpPr>
        <p:spPr bwMode="auto">
          <a:xfrm>
            <a:off x="2822357" y="29845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并发与压力测试</a:t>
            </a:r>
            <a:endParaRPr 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960776" name="矩形 18"/>
          <p:cNvSpPr/>
          <p:nvPr/>
        </p:nvSpPr>
        <p:spPr bwMode="auto">
          <a:xfrm>
            <a:off x="4580727" y="2895600"/>
            <a:ext cx="1291458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582345689" name="文本框 19"/>
          <p:cNvSpPr txBox="1"/>
          <p:nvPr/>
        </p:nvSpPr>
        <p:spPr bwMode="auto">
          <a:xfrm>
            <a:off x="4660201" y="29845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2147796" name="矩形 20"/>
          <p:cNvSpPr/>
          <p:nvPr/>
        </p:nvSpPr>
        <p:spPr bwMode="auto">
          <a:xfrm>
            <a:off x="5872185" y="2895600"/>
            <a:ext cx="6015711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000099947" name="文本框 21"/>
          <p:cNvSpPr txBox="1"/>
          <p:nvPr/>
        </p:nvSpPr>
        <p:spPr bwMode="auto">
          <a:xfrm>
            <a:off x="5951659" y="2984500"/>
            <a:ext cx="5594497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覆盖多进程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fsstress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、并发文件操作、并发写路径压力、近满盘压力与恢复场景。代表用例：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generic/013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068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076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083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476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80746242" name="矩形 22"/>
          <p:cNvSpPr/>
          <p:nvPr/>
        </p:nvSpPr>
        <p:spPr bwMode="auto">
          <a:xfrm>
            <a:off x="2742882" y="3708400"/>
            <a:ext cx="183784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052563880" name="文本框 23"/>
          <p:cNvSpPr txBox="1"/>
          <p:nvPr/>
        </p:nvSpPr>
        <p:spPr bwMode="auto">
          <a:xfrm>
            <a:off x="2822575" y="3797300"/>
            <a:ext cx="167894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algn="l">
              <a:spcAft>
                <a:spcPts val="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PageCache / O_DIRECT / mmap </a:t>
            </a:r>
            <a:r>
              <a:rPr 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</a:t>
            </a:r>
            <a:endParaRPr 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8764671" name="矩形 24"/>
          <p:cNvSpPr/>
          <p:nvPr/>
        </p:nvSpPr>
        <p:spPr bwMode="auto">
          <a:xfrm>
            <a:off x="4580727" y="3708400"/>
            <a:ext cx="1291458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49273981" name="文本框 25"/>
          <p:cNvSpPr txBox="1"/>
          <p:nvPr/>
        </p:nvSpPr>
        <p:spPr bwMode="auto">
          <a:xfrm>
            <a:off x="4660201" y="37973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050736" name="矩形 26"/>
          <p:cNvSpPr/>
          <p:nvPr/>
        </p:nvSpPr>
        <p:spPr bwMode="auto">
          <a:xfrm>
            <a:off x="5872185" y="3708400"/>
            <a:ext cx="6015711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010614682" name="文本框 27"/>
          <p:cNvSpPr txBox="1"/>
          <p:nvPr/>
        </p:nvSpPr>
        <p:spPr bwMode="auto">
          <a:xfrm>
            <a:off x="5951659" y="3797300"/>
            <a:ext cx="5607908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覆盖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buffered I/O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direct I/O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一致性、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mmap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写入、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truncate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后页缓存失效、混合读写场景。代表用例：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generic/091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130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133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247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263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041030741" name="矩形 28"/>
          <p:cNvSpPr/>
          <p:nvPr/>
        </p:nvSpPr>
        <p:spPr bwMode="auto">
          <a:xfrm>
            <a:off x="2742882" y="4521200"/>
            <a:ext cx="1837844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717495444" name="文本框 29"/>
          <p:cNvSpPr txBox="1"/>
          <p:nvPr/>
        </p:nvSpPr>
        <p:spPr bwMode="auto">
          <a:xfrm>
            <a:off x="2822357" y="46101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JBD2 </a:t>
            </a:r>
            <a:r>
              <a:rPr 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日志恢复能力</a:t>
            </a:r>
            <a:endParaRPr 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38810" name="矩形 30"/>
          <p:cNvSpPr/>
          <p:nvPr/>
        </p:nvSpPr>
        <p:spPr bwMode="auto">
          <a:xfrm>
            <a:off x="4580727" y="4521200"/>
            <a:ext cx="1291458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21545913" name="文本框 31"/>
          <p:cNvSpPr txBox="1"/>
          <p:nvPr/>
        </p:nvSpPr>
        <p:spPr bwMode="auto">
          <a:xfrm>
            <a:off x="4660201" y="46101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6605953" name="矩形 32"/>
          <p:cNvSpPr/>
          <p:nvPr/>
        </p:nvSpPr>
        <p:spPr bwMode="auto">
          <a:xfrm>
            <a:off x="5872185" y="4521200"/>
            <a:ext cx="6008757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908747979" name="文本框 33"/>
          <p:cNvSpPr txBox="1"/>
          <p:nvPr/>
        </p:nvSpPr>
        <p:spPr bwMode="auto">
          <a:xfrm>
            <a:off x="5951659" y="4610100"/>
            <a:ext cx="5532408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覆盖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JBD2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日志提交、日志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replay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、元数据恢复、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EXT4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日志相关场景。代表用例：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generic/068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076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083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192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ext4/021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ext4/045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18919848" name="矩形 34"/>
          <p:cNvSpPr/>
          <p:nvPr/>
        </p:nvSpPr>
        <p:spPr bwMode="auto">
          <a:xfrm>
            <a:off x="2742882" y="5334000"/>
            <a:ext cx="1837844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563786028" name="文本框 35"/>
          <p:cNvSpPr txBox="1"/>
          <p:nvPr/>
        </p:nvSpPr>
        <p:spPr bwMode="auto">
          <a:xfrm>
            <a:off x="2822357" y="5422900"/>
            <a:ext cx="1678895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fsync / fdatasync </a:t>
            </a:r>
            <a:r>
              <a:rPr 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持久化语义</a:t>
            </a:r>
            <a:endParaRPr 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4381439" name="矩形 36"/>
          <p:cNvSpPr/>
          <p:nvPr/>
        </p:nvSpPr>
        <p:spPr bwMode="auto">
          <a:xfrm>
            <a:off x="4580727" y="5334000"/>
            <a:ext cx="1291458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42287459" name="文本框 37"/>
          <p:cNvSpPr txBox="1"/>
          <p:nvPr/>
        </p:nvSpPr>
        <p:spPr bwMode="auto">
          <a:xfrm>
            <a:off x="4660201" y="54229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9676451" name="矩形 38"/>
          <p:cNvSpPr/>
          <p:nvPr/>
        </p:nvSpPr>
        <p:spPr bwMode="auto">
          <a:xfrm>
            <a:off x="5872185" y="5334000"/>
            <a:ext cx="6015214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615803275" name="文本框 39"/>
          <p:cNvSpPr txBox="1"/>
          <p:nvPr/>
        </p:nvSpPr>
        <p:spPr bwMode="auto">
          <a:xfrm>
            <a:off x="5951659" y="5422900"/>
            <a:ext cx="5525454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覆盖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fsync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后文件大小与数据持久化、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fdatasync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元数据边界、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shutdown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后日志恢复、重复恢复幂等性。代表用例：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generic/043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044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045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046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047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7877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8758363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50235125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334393279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08188383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1910530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01495689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12164413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73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9015239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1688367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4.3 崩溃一致性测试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50561033" name="文本框 3"/>
          <p:cNvSpPr txBox="1"/>
          <p:nvPr/>
        </p:nvSpPr>
        <p:spPr bwMode="auto">
          <a:xfrm>
            <a:off x="2743200" y="991870"/>
            <a:ext cx="91440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Crash Matrix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在关键提交点触发虚拟机退出，重启后检查文件内容、目录结构和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fsync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持久化语义</a:t>
            </a:r>
            <a:r>
              <a:rPr 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2735025" name="矩形 4"/>
          <p:cNvSpPr/>
          <p:nvPr/>
        </p:nvSpPr>
        <p:spPr bwMode="auto">
          <a:xfrm>
            <a:off x="2742876" y="1625600"/>
            <a:ext cx="2328603" cy="43179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013349908" name="文本框 5"/>
          <p:cNvSpPr txBox="1"/>
          <p:nvPr/>
        </p:nvSpPr>
        <p:spPr bwMode="auto">
          <a:xfrm>
            <a:off x="2783374" y="1714500"/>
            <a:ext cx="2247608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崩溃场景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6323329" name="矩形 6"/>
          <p:cNvSpPr/>
          <p:nvPr/>
        </p:nvSpPr>
        <p:spPr bwMode="auto">
          <a:xfrm>
            <a:off x="4832545" y="1625600"/>
            <a:ext cx="6212308" cy="43179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09219238" name="文本框 7"/>
          <p:cNvSpPr txBox="1"/>
          <p:nvPr/>
        </p:nvSpPr>
        <p:spPr bwMode="auto">
          <a:xfrm>
            <a:off x="5111977" y="1714500"/>
            <a:ext cx="5892379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检查目标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2076969" name="矩形 8"/>
          <p:cNvSpPr/>
          <p:nvPr/>
        </p:nvSpPr>
        <p:spPr bwMode="auto">
          <a:xfrm>
            <a:off x="10270846" y="1625600"/>
            <a:ext cx="1615848" cy="43179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053337756" name="文本框 9"/>
          <p:cNvSpPr txBox="1"/>
          <p:nvPr/>
        </p:nvSpPr>
        <p:spPr bwMode="auto">
          <a:xfrm>
            <a:off x="10606974" y="1714500"/>
            <a:ext cx="1133929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6934640" name="矩形 10"/>
          <p:cNvSpPr/>
          <p:nvPr/>
        </p:nvSpPr>
        <p:spPr bwMode="auto">
          <a:xfrm>
            <a:off x="2742876" y="2057400"/>
            <a:ext cx="2328603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617295195" name="文本框 11"/>
          <p:cNvSpPr txBox="1"/>
          <p:nvPr/>
        </p:nvSpPr>
        <p:spPr bwMode="auto">
          <a:xfrm>
            <a:off x="2823870" y="21463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create_write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6458977" name="矩形 12"/>
          <p:cNvSpPr/>
          <p:nvPr/>
        </p:nvSpPr>
        <p:spPr bwMode="auto">
          <a:xfrm>
            <a:off x="4832545" y="2057400"/>
            <a:ext cx="621230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422222371" name="文本框 13"/>
          <p:cNvSpPr txBox="1"/>
          <p:nvPr/>
        </p:nvSpPr>
        <p:spPr bwMode="auto">
          <a:xfrm>
            <a:off x="5152474" y="21463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</a:rPr>
              <a:t>创建并写入文件后崩溃，恢复后检查文件内容</a:t>
            </a:r>
            <a:r>
              <a:rPr lang="zh-CN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6373718" name="矩形 14"/>
          <p:cNvSpPr/>
          <p:nvPr/>
        </p:nvSpPr>
        <p:spPr bwMode="auto">
          <a:xfrm>
            <a:off x="10270846" y="2057400"/>
            <a:ext cx="161584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98414974" name="文本框 15"/>
          <p:cNvSpPr txBox="1"/>
          <p:nvPr/>
        </p:nvSpPr>
        <p:spPr bwMode="auto">
          <a:xfrm>
            <a:off x="10497312" y="21463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8232780" name="矩形 16"/>
          <p:cNvSpPr/>
          <p:nvPr/>
        </p:nvSpPr>
        <p:spPr bwMode="auto">
          <a:xfrm>
            <a:off x="2742876" y="2514600"/>
            <a:ext cx="2328603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57038446" name="文本框 17"/>
          <p:cNvSpPr txBox="1"/>
          <p:nvPr/>
        </p:nvSpPr>
        <p:spPr bwMode="auto">
          <a:xfrm>
            <a:off x="2823870" y="26035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rename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2944778" name="矩形 18"/>
          <p:cNvSpPr/>
          <p:nvPr/>
        </p:nvSpPr>
        <p:spPr bwMode="auto">
          <a:xfrm>
            <a:off x="4833051" y="2514600"/>
            <a:ext cx="6211802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23040618" name="文本框 19"/>
          <p:cNvSpPr txBox="1"/>
          <p:nvPr/>
        </p:nvSpPr>
        <p:spPr bwMode="auto">
          <a:xfrm>
            <a:off x="5152474" y="26035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rename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后崩溃，恢复后旧路径消失、新路径存在。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62089826" name="矩形 20"/>
          <p:cNvSpPr/>
          <p:nvPr/>
        </p:nvSpPr>
        <p:spPr bwMode="auto">
          <a:xfrm>
            <a:off x="10270846" y="2514600"/>
            <a:ext cx="1615848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79581265" name="文本框 21"/>
          <p:cNvSpPr txBox="1"/>
          <p:nvPr/>
        </p:nvSpPr>
        <p:spPr bwMode="auto">
          <a:xfrm>
            <a:off x="10497312" y="26035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8046098" name="矩形 22"/>
          <p:cNvSpPr/>
          <p:nvPr/>
        </p:nvSpPr>
        <p:spPr bwMode="auto">
          <a:xfrm>
            <a:off x="2742876" y="2971800"/>
            <a:ext cx="2328603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46099118" name="文本框 23"/>
          <p:cNvSpPr txBox="1"/>
          <p:nvPr/>
        </p:nvSpPr>
        <p:spPr bwMode="auto">
          <a:xfrm>
            <a:off x="2823870" y="30607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truncate_append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0641521" name="矩形 24"/>
          <p:cNvSpPr/>
          <p:nvPr/>
        </p:nvSpPr>
        <p:spPr bwMode="auto">
          <a:xfrm>
            <a:off x="4833557" y="2971800"/>
            <a:ext cx="6211296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374713925" name="文本框 25"/>
          <p:cNvSpPr txBox="1"/>
          <p:nvPr/>
        </p:nvSpPr>
        <p:spPr bwMode="auto">
          <a:xfrm>
            <a:off x="5152474" y="30607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truncate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后追加写，恢复后检查最终内容</a:t>
            </a:r>
            <a:r>
              <a:rPr lang="zh-CN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4394940" name="矩形 26"/>
          <p:cNvSpPr/>
          <p:nvPr/>
        </p:nvSpPr>
        <p:spPr bwMode="auto">
          <a:xfrm>
            <a:off x="10270846" y="2971800"/>
            <a:ext cx="161584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993286358" name="文本框 27"/>
          <p:cNvSpPr txBox="1"/>
          <p:nvPr/>
        </p:nvSpPr>
        <p:spPr bwMode="auto">
          <a:xfrm>
            <a:off x="10497312" y="30607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0651608" name="矩形 28"/>
          <p:cNvSpPr/>
          <p:nvPr/>
        </p:nvSpPr>
        <p:spPr bwMode="auto">
          <a:xfrm>
            <a:off x="2742876" y="3429000"/>
            <a:ext cx="2328603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74392960" name="文本框 29"/>
          <p:cNvSpPr txBox="1"/>
          <p:nvPr/>
        </p:nvSpPr>
        <p:spPr bwMode="auto">
          <a:xfrm>
            <a:off x="2823870" y="35179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large_write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541844" name="矩形 30"/>
          <p:cNvSpPr/>
          <p:nvPr/>
        </p:nvSpPr>
        <p:spPr bwMode="auto">
          <a:xfrm>
            <a:off x="4833557" y="3429000"/>
            <a:ext cx="6211296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383461907" name="文本框 31"/>
          <p:cNvSpPr txBox="1"/>
          <p:nvPr/>
        </p:nvSpPr>
        <p:spPr bwMode="auto">
          <a:xfrm>
            <a:off x="5152474" y="35179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4MB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大文件写入后崩溃，恢复后检查文件大小</a:t>
            </a:r>
            <a:r>
              <a:rPr lang="zh-CN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1280020" name="矩形 32"/>
          <p:cNvSpPr/>
          <p:nvPr/>
        </p:nvSpPr>
        <p:spPr bwMode="auto">
          <a:xfrm>
            <a:off x="10270846" y="3429000"/>
            <a:ext cx="1615848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47480636" name="文本框 33"/>
          <p:cNvSpPr txBox="1"/>
          <p:nvPr/>
        </p:nvSpPr>
        <p:spPr bwMode="auto">
          <a:xfrm>
            <a:off x="10497312" y="35179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8372089" name="矩形 34"/>
          <p:cNvSpPr/>
          <p:nvPr/>
        </p:nvSpPr>
        <p:spPr bwMode="auto">
          <a:xfrm>
            <a:off x="2742876" y="3886200"/>
            <a:ext cx="2328603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415808032" name="文本框 35"/>
          <p:cNvSpPr txBox="1"/>
          <p:nvPr/>
        </p:nvSpPr>
        <p:spPr bwMode="auto">
          <a:xfrm>
            <a:off x="2823870" y="39751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fsync_durability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0397588" name="矩形 36"/>
          <p:cNvSpPr/>
          <p:nvPr/>
        </p:nvSpPr>
        <p:spPr bwMode="auto">
          <a:xfrm>
            <a:off x="4833557" y="3886200"/>
            <a:ext cx="6211296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66878130" name="文本框 37"/>
          <p:cNvSpPr txBox="1"/>
          <p:nvPr/>
        </p:nvSpPr>
        <p:spPr bwMode="auto">
          <a:xfrm>
            <a:off x="5152474" y="39751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fsync 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后崩溃，恢复后检查数据持久化。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78060729" name="矩形 38"/>
          <p:cNvSpPr/>
          <p:nvPr/>
        </p:nvSpPr>
        <p:spPr bwMode="auto">
          <a:xfrm>
            <a:off x="10270846" y="3886200"/>
            <a:ext cx="161584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72541721" name="文本框 39"/>
          <p:cNvSpPr txBox="1"/>
          <p:nvPr/>
        </p:nvSpPr>
        <p:spPr bwMode="auto">
          <a:xfrm>
            <a:off x="10497312" y="39751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7910616" name="矩形 40"/>
          <p:cNvSpPr/>
          <p:nvPr/>
        </p:nvSpPr>
        <p:spPr bwMode="auto">
          <a:xfrm>
            <a:off x="2742876" y="4343400"/>
            <a:ext cx="2328603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1109116" name="文本框 41"/>
          <p:cNvSpPr txBox="1"/>
          <p:nvPr/>
        </p:nvSpPr>
        <p:spPr bwMode="auto">
          <a:xfrm>
            <a:off x="2823870" y="44323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multi_file_create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255675" name="矩形 42"/>
          <p:cNvSpPr/>
          <p:nvPr/>
        </p:nvSpPr>
        <p:spPr bwMode="auto">
          <a:xfrm>
            <a:off x="4833557" y="4343400"/>
            <a:ext cx="6211296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887819455" name="文本框 43"/>
          <p:cNvSpPr txBox="1"/>
          <p:nvPr/>
        </p:nvSpPr>
        <p:spPr bwMode="auto">
          <a:xfrm>
            <a:off x="5152474" y="44323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</a:rPr>
              <a:t>批量创建多个文件后崩溃，恢复后逐个检查内容</a:t>
            </a:r>
            <a:r>
              <a:rPr lang="zh-CN" sz="1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669975" name="矩形 44"/>
          <p:cNvSpPr/>
          <p:nvPr/>
        </p:nvSpPr>
        <p:spPr bwMode="auto">
          <a:xfrm>
            <a:off x="10270846" y="4343400"/>
            <a:ext cx="1615848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467236543" name="文本框 45"/>
          <p:cNvSpPr txBox="1"/>
          <p:nvPr/>
        </p:nvSpPr>
        <p:spPr bwMode="auto">
          <a:xfrm>
            <a:off x="10497312" y="44323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6690385" name="矩形 46"/>
          <p:cNvSpPr/>
          <p:nvPr/>
        </p:nvSpPr>
        <p:spPr bwMode="auto">
          <a:xfrm>
            <a:off x="2742876" y="4800600"/>
            <a:ext cx="2328603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18283850" name="文本框 47"/>
          <p:cNvSpPr txBox="1"/>
          <p:nvPr/>
        </p:nvSpPr>
        <p:spPr bwMode="auto">
          <a:xfrm>
            <a:off x="2823870" y="48895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dir_tree_churn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1110912" name="矩形 48"/>
          <p:cNvSpPr/>
          <p:nvPr/>
        </p:nvSpPr>
        <p:spPr bwMode="auto">
          <a:xfrm>
            <a:off x="4833557" y="4800600"/>
            <a:ext cx="6211296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26984046" name="文本框 49"/>
          <p:cNvSpPr txBox="1"/>
          <p:nvPr/>
        </p:nvSpPr>
        <p:spPr bwMode="auto">
          <a:xfrm>
            <a:off x="5152474" y="4889500"/>
            <a:ext cx="5811384" cy="222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100">
                <a:solidFill>
                  <a:srgbClr val="000000"/>
                </a:solidFill>
                <a:ea typeface="+mn-lt"/>
                <a:cs typeface="+mn-lt"/>
              </a:rPr>
              <a:t>目录树创建</a:t>
            </a:r>
            <a:r>
              <a:rPr lang="en-US" sz="110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zh-CN" sz="1100">
                <a:solidFill>
                  <a:srgbClr val="000000"/>
                </a:solidFill>
                <a:ea typeface="+mn-lt"/>
                <a:cs typeface="+mn-lt"/>
              </a:rPr>
              <a:t>删除后崩溃，恢复后检查目录结构。</a:t>
            </a:r>
            <a:endParaRPr lang="zh-CN" sz="11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16921657" name="矩形 50"/>
          <p:cNvSpPr/>
          <p:nvPr/>
        </p:nvSpPr>
        <p:spPr bwMode="auto">
          <a:xfrm>
            <a:off x="10270846" y="4800600"/>
            <a:ext cx="161584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609007171" name="文本框 51"/>
          <p:cNvSpPr txBox="1"/>
          <p:nvPr/>
        </p:nvSpPr>
        <p:spPr bwMode="auto">
          <a:xfrm>
            <a:off x="10497312" y="48895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1913990" name="矩形 52"/>
          <p:cNvSpPr/>
          <p:nvPr/>
        </p:nvSpPr>
        <p:spPr bwMode="auto">
          <a:xfrm>
            <a:off x="2742876" y="5257800"/>
            <a:ext cx="2328603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322791156" name="文本框 53"/>
          <p:cNvSpPr txBox="1"/>
          <p:nvPr/>
        </p:nvSpPr>
        <p:spPr bwMode="auto">
          <a:xfrm>
            <a:off x="2823870" y="53467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truncate_shrink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916636" name="矩形 54"/>
          <p:cNvSpPr/>
          <p:nvPr/>
        </p:nvSpPr>
        <p:spPr bwMode="auto">
          <a:xfrm>
            <a:off x="4832545" y="5257800"/>
            <a:ext cx="6212308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237945208" name="文本框 55"/>
          <p:cNvSpPr txBox="1"/>
          <p:nvPr/>
        </p:nvSpPr>
        <p:spPr bwMode="auto">
          <a:xfrm>
            <a:off x="5152474" y="53467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文件缩小后崩溃，恢复后检查大小为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0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258477057" name="矩形 56"/>
          <p:cNvSpPr/>
          <p:nvPr/>
        </p:nvSpPr>
        <p:spPr bwMode="auto">
          <a:xfrm>
            <a:off x="10270846" y="5257800"/>
            <a:ext cx="1615848" cy="4572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341677784" name="文本框 57"/>
          <p:cNvSpPr txBox="1"/>
          <p:nvPr/>
        </p:nvSpPr>
        <p:spPr bwMode="auto">
          <a:xfrm>
            <a:off x="10497312" y="53467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0271224" name="矩形 58"/>
          <p:cNvSpPr/>
          <p:nvPr/>
        </p:nvSpPr>
        <p:spPr bwMode="auto">
          <a:xfrm>
            <a:off x="2742876" y="5715000"/>
            <a:ext cx="2328603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058369599" name="文本框 59"/>
          <p:cNvSpPr txBox="1"/>
          <p:nvPr/>
        </p:nvSpPr>
        <p:spPr bwMode="auto">
          <a:xfrm>
            <a:off x="2823870" y="5803900"/>
            <a:ext cx="2166613" cy="224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1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append_concurrent</a:t>
            </a:r>
            <a:endParaRPr lang="en-US" sz="11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889032" name="矩形 60"/>
          <p:cNvSpPr/>
          <p:nvPr/>
        </p:nvSpPr>
        <p:spPr bwMode="auto">
          <a:xfrm>
            <a:off x="4833557" y="5715000"/>
            <a:ext cx="6211296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1784521562" name="文本框 61"/>
          <p:cNvSpPr txBox="1"/>
          <p:nvPr/>
        </p:nvSpPr>
        <p:spPr bwMode="auto">
          <a:xfrm>
            <a:off x="5152474" y="5803900"/>
            <a:ext cx="5811384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spcAft>
                <a:spcPts val="0"/>
              </a:spcAft>
              <a:defRPr/>
            </a:pPr>
            <a:r>
              <a:rPr lang="zh-CN" sz="1400">
                <a:solidFill>
                  <a:srgbClr val="000000"/>
                </a:solidFill>
                <a:ea typeface="+mn-lt"/>
              </a:rPr>
              <a:t>并发追加后崩溃，恢复后检查最终标记存在。</a:t>
            </a:r>
            <a:endParaRPr lang="zh-CN" sz="1400">
              <a:solidFill>
                <a:srgbClr val="000000"/>
              </a:solidFill>
              <a:ea typeface="+mn-lt"/>
            </a:endParaRPr>
          </a:p>
        </p:txBody>
      </p:sp>
      <p:sp>
        <p:nvSpPr>
          <p:cNvPr id="859326971" name="矩形 62"/>
          <p:cNvSpPr/>
          <p:nvPr/>
        </p:nvSpPr>
        <p:spPr bwMode="auto">
          <a:xfrm>
            <a:off x="10270846" y="5715000"/>
            <a:ext cx="1615848" cy="4572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defRPr/>
            </a:pPr>
            <a:endParaRPr lang="zh-CN"/>
          </a:p>
        </p:txBody>
      </p:sp>
      <p:sp>
        <p:nvSpPr>
          <p:cNvPr id="2014321654" name="文本框 63"/>
          <p:cNvSpPr txBox="1"/>
          <p:nvPr/>
        </p:nvSpPr>
        <p:spPr bwMode="auto">
          <a:xfrm>
            <a:off x="10497312" y="5803900"/>
            <a:ext cx="1097280" cy="242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l">
              <a:spcAft>
                <a:spcPts val="0"/>
              </a:spcAft>
              <a:defRPr/>
            </a:pPr>
            <a:r>
              <a:rPr lang="en-US" sz="12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PASS</a:t>
            </a:r>
            <a:endParaRPr lang="en-US" sz="12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0032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6691569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204874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256963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131928848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323620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3813064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003660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59863338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8617116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4.4 并发正确性测试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31966239" name="Rounded Rectangle 46"/>
          <p:cNvSpPr/>
          <p:nvPr/>
        </p:nvSpPr>
        <p:spPr bwMode="auto">
          <a:xfrm>
            <a:off x="2834640" y="1234440"/>
            <a:ext cx="155448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21491082" name="TextBox 47"/>
          <p:cNvSpPr txBox="1"/>
          <p:nvPr/>
        </p:nvSpPr>
        <p:spPr bwMode="auto">
          <a:xfrm>
            <a:off x="2907792" y="1307592"/>
            <a:ext cx="1408535" cy="32122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250" b="1">
                <a:solidFill>
                  <a:srgbClr val="205BA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 worker</a:t>
            </a:r>
            <a:endParaRPr sz="1250" b="1">
              <a:solidFill>
                <a:srgbClr val="205BA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0684563" name="TextBox 48"/>
          <p:cNvSpPr txBox="1"/>
          <p:nvPr/>
        </p:nvSpPr>
        <p:spPr bwMode="auto">
          <a:xfrm>
            <a:off x="2944368" y="1581912"/>
            <a:ext cx="1335384" cy="454581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多线程</a:t>
            </a:r>
            <a:r>
              <a:rPr lang="en-US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lang="zh-CN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多进程同时访问文件</a:t>
            </a:r>
            <a:endParaRPr sz="105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1925349" name="Right Arrow 49"/>
          <p:cNvSpPr/>
          <p:nvPr/>
        </p:nvSpPr>
        <p:spPr bwMode="auto">
          <a:xfrm>
            <a:off x="4480560" y="1664208"/>
            <a:ext cx="411480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8926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41419989" name="Rounded Rectangle 50"/>
          <p:cNvSpPr/>
          <p:nvPr/>
        </p:nvSpPr>
        <p:spPr bwMode="auto">
          <a:xfrm>
            <a:off x="4983480" y="1234440"/>
            <a:ext cx="155448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89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90457550" name="TextBox 51"/>
          <p:cNvSpPr txBox="1"/>
          <p:nvPr/>
        </p:nvSpPr>
        <p:spPr bwMode="auto">
          <a:xfrm>
            <a:off x="5056631" y="1307592"/>
            <a:ext cx="1408535" cy="30134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250" b="1">
                <a:solidFill>
                  <a:srgbClr val="38925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确定性数据</a:t>
            </a:r>
            <a:endParaRPr sz="1250" b="1">
              <a:solidFill>
                <a:srgbClr val="38925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31913836" name="TextBox 52"/>
          <p:cNvSpPr txBox="1"/>
          <p:nvPr/>
        </p:nvSpPr>
        <p:spPr bwMode="auto">
          <a:xfrm>
            <a:off x="5093208" y="1581912"/>
            <a:ext cx="1335384" cy="454581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seed + worker + round </a:t>
            </a:r>
            <a:r>
              <a:rPr lang="zh-CN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生成期望内容</a:t>
            </a:r>
            <a:endParaRPr sz="105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89532347" name="Right Arrow 53"/>
          <p:cNvSpPr/>
          <p:nvPr/>
        </p:nvSpPr>
        <p:spPr bwMode="auto">
          <a:xfrm>
            <a:off x="6629400" y="1664208"/>
            <a:ext cx="411480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8926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24925212" name="Rounded Rectangle 54"/>
          <p:cNvSpPr/>
          <p:nvPr/>
        </p:nvSpPr>
        <p:spPr bwMode="auto">
          <a:xfrm>
            <a:off x="7132320" y="1234440"/>
            <a:ext cx="155448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673953927" name="TextBox 55"/>
          <p:cNvSpPr txBox="1"/>
          <p:nvPr/>
        </p:nvSpPr>
        <p:spPr bwMode="auto">
          <a:xfrm>
            <a:off x="7205471" y="1307592"/>
            <a:ext cx="1408535" cy="30134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250" b="1">
                <a:solidFill>
                  <a:srgbClr val="EE89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文件回读</a:t>
            </a:r>
            <a:endParaRPr sz="1250" b="1">
              <a:solidFill>
                <a:srgbClr val="EE892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82407929" name="TextBox 56"/>
          <p:cNvSpPr txBox="1"/>
          <p:nvPr/>
        </p:nvSpPr>
        <p:spPr bwMode="auto">
          <a:xfrm>
            <a:off x="7242048" y="1581912"/>
            <a:ext cx="1335384" cy="44384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读取最终文件并计算</a:t>
            </a:r>
            <a:r>
              <a:rPr lang="en-US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hash</a:t>
            </a:r>
            <a:endParaRPr sz="105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3954277" name="Right Arrow 57"/>
          <p:cNvSpPr/>
          <p:nvPr/>
        </p:nvSpPr>
        <p:spPr bwMode="auto">
          <a:xfrm>
            <a:off x="8778240" y="1664208"/>
            <a:ext cx="411480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8926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564548487" name="Rounded Rectangle 58"/>
          <p:cNvSpPr/>
          <p:nvPr/>
        </p:nvSpPr>
        <p:spPr bwMode="auto">
          <a:xfrm>
            <a:off x="9281160" y="1234440"/>
            <a:ext cx="1554480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D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0114704" name="TextBox 59"/>
          <p:cNvSpPr txBox="1"/>
          <p:nvPr/>
        </p:nvSpPr>
        <p:spPr bwMode="auto">
          <a:xfrm>
            <a:off x="9354312" y="1307592"/>
            <a:ext cx="1408535" cy="30134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250" b="1">
                <a:solidFill>
                  <a:srgbClr val="BD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结果裁决</a:t>
            </a:r>
            <a:endParaRPr sz="1250" b="1">
              <a:solidFill>
                <a:srgbClr val="BD40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35909237" name="TextBox 60"/>
          <p:cNvSpPr txBox="1"/>
          <p:nvPr/>
        </p:nvSpPr>
        <p:spPr bwMode="auto">
          <a:xfrm>
            <a:off x="9390888" y="1581912"/>
            <a:ext cx="1335384" cy="44384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5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actual hash == expected hash</a:t>
            </a:r>
            <a:endParaRPr sz="105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852007" name="文本框 1"/>
          <p:cNvSpPr txBox="1"/>
          <p:nvPr/>
        </p:nvSpPr>
        <p:spPr bwMode="auto">
          <a:xfrm>
            <a:off x="2834639" y="4293869"/>
            <a:ext cx="772477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xfstests concurrency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10/10 PASS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通过用例：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generic/013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068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076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083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476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269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051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054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055</a:t>
            </a:r>
            <a:r>
              <a:rPr lang="zh-CN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388</a:t>
            </a:r>
            <a:endParaRPr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覆盖能力：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fsstress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多进程随机文件操作；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并发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create/write/truncate/rename/unlink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；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近满盘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ENOSPC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压力；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并发压力下的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shutdown/recovery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72156009" name="文本框 2"/>
          <p:cNvSpPr txBox="1"/>
          <p:nvPr/>
        </p:nvSpPr>
        <p:spPr bwMode="auto">
          <a:xfrm>
            <a:off x="2823845" y="2540635"/>
            <a:ext cx="78085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concurrency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测试：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PASS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测试方法：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多个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worker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并发创建、写入、覆盖和读取文件；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每轮写入内容由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worker id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round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seed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决定；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测试结束后重新计算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expected hash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，文件实际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hash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对比。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56276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5917598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45886194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37009296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827388824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79035066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50867949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6657150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4207696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2191198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4.5 fio 性能测试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04497276" name="TextBox 46"/>
          <p:cNvSpPr txBox="1"/>
          <p:nvPr/>
        </p:nvSpPr>
        <p:spPr bwMode="auto">
          <a:xfrm>
            <a:off x="8675370" y="1600834"/>
            <a:ext cx="3130274" cy="67183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/>
            </a:pPr>
            <a:br>
              <a:rPr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endParaRPr sz="16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3781111" name="文本框 4"/>
          <p:cNvSpPr txBox="1"/>
          <p:nvPr/>
        </p:nvSpPr>
        <p:spPr bwMode="auto">
          <a:xfrm>
            <a:off x="2861945" y="5287644"/>
            <a:ext cx="8101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结论：写路径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4K-64K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达到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Linux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的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91%-97%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，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256K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与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1M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写入超过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Linux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；读路径全部达到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Linux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的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90% 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以上，整体读写性能均已接近</a:t>
            </a:r>
            <a:r>
              <a:rPr lang="en-US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 Linux EXT4</a:t>
            </a:r>
            <a:r>
              <a:rPr lang="zh-CN" b="1">
                <a:solidFill>
                  <a:srgbClr val="000000"/>
                </a:solidFill>
                <a:latin typeface="+mn-ea"/>
                <a:ea typeface="微软雅黑" panose="020B0503020204020204" charset="-122"/>
                <a:cs typeface="+mn-ea"/>
              </a:rPr>
              <a:t>。</a:t>
            </a:r>
            <a:endParaRPr lang="zh-CN" b="1">
              <a:solidFill>
                <a:srgbClr val="000000"/>
              </a:solidFill>
              <a:latin typeface="+mn-ea"/>
              <a:ea typeface="微软雅黑" panose="020B0503020204020204" charset="-122"/>
              <a:cs typeface="+mn-ea"/>
            </a:endParaRPr>
          </a:p>
          <a:p>
            <a:pPr>
              <a:defRPr/>
            </a:pPr>
            <a:endParaRPr lang="zh-CN">
              <a:latin typeface="+mn-ea"/>
              <a:cs typeface="+mn-ea"/>
            </a:endParaRPr>
          </a:p>
        </p:txBody>
      </p:sp>
      <p:pic>
        <p:nvPicPr>
          <p:cNvPr id="1140239112" name="图片 11402391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954490" y="912620"/>
            <a:ext cx="3601327" cy="2505004"/>
          </a:xfrm>
          <a:prstGeom prst="rect">
            <a:avLst/>
          </a:prstGeom>
        </p:spPr>
      </p:pic>
      <p:pic>
        <p:nvPicPr>
          <p:cNvPr id="1530876213" name="图片 153087621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 bwMode="auto">
          <a:xfrm>
            <a:off x="7132859" y="966923"/>
            <a:ext cx="3527367" cy="2444403"/>
          </a:xfrm>
          <a:prstGeom prst="rect">
            <a:avLst/>
          </a:prstGeom>
        </p:spPr>
      </p:pic>
      <p:pic>
        <p:nvPicPr>
          <p:cNvPr id="1831435279" name="图片 183143527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 bwMode="auto">
          <a:xfrm>
            <a:off x="7132859" y="3617681"/>
            <a:ext cx="3423458" cy="1472455"/>
          </a:xfrm>
          <a:prstGeom prst="rect">
            <a:avLst/>
          </a:prstGeom>
        </p:spPr>
      </p:pic>
      <p:pic>
        <p:nvPicPr>
          <p:cNvPr id="1041210295" name="图片 104121029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3272108" y="3589597"/>
            <a:ext cx="3552140" cy="1528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19464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4207234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6451072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4560226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512825519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5648333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07906788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1542306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29855681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7576072" name="TextBox 43"/>
          <p:cNvSpPr txBox="1"/>
          <p:nvPr/>
        </p:nvSpPr>
        <p:spPr bwMode="auto">
          <a:xfrm>
            <a:off x="2743200" y="311276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4.5 fio 性能测试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21995068" name="文本框 3"/>
          <p:cNvSpPr txBox="1"/>
          <p:nvPr/>
        </p:nvSpPr>
        <p:spPr bwMode="auto">
          <a:xfrm>
            <a:off x="9166860" y="2600960"/>
            <a:ext cx="2829919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图中展示了引入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O_DIRECT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覆盖写共享锁后，同一文件并发写入的性能结果。在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numjobs=2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和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numjobs=4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时，系统分别达到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Linux EXT4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的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165%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和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187%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，说明纯覆盖写路径中的共享锁设计有效减少了设备</a:t>
            </a:r>
            <a:r>
              <a:rPr lang="en-US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I/O </a:t>
            </a:r>
            <a:r>
              <a:rPr lang="zh-CN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等待期间的不必要串行化。</a:t>
            </a:r>
            <a:endParaRPr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45436473" name="图片 204543647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795647" y="1769549"/>
            <a:ext cx="6023313" cy="4174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61525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250525" name="文本框 7"/>
          <p:cNvSpPr txBox="1"/>
          <p:nvPr/>
        </p:nvSpPr>
        <p:spPr bwMode="auto">
          <a:xfrm>
            <a:off x="86359" y="1388370"/>
            <a:ext cx="233823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25331894" name="文本框 8"/>
          <p:cNvSpPr txBox="1"/>
          <p:nvPr/>
        </p:nvSpPr>
        <p:spPr bwMode="auto">
          <a:xfrm>
            <a:off x="86359" y="232558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63287041" name="文本框 9"/>
          <p:cNvSpPr txBox="1"/>
          <p:nvPr/>
        </p:nvSpPr>
        <p:spPr bwMode="auto">
          <a:xfrm>
            <a:off x="86359" y="3261532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13679697" name="组合 19"/>
          <p:cNvGrpSpPr/>
          <p:nvPr/>
        </p:nvGrpSpPr>
        <p:grpSpPr bwMode="auto">
          <a:xfrm>
            <a:off x="0" y="409635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97029284" name="文本框 10"/>
          <p:cNvSpPr txBox="1"/>
          <p:nvPr/>
        </p:nvSpPr>
        <p:spPr bwMode="auto">
          <a:xfrm>
            <a:off x="86359" y="4198113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1296296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2689050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261194986" name="文本框 29"/>
          <p:cNvSpPr txBox="1"/>
          <p:nvPr/>
        </p:nvSpPr>
        <p:spPr bwMode="auto">
          <a:xfrm>
            <a:off x="46049" y="513469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657329" name="TextBox 21"/>
          <p:cNvSpPr txBox="1"/>
          <p:nvPr/>
        </p:nvSpPr>
        <p:spPr bwMode="auto">
          <a:xfrm>
            <a:off x="2743200" y="347471"/>
            <a:ext cx="878003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4.6 SQLite speedtest1 性能优化结果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19853495" name="Rounded Rectangle 24"/>
          <p:cNvSpPr/>
          <p:nvPr/>
        </p:nvSpPr>
        <p:spPr bwMode="auto">
          <a:xfrm>
            <a:off x="3108960" y="114300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D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8882897" name="TextBox 25"/>
          <p:cNvSpPr txBox="1"/>
          <p:nvPr/>
        </p:nvSpPr>
        <p:spPr bwMode="auto">
          <a:xfrm>
            <a:off x="3200397" y="1216150"/>
            <a:ext cx="1740598" cy="42707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2000" b="1">
                <a:solidFill>
                  <a:srgbClr val="BD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2010.7s</a:t>
            </a:r>
            <a:endParaRPr sz="2000" b="1">
              <a:solidFill>
                <a:srgbClr val="BD40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7484331" name="TextBox 26"/>
          <p:cNvSpPr txBox="1"/>
          <p:nvPr/>
        </p:nvSpPr>
        <p:spPr bwMode="auto">
          <a:xfrm>
            <a:off x="3200526" y="1593342"/>
            <a:ext cx="1683575" cy="259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初始版本</a:t>
            </a:r>
            <a:endParaRPr sz="1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52101624" name="Rounded Rectangle 27"/>
          <p:cNvSpPr/>
          <p:nvPr/>
        </p:nvSpPr>
        <p:spPr bwMode="auto">
          <a:xfrm>
            <a:off x="6134100" y="114300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89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03391597" name="TextBox 28"/>
          <p:cNvSpPr txBox="1"/>
          <p:nvPr/>
        </p:nvSpPr>
        <p:spPr bwMode="auto">
          <a:xfrm>
            <a:off x="6225539" y="1216151"/>
            <a:ext cx="1738439" cy="42707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2000" b="1">
                <a:solidFill>
                  <a:srgbClr val="38925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234.9s</a:t>
            </a:r>
            <a:endParaRPr sz="2000" b="1">
              <a:solidFill>
                <a:srgbClr val="38925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50859283" name="TextBox 29"/>
          <p:cNvSpPr txBox="1"/>
          <p:nvPr/>
        </p:nvSpPr>
        <p:spPr bwMode="auto">
          <a:xfrm>
            <a:off x="6207251" y="1581912"/>
            <a:ext cx="1683575" cy="25943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最终版本</a:t>
            </a:r>
            <a:endParaRPr sz="1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42032908" name="Rounded Rectangle 30"/>
          <p:cNvSpPr/>
          <p:nvPr/>
        </p:nvSpPr>
        <p:spPr bwMode="auto">
          <a:xfrm>
            <a:off x="8900160" y="1133475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003132" name="TextBox 31"/>
          <p:cNvSpPr txBox="1"/>
          <p:nvPr/>
        </p:nvSpPr>
        <p:spPr bwMode="auto">
          <a:xfrm>
            <a:off x="8991599" y="1216151"/>
            <a:ext cx="1738439" cy="42989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000" b="1">
                <a:solidFill>
                  <a:srgbClr val="EE89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8.6</a:t>
            </a:r>
            <a:r>
              <a:rPr sz="2000" b="1">
                <a:solidFill>
                  <a:srgbClr val="EE892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endParaRPr sz="2000" b="1">
              <a:solidFill>
                <a:srgbClr val="EE892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22797351" name="TextBox 32"/>
          <p:cNvSpPr txBox="1"/>
          <p:nvPr/>
        </p:nvSpPr>
        <p:spPr bwMode="auto">
          <a:xfrm>
            <a:off x="8991726" y="1592706"/>
            <a:ext cx="1683575" cy="25943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整体性能提升</a:t>
            </a:r>
            <a:endParaRPr sz="1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25255058" name="文本框 2"/>
          <p:cNvSpPr txBox="1"/>
          <p:nvPr/>
        </p:nvSpPr>
        <p:spPr bwMode="auto">
          <a:xfrm>
            <a:off x="8834119" y="2554365"/>
            <a:ext cx="2925024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初始版本中，每次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4KiB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写入都容易触发完整的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extent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查找、块分配、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JBD2 handle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和同步写回，导致真实应用性能明显低于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Linux EXT4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经过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unwritten extent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预分配、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DeviceBlockCache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WrittenCoverage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覆盖写路径、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fsync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批量写回和共享锁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O_DIRECT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等优化后，总耗时从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20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10.7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s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降至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234.9s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，整体提升约</a:t>
            </a:r>
            <a:r>
              <a:rPr lang="en-US" alt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8.6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倍。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024758329" name="图片 102475832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2743200" y="2631467"/>
            <a:ext cx="6039132" cy="3133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61525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250525" name="文本框 7"/>
          <p:cNvSpPr txBox="1"/>
          <p:nvPr/>
        </p:nvSpPr>
        <p:spPr bwMode="auto">
          <a:xfrm>
            <a:off x="86359" y="1388370"/>
            <a:ext cx="233823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25331894" name="文本框 8"/>
          <p:cNvSpPr txBox="1"/>
          <p:nvPr/>
        </p:nvSpPr>
        <p:spPr bwMode="auto">
          <a:xfrm>
            <a:off x="86359" y="232558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63287041" name="文本框 9"/>
          <p:cNvSpPr txBox="1"/>
          <p:nvPr/>
        </p:nvSpPr>
        <p:spPr bwMode="auto">
          <a:xfrm>
            <a:off x="86359" y="3261532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7029284" name="文本框 10"/>
          <p:cNvSpPr txBox="1"/>
          <p:nvPr/>
        </p:nvSpPr>
        <p:spPr bwMode="auto">
          <a:xfrm>
            <a:off x="86359" y="4198113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1296296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2689050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261194986" name="文本框 29"/>
          <p:cNvSpPr txBox="1"/>
          <p:nvPr/>
        </p:nvSpPr>
        <p:spPr bwMode="auto">
          <a:xfrm>
            <a:off x="46049" y="513469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37180" y="3752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ffectLst/>
                <a:ea typeface="+mn-lt"/>
                <a:cs typeface="+mn-lt"/>
              </a:rPr>
              <a:t>AI</a:t>
            </a:r>
            <a:r>
              <a:rPr lang="zh-CN" altLang="en-US" sz="2800" b="1">
                <a:solidFill>
                  <a:schemeClr val="tx1"/>
                </a:solidFill>
                <a:effectLst/>
                <a:ea typeface="+mn-lt"/>
                <a:cs typeface="+mn-lt"/>
              </a:rPr>
              <a:t>使用情况说明</a:t>
            </a:r>
            <a:endParaRPr lang="zh-CN" altLang="en-US" sz="2800" b="1">
              <a:solidFill>
                <a:schemeClr val="tx1"/>
              </a:solidFill>
              <a:effectLst/>
              <a:ea typeface="+mn-lt"/>
              <a:cs typeface="+mn-lt"/>
            </a:endParaRPr>
          </a:p>
        </p:txBody>
      </p:sp>
      <p:sp>
        <p:nvSpPr>
          <p:cNvPr id="416082897" name="文本框 1"/>
          <p:cNvSpPr txBox="1"/>
          <p:nvPr/>
        </p:nvSpPr>
        <p:spPr bwMode="auto">
          <a:xfrm>
            <a:off x="2907665" y="1901825"/>
            <a:ext cx="663892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chemeClr val="tx1"/>
                </a:solidFill>
                <a:effectLst/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使用工具：</a:t>
            </a:r>
            <a:endParaRPr b="1">
              <a:solidFill>
                <a:schemeClr val="tx1"/>
              </a:solidFill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交互与执行工具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   </a:t>
            </a:r>
            <a:r>
              <a:rPr lang="en-US" alt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Claude Code</a:t>
            </a:r>
            <a:r>
              <a:rPr lang="zh-CN" alt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（命令行交互与执行</a:t>
            </a:r>
            <a:r>
              <a:rPr lang="en-US" alt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 harness</a:t>
            </a:r>
            <a:r>
              <a:rPr lang="zh-CN" altLang="en-US" sz="16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）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lang="en-US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使用的大模型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lang="en-US" alt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DeepSeek V4 Pro</a:t>
            </a:r>
            <a:endParaRPr lang="en-US" alt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使用方式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   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本地终端交互</a:t>
            </a:r>
            <a:endParaRPr lang="zh-CN" alt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37180" y="979805"/>
            <a:ext cx="87985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+mn-lt"/>
                <a:cs typeface="+mn-lt"/>
              </a:rPr>
              <a:t>本项目使用</a:t>
            </a:r>
            <a:r>
              <a:rPr lang="en-US" altLang="zh-CN">
                <a:ea typeface="+mn-lt"/>
                <a:cs typeface="+mn-lt"/>
              </a:rPr>
              <a:t> AI </a:t>
            </a:r>
            <a:r>
              <a:rPr lang="zh-CN" altLang="en-US">
                <a:ea typeface="+mn-lt"/>
                <a:cs typeface="+mn-lt"/>
              </a:rPr>
              <a:t>的基本方式是：参赛队负责需求拆分、功能代码实现、代码修改、测试取舍、结果验收和最终提交；</a:t>
            </a:r>
            <a:r>
              <a:rPr lang="en-US" altLang="zh-CN">
                <a:ea typeface="+mn-lt"/>
                <a:cs typeface="+mn-lt"/>
              </a:rPr>
              <a:t>AI </a:t>
            </a:r>
            <a:r>
              <a:rPr lang="zh-CN" altLang="en-US">
                <a:ea typeface="+mn-lt"/>
                <a:cs typeface="+mn-lt"/>
              </a:rPr>
              <a:t>工具主要用于沟通实现思路、检查代码风险、排查运行</a:t>
            </a:r>
            <a:r>
              <a:rPr lang="en-US" altLang="zh-CN">
                <a:ea typeface="+mn-lt"/>
                <a:cs typeface="+mn-lt"/>
              </a:rPr>
              <a:t> bug</a:t>
            </a:r>
            <a:r>
              <a:rPr lang="zh-CN" altLang="en-US">
                <a:ea typeface="+mn-lt"/>
                <a:cs typeface="+mn-lt"/>
              </a:rPr>
              <a:t>、生成自动化测试脚本、整理测试数据表格，以及总结阶段状态供队内讨论。</a:t>
            </a:r>
            <a:endParaRPr lang="zh-CN" altLang="en-US">
              <a:ea typeface="+mn-lt"/>
              <a:cs typeface="+mn-lt"/>
            </a:endParaRPr>
          </a:p>
        </p:txBody>
      </p:sp>
      <p:sp>
        <p:nvSpPr>
          <p:cNvPr id="5" name="文本框 1"/>
          <p:cNvSpPr txBox="1"/>
          <p:nvPr/>
        </p:nvSpPr>
        <p:spPr bwMode="auto">
          <a:xfrm>
            <a:off x="2907665" y="3766185"/>
            <a:ext cx="898144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chemeClr val="tx1"/>
                </a:solidFill>
                <a:effectLst/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使用场景：</a:t>
            </a:r>
            <a:endParaRPr b="1">
              <a:solidFill>
                <a:schemeClr val="tx1"/>
              </a:solidFill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solidFill>
                  <a:schemeClr val="tx1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</a:rPr>
              <a:t>思路沟通与代码检查</a:t>
            </a:r>
            <a:r>
              <a:rPr lang="zh-CN" altLang="en-US" sz="1400">
                <a:latin typeface="Arial" panose="020B0604020202020204"/>
                <a:ea typeface="Arial" panose="020B0604020202020204"/>
                <a:cs typeface="Arial" panose="020B0604020202020204"/>
              </a:rPr>
              <a:t>：围绕参赛队已经实现或准备实现的功能，讨论可能影响的模块、边界条件和风险点。</a:t>
            </a:r>
            <a:endParaRPr lang="en-US" sz="14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运行问题排查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：当功能运行不正确、测试失败或出现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 panic/timeout 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时，辅助分析日志和报错信息。</a:t>
            </a:r>
            <a:endParaRPr lang="zh-CN" altLang="en-US" sz="140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自动化测试辅助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：由于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 xfstests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、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fio 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等测试耗时较长，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AI 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辅助编写测试脚本、整理运行命令，并按参赛队要求执行重复测试。</a:t>
            </a:r>
            <a:endParaRPr lang="zh-CN" altLang="en-US" sz="140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测试数据整理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：将多轮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 benchmark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、</a:t>
            </a:r>
            <a:r>
              <a:rPr lang="en-US" altLang="zh-CN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PASS/FAIL 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结果整理为表格，便于比较不同阶段的性能变化和正确性状态。</a:t>
            </a:r>
            <a:endParaRPr lang="zh-CN" altLang="en-US" sz="140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阶段状态总结</a:t>
            </a:r>
            <a:r>
              <a:rPr lang="zh-CN" altLang="en-US" sz="1400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：根据当前代码状态，总结阶段完成情况、遗留问题和下一步计划，方便队内沟通。</a:t>
            </a:r>
            <a:endParaRPr lang="zh-CN" altLang="en-US" sz="140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740" y="1984375"/>
            <a:ext cx="2234565" cy="1966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18759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95561420" name="文本框 7"/>
          <p:cNvSpPr txBox="1"/>
          <p:nvPr/>
        </p:nvSpPr>
        <p:spPr bwMode="auto">
          <a:xfrm>
            <a:off x="86359" y="1388370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79111926" name="文本框 8"/>
          <p:cNvSpPr txBox="1"/>
          <p:nvPr/>
        </p:nvSpPr>
        <p:spPr bwMode="auto">
          <a:xfrm>
            <a:off x="86359" y="2325586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32171867" name="文本框 9"/>
          <p:cNvSpPr txBox="1"/>
          <p:nvPr/>
        </p:nvSpPr>
        <p:spPr bwMode="auto">
          <a:xfrm>
            <a:off x="86359" y="3261532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25848381" name="文本框 10"/>
          <p:cNvSpPr txBox="1"/>
          <p:nvPr/>
        </p:nvSpPr>
        <p:spPr bwMode="auto">
          <a:xfrm>
            <a:off x="86359" y="4198113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92246456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08096220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grpSp>
        <p:nvGrpSpPr>
          <p:cNvPr id="507191311" name="组合 19"/>
          <p:cNvGrpSpPr/>
          <p:nvPr/>
        </p:nvGrpSpPr>
        <p:grpSpPr bwMode="auto">
          <a:xfrm>
            <a:off x="0" y="4984083"/>
            <a:ext cx="2737505" cy="762000"/>
            <a:chOff x="0" y="772160"/>
            <a:chExt cx="2737505" cy="762000"/>
          </a:xfrm>
        </p:grpSpPr>
        <p:sp>
          <p:nvSpPr>
            <p:cNvPr id="3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63870018" name="文本框 29"/>
          <p:cNvSpPr txBox="1"/>
          <p:nvPr/>
        </p:nvSpPr>
        <p:spPr bwMode="auto">
          <a:xfrm>
            <a:off x="46049" y="5134696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1528609" name="TextBox 37"/>
          <p:cNvSpPr txBox="1"/>
          <p:nvPr/>
        </p:nvSpPr>
        <p:spPr bwMode="auto">
          <a:xfrm>
            <a:off x="2743200" y="347471"/>
            <a:ext cx="878039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5.1 </a:t>
            </a:r>
            <a:r>
              <a:rPr lang="zh-CN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1617892350" name="表格 3"/>
          <p:cNvGraphicFramePr>
            <a:graphicFrameLocks noGrp="1"/>
          </p:cNvGraphicFramePr>
          <p:nvPr/>
        </p:nvGraphicFramePr>
        <p:xfrm>
          <a:off x="2737485" y="1297305"/>
          <a:ext cx="9083040" cy="423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50"/>
                <a:gridCol w="2533650"/>
                <a:gridCol w="4828540"/>
              </a:tblGrid>
              <a:tr h="50673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完成情况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说明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863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文件系统功能完成度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85%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POSIX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核心接口、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Extent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JBD2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fsync/fdatasync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PageCache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、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mmap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和并发读写均已实现并测试。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9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：崩溃恢复一致性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90%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已完成多场景验证。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02425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目标3：与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Linux 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的性能对比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基本完成（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85%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fio O_DIRECT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读写达到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Linux EXT4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90%</a:t>
                      </a:r>
                      <a:r>
                        <a:rPr lang="zh-CN" sz="16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以上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；并发同文件写在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nj=2/4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时达到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Linux 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165%/187%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。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928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：创新性优化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初步完成（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围绕</a:t>
                      </a:r>
                      <a:r>
                        <a:rPr lang="en-US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Rust </a:t>
                      </a: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语言特性、</a:t>
                      </a:r>
                      <a:r>
                        <a:rPr lang="en-US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Asterinas </a:t>
                      </a:r>
                      <a:r>
                        <a:rPr lang="zh-CN" sz="16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平台边界以及实际测试中暴露的性能瓶颈开展优化。</a:t>
                      </a:r>
                      <a:endParaRPr sz="1600" b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5098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85693537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637912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4316267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37234001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86638455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34263108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grpSp>
        <p:nvGrpSpPr>
          <p:cNvPr id="1157652546" name="组合 19"/>
          <p:cNvGrpSpPr/>
          <p:nvPr/>
        </p:nvGrpSpPr>
        <p:grpSpPr bwMode="auto">
          <a:xfrm>
            <a:off x="0" y="4984083"/>
            <a:ext cx="2737505" cy="762000"/>
            <a:chOff x="0" y="772160"/>
            <a:chExt cx="2737505" cy="762000"/>
          </a:xfrm>
        </p:grpSpPr>
        <p:sp>
          <p:nvSpPr>
            <p:cNvPr id="3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73196294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8747734" name="TextBox 37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5.1 </a:t>
            </a:r>
            <a:r>
              <a:rPr lang="zh-CN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项目总结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01329429" name="文本框 2"/>
          <p:cNvSpPr txBox="1"/>
          <p:nvPr/>
        </p:nvSpPr>
        <p:spPr bwMode="auto">
          <a:xfrm>
            <a:off x="2863850" y="1124585"/>
            <a:ext cx="4064000" cy="5251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主体功能完整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实现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POSIX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核心接口、目录操作、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Extent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连续块管理、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inode/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块分配与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Asterinas VFS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集成，完成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EXT4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主体功能。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强一致性保障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实现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JBD2 transaction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handle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commit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checkpoint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与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recovery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，支持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ordered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模式下的数据写回与日志提交顺序。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缓存与</a:t>
            </a:r>
            <a:r>
              <a:rPr lang="en-US" b="1">
                <a:latin typeface="Arial" panose="020B0604020202020204"/>
                <a:ea typeface="Arial" panose="020B0604020202020204"/>
                <a:cs typeface="Arial" panose="020B0604020202020204"/>
              </a:rPr>
              <a:t> I/O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协同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接入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PageCache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mmap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fsync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与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O_DIRECT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路径，统一处理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buffered I/O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、直接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I/O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和持久化语义。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894082" name="文本框 4"/>
          <p:cNvSpPr txBox="1"/>
          <p:nvPr/>
        </p:nvSpPr>
        <p:spPr bwMode="auto">
          <a:xfrm>
            <a:off x="7451724" y="1388109"/>
            <a:ext cx="4481554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系统化测试验证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通过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xfstests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Crash Matrix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fio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SQLite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和并发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hash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校验，覆盖功能、崩溃恢复、并发和性能。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性能持续优化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实现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DeviceBlockCache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WrittenCoverage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Extent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映射缓存、批量写回和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O_DIRECT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共享锁优化，在保证正确性的前提下提升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fio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SQLite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与并发负载表现。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74648147" name="图片 18" descr="post_object_image_23549903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7054215" y="4869180"/>
            <a:ext cx="4928870" cy="107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43648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46688395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964873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47272926" name="文本框 9"/>
          <p:cNvSpPr txBox="1"/>
          <p:nvPr/>
        </p:nvSpPr>
        <p:spPr bwMode="auto">
          <a:xfrm>
            <a:off x="86359" y="3261532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4680452" name="文本框 10"/>
          <p:cNvSpPr txBox="1"/>
          <p:nvPr/>
        </p:nvSpPr>
        <p:spPr bwMode="auto">
          <a:xfrm>
            <a:off x="86359" y="4198113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3650511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01699944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grpSp>
        <p:nvGrpSpPr>
          <p:cNvPr id="430329363" name="组合 19"/>
          <p:cNvGrpSpPr/>
          <p:nvPr/>
        </p:nvGrpSpPr>
        <p:grpSpPr bwMode="auto">
          <a:xfrm>
            <a:off x="0" y="4984083"/>
            <a:ext cx="2737505" cy="762000"/>
            <a:chOff x="0" y="772160"/>
            <a:chExt cx="2737505" cy="762000"/>
          </a:xfrm>
        </p:grpSpPr>
        <p:sp>
          <p:nvSpPr>
            <p:cNvPr id="3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65297588" name="文本框 29"/>
          <p:cNvSpPr txBox="1"/>
          <p:nvPr/>
        </p:nvSpPr>
        <p:spPr bwMode="auto">
          <a:xfrm>
            <a:off x="46049" y="513469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70589479" name="TextBox 37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</a:t>
            </a: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项目展望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5670462" name="文本框 1"/>
          <p:cNvSpPr txBox="1"/>
          <p:nvPr/>
        </p:nvSpPr>
        <p:spPr bwMode="auto">
          <a:xfrm>
            <a:off x="2737485" y="1071244"/>
            <a:ext cx="8294094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继续完成工作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对初赛阶段尚未完成的功能与待解决问题，在决赛阶段持续完善。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补齐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JBD2 revoke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写盘路径，完善元数据块释放、复用和崩溃恢复场景。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完善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ENOSPC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中途失败处理，加入回滚、只读降级和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e2fsck 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控制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通过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official xfstests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全量测试，补充测试所需的环境和能力。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完善已有工作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对当前已经完成的主体功能、日志恢复和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I/O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路径进一步优化。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■ </a:t>
            </a:r>
            <a:r>
              <a:rPr lang="zh-CN" b="1">
                <a:latin typeface="Arial" panose="020B0604020202020204"/>
                <a:ea typeface="Arial" panose="020B0604020202020204"/>
                <a:cs typeface="Arial" panose="020B0604020202020204"/>
              </a:rPr>
              <a:t>思考新的优化方向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在保证正确性的前提下，探索更接近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Linux EXT4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的性能路径。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研究安全前提下的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writeback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、脏页节流、空间预留和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delalloc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针对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SQLite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、</a:t>
            </a:r>
            <a:r>
              <a:rPr 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fio</a:t>
            </a:r>
            <a:r>
              <a:rPr 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等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场景继续做性能归因。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探索适合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Asterinas framekernel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架构的缓存、空间分配和异步</a:t>
            </a: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 I/O </a:t>
            </a:r>
            <a:r>
              <a:rPr lang="zh-CN">
                <a:latin typeface="Arial" panose="020B0604020202020204"/>
                <a:ea typeface="Arial" panose="020B0604020202020204"/>
                <a:cs typeface="Arial" panose="020B0604020202020204"/>
              </a:rPr>
              <a:t>优化方法。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</a:rPr>
              <a:t>……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649345" name="图片 6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52399" y="163511"/>
            <a:ext cx="3922388" cy="720000"/>
          </a:xfrm>
          <a:prstGeom prst="rect">
            <a:avLst/>
          </a:prstGeom>
        </p:spPr>
      </p:pic>
      <p:grpSp>
        <p:nvGrpSpPr>
          <p:cNvPr id="161754565" name="组合 30"/>
          <p:cNvGrpSpPr/>
          <p:nvPr/>
        </p:nvGrpSpPr>
        <p:grpSpPr bwMode="auto">
          <a:xfrm>
            <a:off x="2151350" y="1337698"/>
            <a:ext cx="7889293" cy="473519"/>
            <a:chOff x="2151350" y="1337698"/>
            <a:chExt cx="7889293" cy="473519"/>
          </a:xfrm>
        </p:grpSpPr>
        <p:sp>
          <p:nvSpPr>
            <p:cNvPr id="20" name="文本框 19"/>
            <p:cNvSpPr txBox="1"/>
            <p:nvPr/>
          </p:nvSpPr>
          <p:spPr bwMode="auto">
            <a:xfrm>
              <a:off x="2151350" y="1337698"/>
              <a:ext cx="788929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2024</a:t>
              </a:r>
              <a:r>
                <a:rPr lang="zh-CN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年全国大学生计算机系统能力大赛操作系统设计</a:t>
              </a:r>
              <a:endParaRPr lang="zh-CN" b="1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>
              <a:off x="3290563" y="1811217"/>
              <a:ext cx="56108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6812658" name="TextBox 31"/>
          <p:cNvSpPr txBox="1"/>
          <p:nvPr/>
        </p:nvSpPr>
        <p:spPr bwMode="auto">
          <a:xfrm>
            <a:off x="914400" y="2148840"/>
            <a:ext cx="457200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4200" b="1">
                <a:solidFill>
                  <a:srgbClr val="183F79"/>
                </a:solidFill>
                <a:latin typeface="微软雅黑" panose="020B0503020204020204" charset="-122"/>
              </a:rPr>
              <a:t>Thanks</a:t>
            </a:r>
            <a:endParaRPr sz="4200" b="1">
              <a:solidFill>
                <a:srgbClr val="183F79"/>
              </a:solidFill>
              <a:latin typeface="微软雅黑" panose="020B0503020204020204" charset="-122"/>
            </a:endParaRPr>
          </a:p>
        </p:txBody>
      </p:sp>
      <p:sp>
        <p:nvSpPr>
          <p:cNvPr id="1477303860" name="TextBox 32"/>
          <p:cNvSpPr txBox="1"/>
          <p:nvPr/>
        </p:nvSpPr>
        <p:spPr bwMode="auto">
          <a:xfrm>
            <a:off x="960120" y="2907792"/>
            <a:ext cx="566928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000" b="0">
                <a:solidFill>
                  <a:srgbClr val="183F79"/>
                </a:solidFill>
                <a:latin typeface="微软雅黑" panose="020B0503020204020204" charset="-122"/>
              </a:rPr>
              <a:t>Asterinas EXT4 文件系统设计与实现</a:t>
            </a:r>
            <a:endParaRPr sz="2000" b="0">
              <a:solidFill>
                <a:srgbClr val="183F79"/>
              </a:solidFill>
              <a:latin typeface="微软雅黑" panose="020B0503020204020204" charset="-122"/>
            </a:endParaRPr>
          </a:p>
        </p:txBody>
      </p:sp>
      <p:sp>
        <p:nvSpPr>
          <p:cNvPr id="379409400" name="TextBox 33"/>
          <p:cNvSpPr txBox="1"/>
          <p:nvPr/>
        </p:nvSpPr>
        <p:spPr bwMode="auto">
          <a:xfrm>
            <a:off x="1894839" y="4594860"/>
            <a:ext cx="7684494" cy="1737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队伍名称：日志写了吗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57200" lvl="1" indent="457200" algn="ctr">
              <a:lnSpc>
                <a:spcPct val="150000"/>
              </a:lnSpc>
              <a:defRPr/>
            </a:pPr>
            <a:r>
              <a:rPr lang="en-US" sz="2400" b="1"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队伍成员：俞杰、梁丙煜、王毅航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400" b="1"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校内导师：夏文、李诗逸</a:t>
            </a:r>
            <a:endParaRPr sz="2400" b="1">
              <a:solidFill>
                <a:srgbClr val="545C6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506866" name="矩形 7"/>
          <p:cNvSpPr/>
          <p:nvPr/>
        </p:nvSpPr>
        <p:spPr bwMode="auto">
          <a:xfrm>
            <a:off x="-5" y="0"/>
            <a:ext cx="12192000" cy="4411744"/>
          </a:xfrm>
          <a:prstGeom prst="rect">
            <a:avLst/>
          </a:prstGeom>
          <a:gradFill>
            <a:gsLst>
              <a:gs pos="0">
                <a:srgbClr val="215CC1"/>
              </a:gs>
              <a:gs pos="100000">
                <a:srgbClr val="215CC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pic>
        <p:nvPicPr>
          <p:cNvPr id="296191161" name="图片 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279399" y="290511"/>
            <a:ext cx="3922388" cy="720000"/>
          </a:xfrm>
          <a:prstGeom prst="rect">
            <a:avLst/>
          </a:prstGeom>
        </p:spPr>
      </p:pic>
      <p:grpSp>
        <p:nvGrpSpPr>
          <p:cNvPr id="1520355000" name="组合 3"/>
          <p:cNvGrpSpPr/>
          <p:nvPr/>
        </p:nvGrpSpPr>
        <p:grpSpPr bwMode="auto">
          <a:xfrm>
            <a:off x="2151350" y="1342143"/>
            <a:ext cx="7889293" cy="473519"/>
            <a:chOff x="2151350" y="1337698"/>
            <a:chExt cx="7889293" cy="473519"/>
          </a:xfrm>
        </p:grpSpPr>
        <p:sp>
          <p:nvSpPr>
            <p:cNvPr id="5" name="文本框 4"/>
            <p:cNvSpPr txBox="1"/>
            <p:nvPr/>
          </p:nvSpPr>
          <p:spPr bwMode="auto">
            <a:xfrm>
              <a:off x="2151350" y="1337698"/>
              <a:ext cx="788929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latin typeface="Helvetica Neue"/>
                </a:rPr>
                <a:t>2026</a:t>
              </a:r>
              <a:r>
                <a:rPr lang="zh-CN" b="1">
                  <a:solidFill>
                    <a:srgbClr val="FFFFFF"/>
                  </a:solidFill>
                  <a:latin typeface="Helvetica Neue"/>
                </a:rPr>
                <a:t>年全国大学生计算机系统能力大赛操作系统设计</a:t>
              </a:r>
              <a:endParaRPr lang="zh-CN" b="1">
                <a:latin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>
              <a:off x="3290563" y="1811217"/>
              <a:ext cx="56108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9606925" name="文本框 10"/>
          <p:cNvSpPr txBox="1"/>
          <p:nvPr/>
        </p:nvSpPr>
        <p:spPr bwMode="auto">
          <a:xfrm>
            <a:off x="999720" y="2033677"/>
            <a:ext cx="10195089" cy="82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Thanks</a:t>
            </a:r>
            <a:endParaRPr lang="en-US" sz="4800" b="1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13408388" name="文本框 9"/>
          <p:cNvSpPr txBox="1"/>
          <p:nvPr/>
        </p:nvSpPr>
        <p:spPr bwMode="auto">
          <a:xfrm>
            <a:off x="3683635" y="2907665"/>
            <a:ext cx="53003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Proj8-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Research on High-Performance and Strong-Consistency File System for RustOS</a:t>
            </a:r>
            <a:endParaRPr lang="en-US" sz="24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zh-CN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8622</Words>
  <Application>WPS 演示</Application>
  <PresentationFormat>On-screen Show (4:3)</PresentationFormat>
  <Paragraphs>875</Paragraphs>
  <Slides>28</Slides>
  <Notes>27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Arial</vt:lpstr>
      <vt:lpstr>Times New Roman</vt:lpstr>
      <vt:lpstr>微软雅黑</vt:lpstr>
      <vt:lpstr>等线</vt:lpstr>
      <vt:lpstr>Arial Unicode MS</vt:lpstr>
      <vt:lpstr>等线 Light</vt:lpstr>
      <vt:lpstr>Wingdings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Wade Wilson</dc:creator>
  <cp:lastModifiedBy>俞杰</cp:lastModifiedBy>
  <cp:revision>71</cp:revision>
  <dcterms:created xsi:type="dcterms:W3CDTF">2026-06-23T15:20:00Z</dcterms:created>
  <dcterms:modified xsi:type="dcterms:W3CDTF">2026-06-27T12:54:25Z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4B21ECCC776B4CCE8D8722BBF71E9A00_13</vt:lpwstr>
  </property>
  <property fmtid="{D5CDD505-2E9C-101B-9397-08002B2CF9AE}" pid="3" name="KSOProductBuildVer">
    <vt:lpwstr>2052-12.1.0.24031</vt:lpwstr>
  </property>
</Properties>
</file>