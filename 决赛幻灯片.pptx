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3.svg" ContentType="image/svg+xml"/>
  <Override PartName="/ppt/media/image2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84" r:id="rId20"/>
    <p:sldId id="272" r:id="rId21"/>
    <p:sldId id="273" r:id="rId22"/>
    <p:sldId id="275" r:id="rId23"/>
    <p:sldId id="286" r:id="rId24"/>
    <p:sldId id="287" r:id="rId25"/>
    <p:sldId id="276" r:id="rId26"/>
    <p:sldId id="277" r:id="rId27"/>
    <p:sldId id="278" r:id="rId28"/>
    <p:sldId id="283" r:id="rId29"/>
    <p:sldId id="280" r:id="rId30"/>
    <p:sldId id="279" r:id="rId31"/>
    <p:sldId id="282" r:id="rId32"/>
  </p:sldIdLst>
  <p:sldSz cx="12192000" cy="6858000"/>
  <p:notesSz cx="6858000" cy="9144000"/>
  <p:defaultTextStyle>
    <a:defPPr>
      <a:defRPr lang="zh-CN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2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114" y="246"/>
      </p:cViewPr>
      <p:guideLst>
        <p:guide pos="3840"/>
        <p:guide orient="horz" pos="22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283276" name="页眉占位符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235978061" name="日期占位符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B8A4295-B070-46F3-B15F-D4E196C5EB95}" type="datetimeFigureOut">
              <a:rPr lang="en-US"/>
            </a:fld>
            <a:endParaRPr lang="zh-CN"/>
          </a:p>
        </p:txBody>
      </p:sp>
      <p:sp>
        <p:nvSpPr>
          <p:cNvPr id="226982451" name="幻灯片图像占位符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zh-CN"/>
          </a:p>
        </p:txBody>
      </p:sp>
      <p:sp>
        <p:nvSpPr>
          <p:cNvPr id="1254395817" name="备注占位符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二级</a:t>
            </a:r>
            <a:endParaRPr lang="zh-CN"/>
          </a:p>
          <a:p>
            <a:pPr lvl="2">
              <a:defRPr/>
            </a:pPr>
            <a:r>
              <a:rPr lang="zh-CN"/>
              <a:t>三级</a:t>
            </a:r>
            <a:endParaRPr lang="zh-CN"/>
          </a:p>
          <a:p>
            <a:pPr lvl="3">
              <a:defRPr/>
            </a:pPr>
            <a:r>
              <a:rPr lang="zh-CN"/>
              <a:t>四级</a:t>
            </a:r>
            <a:endParaRPr lang="zh-CN"/>
          </a:p>
          <a:p>
            <a:pPr lvl="4">
              <a:defRPr/>
            </a:pPr>
            <a:r>
              <a:rPr lang="zh-CN"/>
              <a:t>五级</a:t>
            </a:r>
            <a:endParaRPr lang="zh-CN"/>
          </a:p>
        </p:txBody>
      </p:sp>
      <p:sp>
        <p:nvSpPr>
          <p:cNvPr id="827000167" name="页脚占位符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815753717" name="灯片编号占位符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02DFC15-3355-469B-85D3-7BD4F7D9FC5B}" type="slidenum">
              <a:rPr lang="en-US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8544370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59710348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507197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912031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19368878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C63B67-02AD-1C20-89C3-8F2A32FB6F55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8969974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7789364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4034199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49904375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6143309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517343285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2884798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63544574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267485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75898970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0111023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70133213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1212472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275751543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882687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45020765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300403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21907960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8003503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110373359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027559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29716609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298829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25616412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089050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00797162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207327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14056560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9985952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47948057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21BE5B-7573-B8A3-DF06-C922D58B7910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627769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49574879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627769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49574879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627769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49574879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055201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2430282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7743228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873360538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4112364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32616747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4112364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32616747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2541046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16318863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524851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76001008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73374" name="幻灯片图像占位符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34412522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标题幻灯片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0153794" name="标题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836518979" name="副标题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zh-CN"/>
              <a:t>单击此处编辑母版副标题样式</a:t>
            </a:r>
            <a:endParaRPr lang="zh-CN"/>
          </a:p>
        </p:txBody>
      </p:sp>
      <p:sp>
        <p:nvSpPr>
          <p:cNvPr id="704199438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CB34F21-4D77-43D5-81A5-2C827B8679A7}" type="datetime1">
              <a:rPr lang="en-US"/>
            </a:fld>
            <a:endParaRPr lang="zh-CN"/>
          </a:p>
        </p:txBody>
      </p:sp>
      <p:sp>
        <p:nvSpPr>
          <p:cNvPr id="190521641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354656750" name="文本框 5"/>
          <p:cNvSpPr txBox="1"/>
          <p:nvPr userDrawn="1"/>
        </p:nvSpPr>
        <p:spPr bwMode="auto">
          <a:xfrm>
            <a:off x="11475720" y="658685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PhAnim="0" userDrawn="1">
  <p:cSld name="标题和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73300" name="标题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751362690" name="内容占位符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二级</a:t>
            </a:r>
            <a:endParaRPr lang="zh-CN"/>
          </a:p>
          <a:p>
            <a:pPr lvl="2">
              <a:defRPr/>
            </a:pPr>
            <a:r>
              <a:rPr lang="zh-CN"/>
              <a:t>三级</a:t>
            </a:r>
            <a:endParaRPr lang="zh-CN"/>
          </a:p>
          <a:p>
            <a:pPr lvl="3">
              <a:defRPr/>
            </a:pPr>
            <a:r>
              <a:rPr lang="zh-CN"/>
              <a:t>四级</a:t>
            </a:r>
            <a:endParaRPr lang="zh-CN"/>
          </a:p>
          <a:p>
            <a:pPr lvl="4">
              <a:defRPr/>
            </a:pPr>
            <a:r>
              <a:rPr lang="zh-CN"/>
              <a:t>五级</a:t>
            </a:r>
            <a:endParaRPr lang="zh-CN"/>
          </a:p>
        </p:txBody>
      </p:sp>
      <p:sp>
        <p:nvSpPr>
          <p:cNvPr id="697566084" name="日期占位符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08FC3F3-897E-44E4-9BD4-3E6A1CD90B4B}" type="datetime1">
              <a:rPr lang="en-US"/>
            </a:fld>
            <a:endParaRPr lang="zh-CN"/>
          </a:p>
        </p:txBody>
      </p:sp>
      <p:sp>
        <p:nvSpPr>
          <p:cNvPr id="1492133457" name="页脚占位符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带导航页面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511530" name="矩形 6"/>
          <p:cNvSpPr/>
          <p:nvPr userDrawn="1"/>
        </p:nvSpPr>
        <p:spPr bwMode="auto">
          <a:xfrm>
            <a:off x="0" y="0"/>
            <a:ext cx="3220720" cy="6858000"/>
          </a:xfrm>
          <a:prstGeom prst="rect">
            <a:avLst/>
          </a:prstGeom>
          <a:gradFill>
            <a:gsLst>
              <a:gs pos="0">
                <a:srgbClr val="D1E6F3"/>
              </a:gs>
              <a:gs pos="100000">
                <a:srgbClr val="DEF0F9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1009960447" name="内容占位符 14"/>
          <p:cNvSpPr>
            <a:spLocks noGrp="1"/>
          </p:cNvSpPr>
          <p:nvPr>
            <p:ph sz="quarter" idx="10"/>
          </p:nvPr>
        </p:nvSpPr>
        <p:spPr bwMode="auto">
          <a:xfrm>
            <a:off x="295274" y="528638"/>
            <a:ext cx="2214563" cy="5830887"/>
          </a:xfrm>
        </p:spPr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二级</a:t>
            </a:r>
            <a:endParaRPr lang="zh-CN"/>
          </a:p>
          <a:p>
            <a:pPr lvl="2">
              <a:defRPr/>
            </a:pPr>
            <a:r>
              <a:rPr lang="zh-CN"/>
              <a:t>三级</a:t>
            </a:r>
            <a:endParaRPr lang="zh-CN"/>
          </a:p>
          <a:p>
            <a:pPr lvl="3">
              <a:defRPr/>
            </a:pPr>
            <a:r>
              <a:rPr lang="zh-CN"/>
              <a:t>四级</a:t>
            </a:r>
            <a:endParaRPr lang="zh-CN"/>
          </a:p>
          <a:p>
            <a:pPr lvl="4">
              <a:defRPr/>
            </a:pPr>
            <a:r>
              <a:rPr lang="zh-CN"/>
              <a:t>五级</a:t>
            </a:r>
            <a:endParaRPr lang="zh-CN"/>
          </a:p>
        </p:txBody>
      </p:sp>
      <p:sp>
        <p:nvSpPr>
          <p:cNvPr id="1385058371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95449E5-BCFC-43B8-9298-C792E301F5DA}" type="slidenum">
              <a:rPr lang="en-US"/>
            </a:fld>
            <a:r>
              <a:rPr lang="en-US"/>
              <a:t>/114</a:t>
            </a:r>
            <a:endParaRPr lang="zh-CN"/>
          </a:p>
        </p:txBody>
      </p:sp>
      <p:sp>
        <p:nvSpPr>
          <p:cNvPr id="1493502274" name="文本框 2"/>
          <p:cNvSpPr txBox="1"/>
          <p:nvPr userDrawn="1"/>
        </p:nvSpPr>
        <p:spPr bwMode="auto">
          <a:xfrm>
            <a:off x="11586210" y="65881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PhAnim="0" userDrawn="1">
  <p:cSld name="空白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367505" name="日期占位符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zh-CN" altLang="en-US"/>
            </a:fld>
            <a:endParaRPr lang="zh-CN"/>
          </a:p>
        </p:txBody>
      </p:sp>
      <p:sp>
        <p:nvSpPr>
          <p:cNvPr id="131309441" name="页脚占位符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524431443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610600" y="6356350"/>
            <a:ext cx="2743200" cy="365125"/>
          </a:xfrm>
        </p:spPr>
        <p:txBody>
          <a:bodyPr/>
          <a:lstStyle/>
          <a:p>
            <a:pPr>
              <a:defRPr/>
            </a:pPr>
            <a:fld id="{49AE70B2-8BF9-45C0-BB95-33D1B9D3A854}" type="slidenum">
              <a:rPr lang="en-US" altLang="zh-CN"/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4208920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57561338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二级</a:t>
            </a:r>
            <a:endParaRPr lang="zh-CN"/>
          </a:p>
          <a:p>
            <a:pPr lvl="2">
              <a:defRPr/>
            </a:pPr>
            <a:r>
              <a:rPr lang="zh-CN"/>
              <a:t>三级</a:t>
            </a:r>
            <a:endParaRPr lang="zh-CN"/>
          </a:p>
          <a:p>
            <a:pPr lvl="3">
              <a:defRPr/>
            </a:pPr>
            <a:r>
              <a:rPr lang="zh-CN"/>
              <a:t>四级</a:t>
            </a:r>
            <a:endParaRPr lang="zh-CN"/>
          </a:p>
          <a:p>
            <a:pPr lvl="4">
              <a:defRPr/>
            </a:pPr>
            <a:r>
              <a:rPr lang="zh-CN"/>
              <a:t>五级</a:t>
            </a:r>
            <a:endParaRPr lang="zh-CN"/>
          </a:p>
        </p:txBody>
      </p:sp>
      <p:sp>
        <p:nvSpPr>
          <p:cNvPr id="1147801656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22328E2-7D99-4FDE-B9B2-57203E0F95C5}" type="datetime1">
              <a:rPr lang="en-US"/>
            </a:fld>
            <a:endParaRPr lang="zh-CN"/>
          </a:p>
        </p:txBody>
      </p:sp>
      <p:sp>
        <p:nvSpPr>
          <p:cNvPr id="90669716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94034755" name="平行四边形 6"/>
          <p:cNvSpPr/>
          <p:nvPr userDrawn="1"/>
        </p:nvSpPr>
        <p:spPr bwMode="auto">
          <a:xfrm>
            <a:off x="11185864" y="6489577"/>
            <a:ext cx="926237" cy="231898"/>
          </a:xfrm>
          <a:prstGeom prst="parallelogram">
            <a:avLst>
              <a:gd name="adj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zh-CN" sz="1200"/>
              <a:t>  </a:t>
            </a:r>
            <a:fld id="{495449E5-BCFC-43B8-9298-C792E301F5DA}" type="slidenum">
              <a:rPr lang="en-US" sz="1200"/>
            </a:fld>
            <a:r>
              <a:rPr lang="en-US" sz="1200"/>
              <a:t> /29</a:t>
            </a:r>
            <a:endParaRPr lang="zh-CN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 panose="020B0604020202020204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0.svg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.xml"/><Relationship Id="rId2" Type="http://schemas.openxmlformats.org/officeDocument/2006/relationships/image" Target="../media/image6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.xml"/><Relationship Id="rId2" Type="http://schemas.openxmlformats.org/officeDocument/2006/relationships/image" Target="../media/image6.png"/><Relationship Id="rId1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6.png"/><Relationship Id="rId1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image" Target="../media/image6.png"/><Relationship Id="rId14" Type="http://schemas.openxmlformats.org/officeDocument/2006/relationships/notesSlide" Target="../notesSlides/notesSlide24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26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7.png"/><Relationship Id="rId2" Type="http://schemas.openxmlformats.org/officeDocument/2006/relationships/image" Target="../media/image6.png"/><Relationship Id="rId1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8.png"/><Relationship Id="rId2" Type="http://schemas.openxmlformats.org/officeDocument/2006/relationships/image" Target="../media/image6.png"/><Relationship Id="rId1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8.png"/><Relationship Id="rId2" Type="http://schemas.openxmlformats.org/officeDocument/2006/relationships/image" Target="../media/image6.png"/><Relationship Id="rId1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67596407" name="图形 17" descr="功能区"/>
          <p:cNvPicPr>
            <a:picLocks noChangeAspect="1"/>
          </p:cNvPicPr>
          <p:nvPr/>
        </p:nvPicPr>
        <p:blipFill rotWithShape="1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auto">
          <a:xfrm>
            <a:off x="10991296" y="381594"/>
            <a:ext cx="914400" cy="914400"/>
          </a:xfrm>
          <a:prstGeom prst="rect">
            <a:avLst/>
          </a:prstGeom>
        </p:spPr>
      </p:pic>
      <p:pic>
        <p:nvPicPr>
          <p:cNvPr id="751478523" name="图片 18"/>
          <p:cNvPicPr>
            <a:picLocks noChangeAspect="1"/>
          </p:cNvPicPr>
          <p:nvPr/>
        </p:nvPicPr>
        <p:blipFill rotWithShape="1">
          <a:blip r:embed="rId3"/>
          <a:srcRect t="29956" r="-277"/>
          <a:stretch>
            <a:fillRect/>
          </a:stretch>
        </p:blipFill>
        <p:spPr bwMode="auto">
          <a:xfrm>
            <a:off x="286304" y="252136"/>
            <a:ext cx="5288915" cy="1173317"/>
          </a:xfrm>
          <a:prstGeom prst="rect">
            <a:avLst/>
          </a:prstGeom>
        </p:spPr>
      </p:pic>
      <p:sp>
        <p:nvSpPr>
          <p:cNvPr id="2048982309" name="TextBox 19"/>
          <p:cNvSpPr txBox="1"/>
          <p:nvPr/>
        </p:nvSpPr>
        <p:spPr bwMode="auto">
          <a:xfrm>
            <a:off x="2251710" y="1425575"/>
            <a:ext cx="6949440" cy="903605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sz="4800" b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Asterinas EXT4</a:t>
            </a:r>
            <a:endParaRPr sz="4800" b="1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44998377" name="TextBox 20"/>
          <p:cNvSpPr txBox="1"/>
          <p:nvPr/>
        </p:nvSpPr>
        <p:spPr bwMode="auto">
          <a:xfrm>
            <a:off x="2773172" y="2395220"/>
            <a:ext cx="6583680" cy="11734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3200" b="1">
                <a:latin typeface="Times New Roman" panose="02020603050405020304"/>
                <a:cs typeface="Times New Roman" panose="02020603050405020304"/>
              </a:rPr>
              <a:t>—</a:t>
            </a:r>
            <a:r>
              <a:rPr sz="3200" b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面向RustOS的高性能强一致性 EXT4文件系统</a:t>
            </a:r>
            <a:endParaRPr sz="3200" b="1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13324218" name="TextBox 21"/>
          <p:cNvSpPr txBox="1"/>
          <p:nvPr/>
        </p:nvSpPr>
        <p:spPr bwMode="auto">
          <a:xfrm>
            <a:off x="2773045" y="3619500"/>
            <a:ext cx="7390765" cy="10388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800" b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proj</a:t>
            </a:r>
            <a:r>
              <a:rPr lang="en-US" sz="2800" b="1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rPr>
              <a:t>8-Research on High-Performance and Strong-Consistency File System for RustOS</a:t>
            </a:r>
            <a:endParaRPr lang="en-US" sz="2800" b="1">
              <a:solidFill>
                <a:schemeClr val="tx1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62902207" name="TextBox 22"/>
          <p:cNvSpPr txBox="1"/>
          <p:nvPr/>
        </p:nvSpPr>
        <p:spPr bwMode="auto">
          <a:xfrm>
            <a:off x="4049394" y="4672329"/>
            <a:ext cx="5669639" cy="1920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50000"/>
              </a:lnSpc>
              <a:defRPr/>
            </a:pPr>
            <a:r>
              <a:rPr lang="zh-CN" sz="2000" b="1">
                <a:latin typeface="Arial" panose="020B0604020202020204"/>
                <a:ea typeface="Arial" panose="020B0604020202020204"/>
                <a:cs typeface="Arial" panose="020B0604020202020204"/>
              </a:rPr>
              <a:t>队伍名称：日志写了吗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algn="l">
              <a:lnSpc>
                <a:spcPct val="150000"/>
              </a:lnSpc>
              <a:defRPr/>
            </a:pPr>
            <a:r>
              <a:rPr lang="zh-CN" sz="2000" b="1">
                <a:latin typeface="Arial" panose="020B0604020202020204"/>
                <a:ea typeface="Arial" panose="020B0604020202020204"/>
                <a:cs typeface="Arial" panose="020B0604020202020204"/>
              </a:rPr>
              <a:t>队伍成员：俞杰、梁丙煜、王毅航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algn="l">
              <a:lnSpc>
                <a:spcPct val="150000"/>
              </a:lnSpc>
              <a:defRPr/>
            </a:pPr>
            <a:r>
              <a:rPr lang="zh-CN" sz="2000" b="1">
                <a:latin typeface="Arial" panose="020B0604020202020204"/>
                <a:ea typeface="Arial" panose="020B0604020202020204"/>
                <a:cs typeface="Arial" panose="020B0604020202020204"/>
              </a:rPr>
              <a:t>校内导师：夏文、李诗逸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algn="l">
              <a:lnSpc>
                <a:spcPct val="150000"/>
              </a:lnSpc>
              <a:defRPr/>
            </a:pPr>
            <a:endParaRPr sz="2000" b="0">
              <a:solidFill>
                <a:srgbClr val="545C69"/>
              </a:solidFill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975274" name="TextBox 1"/>
          <p:cNvSpPr txBox="1"/>
          <p:nvPr/>
        </p:nvSpPr>
        <p:spPr bwMode="auto">
          <a:xfrm>
            <a:off x="862457" y="302895"/>
            <a:ext cx="4572360" cy="762359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40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答辩大纲</a:t>
            </a:r>
            <a:endParaRPr sz="400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07442" name="TextBox 2"/>
          <p:cNvSpPr txBox="1"/>
          <p:nvPr/>
        </p:nvSpPr>
        <p:spPr bwMode="auto">
          <a:xfrm>
            <a:off x="862329" y="1254124"/>
            <a:ext cx="4572360" cy="605707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1、项目背景</a:t>
            </a:r>
            <a:endParaRPr sz="280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872305785" name="TextBox 3"/>
          <p:cNvSpPr txBox="1"/>
          <p:nvPr/>
        </p:nvSpPr>
        <p:spPr bwMode="auto">
          <a:xfrm>
            <a:off x="862329" y="2017267"/>
            <a:ext cx="4572360" cy="605707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2、项目目标</a:t>
            </a:r>
            <a:endParaRPr sz="280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10806986" name="TextBox 4"/>
          <p:cNvSpPr txBox="1"/>
          <p:nvPr/>
        </p:nvSpPr>
        <p:spPr bwMode="auto">
          <a:xfrm>
            <a:off x="862329" y="2884550"/>
            <a:ext cx="4572360" cy="605707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3、设计实现</a:t>
            </a:r>
            <a:endParaRPr sz="280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22219964" name="TextBox 5"/>
          <p:cNvSpPr txBox="1"/>
          <p:nvPr/>
        </p:nvSpPr>
        <p:spPr bwMode="auto">
          <a:xfrm>
            <a:off x="862329" y="3751833"/>
            <a:ext cx="4572360" cy="605707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4、项目测试</a:t>
            </a:r>
            <a:endParaRPr sz="280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58374847" name="TextBox 6"/>
          <p:cNvSpPr txBox="1"/>
          <p:nvPr/>
        </p:nvSpPr>
        <p:spPr bwMode="auto">
          <a:xfrm>
            <a:off x="862329" y="5309362"/>
            <a:ext cx="4572360" cy="56515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lang="en-US"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</a:t>
            </a:r>
            <a:r>
              <a:rPr sz="28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、总结展望</a:t>
            </a:r>
            <a:endParaRPr sz="280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96925" y="4514850"/>
            <a:ext cx="5956300" cy="5651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lang="en-US" sz="2800" b="1"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5</a:t>
            </a:r>
            <a:r>
              <a:rPr sz="2800" b="1"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、</a:t>
            </a:r>
            <a:r>
              <a:rPr lang="en-US" sz="2800" b="1"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AI</a:t>
            </a:r>
            <a:r>
              <a:rPr lang="zh-CN" altLang="en-US" sz="2800" b="1">
                <a:latin typeface="Arial" panose="020B0604020202020204"/>
                <a:ea typeface="宋体" panose="02010600030101010101" pitchFamily="2" charset="-122"/>
                <a:cs typeface="Arial" panose="020B0604020202020204"/>
                <a:sym typeface="+mn-ea"/>
              </a:rPr>
              <a:t>的使用</a:t>
            </a:r>
            <a:endParaRPr lang="zh-CN" altLang="en-US" sz="2800" b="1">
              <a:latin typeface="Arial" panose="020B0604020202020204"/>
              <a:ea typeface="宋体" panose="02010600030101010101" pitchFamily="2" charset="-122"/>
              <a:cs typeface="Arial" panose="020B0604020202020204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3666165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8973164" name="组合 19"/>
          <p:cNvGrpSpPr/>
          <p:nvPr/>
        </p:nvGrpSpPr>
        <p:grpSpPr bwMode="auto">
          <a:xfrm>
            <a:off x="0" y="1256291"/>
            <a:ext cx="2737505" cy="762000"/>
            <a:chOff x="0" y="772160"/>
            <a:chExt cx="2737505" cy="762000"/>
          </a:xfrm>
        </p:grpSpPr>
        <p:sp>
          <p:nvSpPr>
            <p:cNvPr id="15" name="矩形 14"/>
            <p:cNvSpPr/>
            <p:nvPr/>
          </p:nvSpPr>
          <p:spPr bwMode="auto">
            <a:xfrm>
              <a:off x="0" y="772160"/>
              <a:ext cx="2509520" cy="76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" name="等腰三角形 16"/>
            <p:cNvSpPr/>
            <p:nvPr/>
          </p:nvSpPr>
          <p:spPr bwMode="auto">
            <a:xfrm rot="5400000">
              <a:off x="2491281" y="1039167"/>
              <a:ext cx="264463" cy="227985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839667791" name="文本框 7"/>
          <p:cNvSpPr txBox="1"/>
          <p:nvPr/>
        </p:nvSpPr>
        <p:spPr bwMode="auto">
          <a:xfrm>
            <a:off x="86359" y="1388370"/>
            <a:ext cx="233751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3273435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74620497" name="文本框 9"/>
          <p:cNvSpPr txBox="1"/>
          <p:nvPr/>
        </p:nvSpPr>
        <p:spPr bwMode="auto">
          <a:xfrm>
            <a:off x="85724" y="3199937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18838492" name="文本框 10"/>
          <p:cNvSpPr txBox="1"/>
          <p:nvPr/>
        </p:nvSpPr>
        <p:spPr bwMode="auto">
          <a:xfrm>
            <a:off x="86359" y="4061588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804725256" name="图形 22" descr="文凭卷筒"/>
          <p:cNvPicPr>
            <a:picLocks noChangeAspect="1"/>
          </p:cNvPicPr>
          <p:nvPr/>
        </p:nvPicPr>
        <p:blipFill rotWithShape="1"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auto">
          <a:xfrm>
            <a:off x="797560" y="5943600"/>
            <a:ext cx="914400" cy="914400"/>
          </a:xfrm>
          <a:prstGeom prst="rect">
            <a:avLst/>
          </a:prstGeom>
        </p:spPr>
      </p:pic>
      <p:pic>
        <p:nvPicPr>
          <p:cNvPr id="2117880368" name="图片 1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 bwMode="auto">
          <a:xfrm>
            <a:off x="126668" y="311328"/>
            <a:ext cx="2256183" cy="414149"/>
          </a:xfrm>
          <a:prstGeom prst="rect">
            <a:avLst/>
          </a:prstGeom>
        </p:spPr>
      </p:pic>
      <p:sp>
        <p:nvSpPr>
          <p:cNvPr id="484873683" name="文本框 29"/>
          <p:cNvSpPr txBox="1"/>
          <p:nvPr/>
        </p:nvSpPr>
        <p:spPr bwMode="auto">
          <a:xfrm>
            <a:off x="86054" y="556014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40076332" name="文本框 24"/>
          <p:cNvSpPr txBox="1"/>
          <p:nvPr/>
        </p:nvSpPr>
        <p:spPr bwMode="auto">
          <a:xfrm>
            <a:off x="2717800" y="320675"/>
            <a:ext cx="9144000" cy="481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en-US" sz="2800" b="1">
                <a:solidFill>
                  <a:srgbClr val="000000"/>
                </a:solidFill>
                <a:ea typeface="+mn-lt"/>
                <a:cs typeface="+mn-lt"/>
              </a:rPr>
              <a:t>1.1 </a:t>
            </a:r>
            <a:r>
              <a:rPr lang="zh-CN" sz="2800" b="1">
                <a:solidFill>
                  <a:srgbClr val="000000"/>
                </a:solidFill>
                <a:ea typeface="+mn-lt"/>
                <a:cs typeface="+mn-lt"/>
              </a:rPr>
              <a:t>文件系统</a:t>
            </a:r>
            <a:endParaRPr lang="zh-CN" sz="2800" b="1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1503488876" name="文本框 26"/>
          <p:cNvSpPr txBox="1"/>
          <p:nvPr/>
        </p:nvSpPr>
        <p:spPr bwMode="auto">
          <a:xfrm>
            <a:off x="2737485" y="1043940"/>
            <a:ext cx="8653145" cy="10356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现代云服务可以灵活调度计算任务，但数据最终仍要落到持久化存储中。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AI</a:t>
            </a: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训练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checkpoint</a:t>
            </a: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、数据库日志与数据页、对象存储元数据等，都需要通过文件系统完成组织和读写。</a:t>
            </a:r>
            <a:endParaRPr lang="zh-CN" sz="1600">
              <a:solidFill>
                <a:srgbClr val="000000"/>
              </a:solidFill>
              <a:ea typeface="+mn-lt"/>
              <a:cs typeface="+mn-lt"/>
            </a:endParaRPr>
          </a:p>
          <a:p>
            <a:pPr algn="l">
              <a:spcAft>
                <a:spcPts val="0"/>
              </a:spcAft>
              <a:defRPr/>
            </a:pPr>
            <a:endParaRPr lang="zh-CN" sz="1600">
              <a:solidFill>
                <a:srgbClr val="000000"/>
              </a:solidFill>
              <a:ea typeface="+mn-lt"/>
              <a:cs typeface="+mn-lt"/>
            </a:endParaRPr>
          </a:p>
          <a:p>
            <a:pPr algn="l">
              <a:spcAft>
                <a:spcPts val="0"/>
              </a:spcAft>
              <a:defRPr/>
            </a:pPr>
            <a:endParaRPr lang="zh-CN" sz="16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546226707" name="圆角矩形 17"/>
          <p:cNvSpPr/>
          <p:nvPr/>
        </p:nvSpPr>
        <p:spPr bwMode="auto">
          <a:xfrm>
            <a:off x="2717800" y="2259330"/>
            <a:ext cx="4432300" cy="3815714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5240"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1548972293" name="文本框 18"/>
          <p:cNvSpPr txBox="1"/>
          <p:nvPr/>
        </p:nvSpPr>
        <p:spPr bwMode="auto">
          <a:xfrm>
            <a:off x="3215640" y="2818130"/>
            <a:ext cx="3251200" cy="225425"/>
          </a:xfrm>
          <a:prstGeom prst="rect">
            <a:avLst/>
          </a:prstGeom>
          <a:noFill/>
        </p:spPr>
        <p:txBody>
          <a:bodyPr wrap="square" lIns="12700" tIns="12700" rIns="12700" bIns="12700" rtlCol="0" anchor="t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zh-CN" sz="13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典型数据服务负载</a:t>
            </a:r>
            <a:endParaRPr lang="zh-CN" sz="13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615272" name="圆角矩形 19"/>
          <p:cNvSpPr/>
          <p:nvPr/>
        </p:nvSpPr>
        <p:spPr bwMode="auto">
          <a:xfrm>
            <a:off x="2947035" y="3319145"/>
            <a:ext cx="965200" cy="787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pic>
        <p:nvPicPr>
          <p:cNvPr id="851576378" name="图片 20" descr="cloud-computing"/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auto">
          <a:xfrm>
            <a:off x="3174365" y="3470910"/>
            <a:ext cx="509905" cy="392430"/>
          </a:xfrm>
          <a:prstGeom prst="rect">
            <a:avLst/>
          </a:prstGeom>
        </p:spPr>
      </p:pic>
      <p:sp>
        <p:nvSpPr>
          <p:cNvPr id="1247851224" name="文本框 21"/>
          <p:cNvSpPr txBox="1"/>
          <p:nvPr/>
        </p:nvSpPr>
        <p:spPr bwMode="auto">
          <a:xfrm>
            <a:off x="3023235" y="3863340"/>
            <a:ext cx="812800" cy="160655"/>
          </a:xfrm>
          <a:prstGeom prst="rect">
            <a:avLst/>
          </a:prstGeom>
          <a:noFill/>
        </p:spPr>
        <p:txBody>
          <a:bodyPr wrap="square" lIns="12700" tIns="12700" rIns="12700" bIns="12700" rtlCol="0" anchor="t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zh-CN" sz="9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云原生</a:t>
            </a:r>
            <a:endParaRPr lang="zh-CN" sz="9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254081" name="圆角矩形 23"/>
          <p:cNvSpPr/>
          <p:nvPr/>
        </p:nvSpPr>
        <p:spPr bwMode="auto">
          <a:xfrm>
            <a:off x="4534535" y="3319145"/>
            <a:ext cx="965200" cy="787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1405807506" name="文本框 46"/>
          <p:cNvSpPr txBox="1"/>
          <p:nvPr/>
        </p:nvSpPr>
        <p:spPr bwMode="auto">
          <a:xfrm>
            <a:off x="4740909" y="3536315"/>
            <a:ext cx="552450" cy="414655"/>
          </a:xfrm>
          <a:prstGeom prst="rect">
            <a:avLst/>
          </a:prstGeom>
          <a:noFill/>
        </p:spPr>
        <p:txBody>
          <a:bodyPr wrap="square" lIns="12700" tIns="12700" rIns="12700" bIns="12700" rtlCol="0" anchor="t">
            <a:no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sz="16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endParaRPr lang="en-US" sz="1600" b="1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643883" name="文本框 52"/>
          <p:cNvSpPr txBox="1"/>
          <p:nvPr/>
        </p:nvSpPr>
        <p:spPr bwMode="auto">
          <a:xfrm>
            <a:off x="4610735" y="3863340"/>
            <a:ext cx="812800" cy="160655"/>
          </a:xfrm>
          <a:prstGeom prst="rect">
            <a:avLst/>
          </a:prstGeom>
          <a:noFill/>
        </p:spPr>
        <p:txBody>
          <a:bodyPr wrap="square" lIns="12700" tIns="12700" rIns="12700" bIns="12700" rtlCol="0" anchor="t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sz="9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sz="9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</a:t>
            </a:r>
            <a:endParaRPr lang="zh-CN" sz="900" b="1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4992384" name="圆角矩形 54"/>
          <p:cNvSpPr/>
          <p:nvPr/>
        </p:nvSpPr>
        <p:spPr bwMode="auto">
          <a:xfrm>
            <a:off x="6086475" y="3319145"/>
            <a:ext cx="965200" cy="787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pic>
        <p:nvPicPr>
          <p:cNvPr id="1860777342" name="图片 55" descr="database"/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 bwMode="auto">
          <a:xfrm>
            <a:off x="6441440" y="3470910"/>
            <a:ext cx="304800" cy="279400"/>
          </a:xfrm>
          <a:prstGeom prst="rect">
            <a:avLst/>
          </a:prstGeom>
        </p:spPr>
      </p:pic>
      <p:sp>
        <p:nvSpPr>
          <p:cNvPr id="1393539583" name="文本框 56"/>
          <p:cNvSpPr txBox="1"/>
          <p:nvPr/>
        </p:nvSpPr>
        <p:spPr bwMode="auto">
          <a:xfrm>
            <a:off x="6235700" y="3863340"/>
            <a:ext cx="812800" cy="160655"/>
          </a:xfrm>
          <a:prstGeom prst="rect">
            <a:avLst/>
          </a:prstGeom>
          <a:noFill/>
        </p:spPr>
        <p:txBody>
          <a:bodyPr wrap="square" lIns="12700" tIns="12700" rIns="12700" bIns="12700" rtlCol="0" anchor="t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zh-CN" sz="9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数据库</a:t>
            </a:r>
            <a:endParaRPr lang="zh-CN" sz="9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07611147" name="直接连接符 58"/>
          <p:cNvCxnSpPr>
            <a:stCxn id="107254081" idx="2"/>
          </p:cNvCxnSpPr>
          <p:nvPr/>
        </p:nvCxnSpPr>
        <p:spPr bwMode="auto">
          <a:xfrm flipH="1">
            <a:off x="5011420" y="4106545"/>
            <a:ext cx="5715" cy="645159"/>
          </a:xfrm>
          <a:prstGeom prst="line">
            <a:avLst/>
          </a:prstGeom>
          <a:ln w="2032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51571214" name="圆角矩形 59"/>
          <p:cNvSpPr/>
          <p:nvPr/>
        </p:nvSpPr>
        <p:spPr bwMode="auto">
          <a:xfrm>
            <a:off x="3902075" y="4751705"/>
            <a:ext cx="2184400" cy="457200"/>
          </a:xfrm>
          <a:prstGeom prst="roundRect">
            <a:avLst>
              <a:gd name="adj" fmla="val 16667"/>
            </a:avLst>
          </a:prstGeom>
          <a:solidFill>
            <a:srgbClr val="E7E7E7"/>
          </a:solidFill>
          <a:ln w="15240"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522570837" name="文本框 60"/>
          <p:cNvSpPr txBox="1"/>
          <p:nvPr/>
        </p:nvSpPr>
        <p:spPr bwMode="auto">
          <a:xfrm>
            <a:off x="4092575" y="4843780"/>
            <a:ext cx="1803400" cy="186690"/>
          </a:xfrm>
          <a:prstGeom prst="rect">
            <a:avLst/>
          </a:prstGeom>
          <a:noFill/>
        </p:spPr>
        <p:txBody>
          <a:bodyPr wrap="square" lIns="12700" tIns="12700" rIns="12700" bIns="12700" rtlCol="0" anchor="t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zh-CN" sz="105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文件系统语义层</a:t>
            </a:r>
            <a:endParaRPr lang="zh-CN" sz="105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4321282" name="文本框 61"/>
          <p:cNvSpPr txBox="1"/>
          <p:nvPr/>
        </p:nvSpPr>
        <p:spPr bwMode="auto">
          <a:xfrm>
            <a:off x="4186555" y="5036820"/>
            <a:ext cx="1778000" cy="140335"/>
          </a:xfrm>
          <a:prstGeom prst="rect">
            <a:avLst/>
          </a:prstGeom>
          <a:noFill/>
        </p:spPr>
        <p:txBody>
          <a:bodyPr wrap="square" lIns="12700" tIns="12700" rIns="12700" bIns="12700" rtlCol="0" anchor="t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sz="75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POSIX / VFS / EXT4</a:t>
            </a:r>
            <a:endParaRPr lang="en-US" sz="75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823639168" name="直接连接符 62"/>
          <p:cNvCxnSpPr/>
          <p:nvPr/>
        </p:nvCxnSpPr>
        <p:spPr bwMode="auto">
          <a:xfrm>
            <a:off x="5022850" y="5208905"/>
            <a:ext cx="8890" cy="513080"/>
          </a:xfrm>
          <a:prstGeom prst="line">
            <a:avLst/>
          </a:prstGeom>
          <a:ln w="2032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72002064" name="圆角矩形 63"/>
          <p:cNvSpPr/>
          <p:nvPr/>
        </p:nvSpPr>
        <p:spPr bwMode="auto">
          <a:xfrm>
            <a:off x="3983355" y="5713095"/>
            <a:ext cx="2184400" cy="304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1481879922" name="文本框 64"/>
          <p:cNvSpPr txBox="1"/>
          <p:nvPr/>
        </p:nvSpPr>
        <p:spPr bwMode="auto">
          <a:xfrm>
            <a:off x="4092575" y="5767705"/>
            <a:ext cx="1727199" cy="155575"/>
          </a:xfrm>
          <a:prstGeom prst="rect">
            <a:avLst/>
          </a:prstGeom>
          <a:noFill/>
        </p:spPr>
        <p:txBody>
          <a:bodyPr wrap="square" lIns="12700" tIns="12700" rIns="12700" bIns="12700" rtlCol="0" anchor="t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zh-CN" sz="85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块设备</a:t>
            </a:r>
            <a:r>
              <a:rPr lang="en-US" sz="850" b="1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SSD / NVMe</a:t>
            </a:r>
            <a:endParaRPr lang="en-US" sz="850" b="1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27973378" name="文本框 2"/>
          <p:cNvSpPr txBox="1"/>
          <p:nvPr/>
        </p:nvSpPr>
        <p:spPr bwMode="auto">
          <a:xfrm>
            <a:off x="7545070" y="2325370"/>
            <a:ext cx="406400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zh-CN">
                <a:solidFill>
                  <a:srgbClr val="000000"/>
                </a:solidFill>
                <a:ea typeface="+mn-lt"/>
                <a:cs typeface="+mn-lt"/>
              </a:rPr>
              <a:t>因此，文件系统不只是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“</a:t>
            </a:r>
            <a:r>
              <a:rPr lang="zh-CN">
                <a:solidFill>
                  <a:srgbClr val="000000"/>
                </a:solidFill>
                <a:ea typeface="+mn-lt"/>
                <a:cs typeface="+mn-lt"/>
              </a:rPr>
              <a:t>读写文件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”</a:t>
            </a:r>
            <a:r>
              <a:rPr lang="zh-CN">
                <a:solidFill>
                  <a:srgbClr val="000000"/>
                </a:solidFill>
                <a:ea typeface="+mn-lt"/>
                <a:cs typeface="+mn-lt"/>
              </a:rPr>
              <a:t>，还需要提供三类基础能力：</a:t>
            </a:r>
            <a:endParaRPr lang="zh-CN">
              <a:solidFill>
                <a:srgbClr val="000000"/>
              </a:solidFill>
              <a:ea typeface="+mn-lt"/>
              <a:cs typeface="+mn-lt"/>
            </a:endParaRPr>
          </a:p>
          <a:p>
            <a:pPr algn="l">
              <a:spcAft>
                <a:spcPts val="0"/>
              </a:spcAft>
              <a:defRPr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•</a:t>
            </a:r>
            <a:r>
              <a:rPr lang="zh-CN" b="1">
                <a:solidFill>
                  <a:srgbClr val="000000"/>
                </a:solidFill>
                <a:ea typeface="+mn-lt"/>
                <a:cs typeface="+mn-lt"/>
              </a:rPr>
              <a:t>稳定接口</a:t>
            </a:r>
            <a:r>
              <a:rPr lang="zh-CN">
                <a:solidFill>
                  <a:srgbClr val="000000"/>
                </a:solidFill>
                <a:ea typeface="+mn-lt"/>
                <a:cs typeface="+mn-lt"/>
              </a:rPr>
              <a:t>：向上提供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POSIX</a:t>
            </a:r>
            <a:r>
              <a:rPr lang="zh-CN">
                <a:solidFill>
                  <a:srgbClr val="000000"/>
                </a:solidFill>
                <a:ea typeface="+mn-lt"/>
                <a:cs typeface="+mn-lt"/>
              </a:rPr>
              <a:t>文件、目录、权限和同步语义，屏蔽底层设备差异。</a:t>
            </a:r>
            <a:endParaRPr lang="zh-CN">
              <a:solidFill>
                <a:srgbClr val="000000"/>
              </a:solidFill>
              <a:ea typeface="+mn-lt"/>
              <a:cs typeface="+mn-lt"/>
            </a:endParaRPr>
          </a:p>
          <a:p>
            <a:pPr algn="l">
              <a:spcAft>
                <a:spcPts val="0"/>
              </a:spcAft>
              <a:defRPr/>
            </a:pPr>
            <a:endParaRPr lang="zh-CN">
              <a:solidFill>
                <a:srgbClr val="000000"/>
              </a:solidFill>
              <a:ea typeface="+mn-lt"/>
              <a:cs typeface="+mn-lt"/>
            </a:endParaRPr>
          </a:p>
          <a:p>
            <a:pPr algn="l">
              <a:spcAft>
                <a:spcPts val="0"/>
              </a:spcAft>
              <a:defRPr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•</a:t>
            </a:r>
            <a:r>
              <a:rPr lang="zh-CN" b="1">
                <a:solidFill>
                  <a:srgbClr val="000000"/>
                </a:solidFill>
                <a:ea typeface="+mn-lt"/>
                <a:cs typeface="+mn-lt"/>
              </a:rPr>
              <a:t>数据组织</a:t>
            </a:r>
            <a:r>
              <a:rPr lang="zh-CN">
                <a:solidFill>
                  <a:srgbClr val="000000"/>
                </a:solidFill>
                <a:ea typeface="+mn-lt"/>
                <a:cs typeface="+mn-lt"/>
              </a:rPr>
              <a:t>：向下管理块分配、空间回收和连续区间映射，高效组织磁盘数据。</a:t>
            </a:r>
            <a:endParaRPr lang="zh-CN">
              <a:solidFill>
                <a:srgbClr val="000000"/>
              </a:solidFill>
              <a:ea typeface="+mn-lt"/>
              <a:cs typeface="+mn-lt"/>
            </a:endParaRPr>
          </a:p>
          <a:p>
            <a:pPr algn="l">
              <a:spcAft>
                <a:spcPts val="0"/>
              </a:spcAft>
              <a:defRPr/>
            </a:pPr>
            <a:endParaRPr lang="zh-CN">
              <a:solidFill>
                <a:srgbClr val="000000"/>
              </a:solidFill>
              <a:ea typeface="+mn-lt"/>
              <a:cs typeface="+mn-lt"/>
            </a:endParaRPr>
          </a:p>
          <a:p>
            <a:pPr algn="l">
              <a:spcAft>
                <a:spcPts val="0"/>
              </a:spcAft>
              <a:defRPr/>
            </a:pP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•</a:t>
            </a:r>
            <a:r>
              <a:rPr lang="zh-CN" b="1">
                <a:solidFill>
                  <a:srgbClr val="000000"/>
                </a:solidFill>
                <a:ea typeface="+mn-lt"/>
                <a:cs typeface="+mn-lt"/>
              </a:rPr>
              <a:t>可靠恢复</a:t>
            </a:r>
            <a:r>
              <a:rPr lang="zh-CN">
                <a:solidFill>
                  <a:srgbClr val="000000"/>
                </a:solidFill>
                <a:ea typeface="+mn-lt"/>
                <a:cs typeface="+mn-lt"/>
              </a:rPr>
              <a:t>：在系统异常、掉电或应用崩溃后，帮助磁盘恢复到一致状态。</a:t>
            </a:r>
            <a:endParaRPr lang="zh-CN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defRPr/>
            </a:pPr>
            <a:endParaRPr lang="zh-CN"/>
          </a:p>
        </p:txBody>
      </p:sp>
      <p:sp>
        <p:nvSpPr>
          <p:cNvPr id="2" name="文本框 1"/>
          <p:cNvSpPr txBox="1"/>
          <p:nvPr/>
        </p:nvSpPr>
        <p:spPr>
          <a:xfrm>
            <a:off x="127000" y="4839335"/>
            <a:ext cx="2195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+mn-lt"/>
                <a:cs typeface="+mn-lt"/>
              </a:rPr>
              <a:t>AI</a:t>
            </a:r>
            <a:r>
              <a:rPr lang="zh-CN" altLang="en-US" sz="2400">
                <a:solidFill>
                  <a:schemeClr val="bg1"/>
                </a:solidFill>
                <a:ea typeface="+mn-lt"/>
                <a:cs typeface="+mn-lt"/>
              </a:rPr>
              <a:t>的使用</a:t>
            </a:r>
            <a:endParaRPr lang="zh-CN" altLang="en-US" sz="2400">
              <a:solidFill>
                <a:schemeClr val="bg1"/>
              </a:solidFill>
              <a:ea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026381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635511882" name="组合 19"/>
          <p:cNvGrpSpPr/>
          <p:nvPr/>
        </p:nvGrpSpPr>
        <p:grpSpPr bwMode="auto">
          <a:xfrm>
            <a:off x="0" y="1256291"/>
            <a:ext cx="2737505" cy="762000"/>
            <a:chOff x="0" y="772160"/>
            <a:chExt cx="2737505" cy="762000"/>
          </a:xfrm>
        </p:grpSpPr>
        <p:sp>
          <p:nvSpPr>
            <p:cNvPr id="7" name="矩形 14"/>
            <p:cNvSpPr/>
            <p:nvPr/>
          </p:nvSpPr>
          <p:spPr bwMode="auto">
            <a:xfrm>
              <a:off x="0" y="772160"/>
              <a:ext cx="2509520" cy="76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" name="等腰三角形 16"/>
            <p:cNvSpPr/>
            <p:nvPr/>
          </p:nvSpPr>
          <p:spPr bwMode="auto">
            <a:xfrm rot="5400000">
              <a:off x="2491281" y="1039167"/>
              <a:ext cx="264463" cy="227985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565617669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08726866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3840925" name="文本框 9"/>
          <p:cNvSpPr txBox="1"/>
          <p:nvPr/>
        </p:nvSpPr>
        <p:spPr bwMode="auto">
          <a:xfrm>
            <a:off x="85724" y="3199937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940368123" name="文本框 10"/>
          <p:cNvSpPr txBox="1"/>
          <p:nvPr/>
        </p:nvSpPr>
        <p:spPr bwMode="auto">
          <a:xfrm>
            <a:off x="86359" y="4061588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927555709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60" y="5943600"/>
            <a:ext cx="914400" cy="914400"/>
          </a:xfrm>
          <a:prstGeom prst="rect">
            <a:avLst/>
          </a:prstGeom>
        </p:spPr>
      </p:pic>
      <p:pic>
        <p:nvPicPr>
          <p:cNvPr id="1028732010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8" y="311328"/>
            <a:ext cx="2256183" cy="414149"/>
          </a:xfrm>
          <a:prstGeom prst="rect">
            <a:avLst/>
          </a:prstGeom>
        </p:spPr>
      </p:pic>
      <p:sp>
        <p:nvSpPr>
          <p:cNvPr id="1074219420" name="文本框 29"/>
          <p:cNvSpPr txBox="1"/>
          <p:nvPr/>
        </p:nvSpPr>
        <p:spPr bwMode="auto">
          <a:xfrm>
            <a:off x="86054" y="556014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21156702" name="文本框 5"/>
          <p:cNvSpPr txBox="1"/>
          <p:nvPr/>
        </p:nvSpPr>
        <p:spPr bwMode="auto">
          <a:xfrm>
            <a:off x="2743200" y="317500"/>
            <a:ext cx="9144000" cy="481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en-US" sz="2800" b="1">
                <a:solidFill>
                  <a:srgbClr val="000000"/>
                </a:solidFill>
                <a:ea typeface="+mn-lt"/>
                <a:cs typeface="+mn-lt"/>
              </a:rPr>
              <a:t>1.2 EXT4</a:t>
            </a:r>
            <a:endParaRPr lang="zh-CN" sz="2800" b="1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845066512" name="文本框 8"/>
          <p:cNvSpPr txBox="1"/>
          <p:nvPr/>
        </p:nvSpPr>
        <p:spPr bwMode="auto">
          <a:xfrm>
            <a:off x="2794000" y="1016000"/>
            <a:ext cx="8890000" cy="5429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EXT4</a:t>
            </a: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文件系统长期支撑了大量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Linux</a:t>
            </a: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应用场景。服务器、数据库、虚拟化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/</a:t>
            </a: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容器和嵌入式设备都依赖它成熟的实现、完善的工具链和可靠的恢复机制。</a:t>
            </a:r>
            <a:endParaRPr lang="zh-CN" sz="16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1135353227" name="文本框 9"/>
          <p:cNvSpPr txBox="1"/>
          <p:nvPr/>
        </p:nvSpPr>
        <p:spPr bwMode="auto">
          <a:xfrm>
            <a:off x="2844800" y="1778000"/>
            <a:ext cx="3302000" cy="2660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en-US" sz="1400" b="1">
                <a:solidFill>
                  <a:srgbClr val="0070C0"/>
                </a:solidFill>
                <a:latin typeface="+mn-ea"/>
                <a:ea typeface="微软雅黑" panose="020B0503020204020204" charset="-122"/>
                <a:cs typeface="+mn-ea"/>
              </a:rPr>
              <a:t>Linux</a:t>
            </a:r>
            <a:r>
              <a:rPr lang="zh-CN" sz="1400" b="1">
                <a:solidFill>
                  <a:srgbClr val="0070C0"/>
                </a:solidFill>
                <a:latin typeface="+mn-ea"/>
                <a:ea typeface="微软雅黑" panose="020B0503020204020204" charset="-122"/>
                <a:cs typeface="+mn-ea"/>
              </a:rPr>
              <a:t>生态中的典型工作负载</a:t>
            </a:r>
            <a:endParaRPr lang="zh-CN" sz="1400" b="1">
              <a:solidFill>
                <a:srgbClr val="0070C0"/>
              </a:solidFill>
              <a:latin typeface="+mn-ea"/>
              <a:ea typeface="微软雅黑" panose="020B0503020204020204" charset="-122"/>
              <a:cs typeface="+mn-ea"/>
            </a:endParaRPr>
          </a:p>
        </p:txBody>
      </p:sp>
      <p:sp>
        <p:nvSpPr>
          <p:cNvPr id="2047220472" name="圆角矩形 10"/>
          <p:cNvSpPr/>
          <p:nvPr/>
        </p:nvSpPr>
        <p:spPr bwMode="auto">
          <a:xfrm>
            <a:off x="2794000" y="2171700"/>
            <a:ext cx="2006600" cy="889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1365565621" name="文本框 11"/>
          <p:cNvSpPr txBox="1"/>
          <p:nvPr/>
        </p:nvSpPr>
        <p:spPr bwMode="auto">
          <a:xfrm>
            <a:off x="2850515" y="2490470"/>
            <a:ext cx="1803400" cy="227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zh-CN" sz="1150" b="1">
                <a:solidFill>
                  <a:srgbClr val="0070C0"/>
                </a:solidFill>
                <a:latin typeface="+mn-ea"/>
                <a:ea typeface="微软雅黑" panose="020B0503020204020204" charset="-122"/>
                <a:cs typeface="+mn-ea"/>
              </a:rPr>
              <a:t>服务器</a:t>
            </a:r>
            <a:r>
              <a:rPr lang="en-US" sz="1150" b="1">
                <a:solidFill>
                  <a:srgbClr val="0070C0"/>
                </a:solidFill>
                <a:latin typeface="+mn-ea"/>
                <a:ea typeface="微软雅黑" panose="020B0503020204020204" charset="-122"/>
                <a:cs typeface="+mn-ea"/>
              </a:rPr>
              <a:t> / </a:t>
            </a:r>
            <a:r>
              <a:rPr lang="zh-CN" sz="1150" b="1">
                <a:solidFill>
                  <a:srgbClr val="0070C0"/>
                </a:solidFill>
                <a:latin typeface="+mn-ea"/>
                <a:ea typeface="微软雅黑" panose="020B0503020204020204" charset="-122"/>
                <a:cs typeface="+mn-ea"/>
              </a:rPr>
              <a:t>云主机</a:t>
            </a:r>
            <a:endParaRPr lang="zh-CN" sz="1150" b="1">
              <a:solidFill>
                <a:srgbClr val="0070C0"/>
              </a:solidFill>
              <a:latin typeface="+mn-ea"/>
              <a:ea typeface="微软雅黑" panose="020B0503020204020204" charset="-122"/>
              <a:cs typeface="+mn-ea"/>
            </a:endParaRPr>
          </a:p>
        </p:txBody>
      </p:sp>
      <p:cxnSp>
        <p:nvCxnSpPr>
          <p:cNvPr id="1659602759" name="直接连接符 14"/>
          <p:cNvCxnSpPr/>
          <p:nvPr/>
        </p:nvCxnSpPr>
        <p:spPr bwMode="auto">
          <a:xfrm>
            <a:off x="3797300" y="3111500"/>
            <a:ext cx="635" cy="317500"/>
          </a:xfrm>
          <a:prstGeom prst="line">
            <a:avLst/>
          </a:prstGeom>
          <a:ln w="1905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43072515" name="圆角矩形 15"/>
          <p:cNvSpPr/>
          <p:nvPr/>
        </p:nvSpPr>
        <p:spPr bwMode="auto">
          <a:xfrm>
            <a:off x="5080000" y="2171700"/>
            <a:ext cx="2006600" cy="889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404199527" name="文本框 16"/>
          <p:cNvSpPr txBox="1"/>
          <p:nvPr/>
        </p:nvSpPr>
        <p:spPr bwMode="auto">
          <a:xfrm>
            <a:off x="5159375" y="2490470"/>
            <a:ext cx="1803400" cy="227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zh-CN" sz="1150" b="1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</a:t>
            </a:r>
            <a:r>
              <a:rPr lang="en-US" sz="1150" b="1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sz="1150" b="1">
                <a:solidFill>
                  <a:schemeClr val="accent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中间件</a:t>
            </a:r>
            <a:endParaRPr lang="zh-CN" sz="1150" b="1">
              <a:solidFill>
                <a:schemeClr val="accent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9874879" name="直接连接符 18"/>
          <p:cNvCxnSpPr/>
          <p:nvPr/>
        </p:nvCxnSpPr>
        <p:spPr bwMode="auto">
          <a:xfrm>
            <a:off x="6083300" y="3111500"/>
            <a:ext cx="635" cy="317500"/>
          </a:xfrm>
          <a:prstGeom prst="line">
            <a:avLst/>
          </a:prstGeom>
          <a:ln w="1905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08824664" name="圆角矩形 19"/>
          <p:cNvSpPr/>
          <p:nvPr/>
        </p:nvSpPr>
        <p:spPr bwMode="auto">
          <a:xfrm>
            <a:off x="7366000" y="2171700"/>
            <a:ext cx="2006600" cy="889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345298714" name="文本框 20"/>
          <p:cNvSpPr txBox="1"/>
          <p:nvPr/>
        </p:nvSpPr>
        <p:spPr bwMode="auto">
          <a:xfrm>
            <a:off x="7467600" y="2490470"/>
            <a:ext cx="1803400" cy="227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>
              <a:spcAft>
                <a:spcPts val="0"/>
              </a:spcAft>
              <a:defRPr/>
            </a:pPr>
            <a:r>
              <a:rPr lang="zh-CN" sz="1150" b="1">
                <a:solidFill>
                  <a:schemeClr val="accent1"/>
                </a:solidFill>
                <a:effectLst/>
                <a:latin typeface="+mn-ea"/>
                <a:ea typeface="微软雅黑" panose="020B0503020204020204" charset="-122"/>
                <a:cs typeface="+mn-ea"/>
              </a:rPr>
              <a:t>虚拟机</a:t>
            </a:r>
            <a:r>
              <a:rPr lang="en-US" sz="1150" b="1">
                <a:solidFill>
                  <a:schemeClr val="accent1"/>
                </a:solidFill>
                <a:effectLst/>
                <a:latin typeface="+mn-ea"/>
                <a:ea typeface="微软雅黑" panose="020B0503020204020204" charset="-122"/>
                <a:cs typeface="+mn-ea"/>
              </a:rPr>
              <a:t> / </a:t>
            </a:r>
            <a:r>
              <a:rPr lang="zh-CN" sz="1150" b="1">
                <a:solidFill>
                  <a:schemeClr val="accent1"/>
                </a:solidFill>
                <a:effectLst/>
                <a:latin typeface="+mn-ea"/>
                <a:ea typeface="微软雅黑" panose="020B0503020204020204" charset="-122"/>
                <a:cs typeface="+mn-ea"/>
              </a:rPr>
              <a:t>容器</a:t>
            </a:r>
            <a:endParaRPr lang="zh-CN" sz="1150" b="1">
              <a:solidFill>
                <a:schemeClr val="accent1"/>
              </a:solidFill>
              <a:effectLst/>
              <a:latin typeface="+mn-ea"/>
              <a:ea typeface="微软雅黑" panose="020B0503020204020204" charset="-122"/>
              <a:cs typeface="+mn-ea"/>
            </a:endParaRPr>
          </a:p>
        </p:txBody>
      </p:sp>
      <p:cxnSp>
        <p:nvCxnSpPr>
          <p:cNvPr id="2025600370" name="直接连接符 22"/>
          <p:cNvCxnSpPr/>
          <p:nvPr/>
        </p:nvCxnSpPr>
        <p:spPr bwMode="auto">
          <a:xfrm>
            <a:off x="8369300" y="3111500"/>
            <a:ext cx="635" cy="317500"/>
          </a:xfrm>
          <a:prstGeom prst="line">
            <a:avLst/>
          </a:prstGeom>
          <a:ln w="1905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42163038" name="圆角矩形 23"/>
          <p:cNvSpPr/>
          <p:nvPr/>
        </p:nvSpPr>
        <p:spPr bwMode="auto">
          <a:xfrm>
            <a:off x="9652000" y="2171700"/>
            <a:ext cx="2006600" cy="889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2008403043" name="文本框 24"/>
          <p:cNvSpPr txBox="1"/>
          <p:nvPr/>
        </p:nvSpPr>
        <p:spPr bwMode="auto">
          <a:xfrm>
            <a:off x="9742805" y="2490470"/>
            <a:ext cx="1803400" cy="227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zh-CN" sz="1150" b="1">
                <a:solidFill>
                  <a:schemeClr val="accent1"/>
                </a:solidFill>
                <a:effectLst/>
                <a:latin typeface="+mn-ea"/>
                <a:ea typeface="微软雅黑" panose="020B0503020204020204" charset="-122"/>
              </a:rPr>
              <a:t>开发与嵌入式</a:t>
            </a:r>
            <a:endParaRPr lang="zh-CN" sz="1150" b="1">
              <a:solidFill>
                <a:schemeClr val="accent1"/>
              </a:solidFill>
              <a:effectLst/>
              <a:latin typeface="+mn-ea"/>
              <a:ea typeface="微软雅黑" panose="020B0503020204020204" charset="-122"/>
            </a:endParaRPr>
          </a:p>
        </p:txBody>
      </p:sp>
      <p:cxnSp>
        <p:nvCxnSpPr>
          <p:cNvPr id="1735341477" name="直接连接符 26"/>
          <p:cNvCxnSpPr/>
          <p:nvPr/>
        </p:nvCxnSpPr>
        <p:spPr bwMode="auto">
          <a:xfrm>
            <a:off x="10655300" y="3111500"/>
            <a:ext cx="635" cy="317500"/>
          </a:xfrm>
          <a:prstGeom prst="line">
            <a:avLst/>
          </a:prstGeom>
          <a:ln w="19050">
            <a:solidFill>
              <a:srgbClr val="0070C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05305560" name="圆角矩形 27"/>
          <p:cNvSpPr/>
          <p:nvPr/>
        </p:nvSpPr>
        <p:spPr bwMode="auto">
          <a:xfrm>
            <a:off x="3175000" y="3505199"/>
            <a:ext cx="8153399" cy="939800"/>
          </a:xfrm>
          <a:prstGeom prst="roundRect">
            <a:avLst>
              <a:gd name="adj" fmla="val 16667"/>
            </a:avLst>
          </a:prstGeom>
          <a:solidFill>
            <a:srgbClr val="E7E7E7"/>
          </a:solidFill>
          <a:ln w="20320"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1473125937" name="文本框 47"/>
          <p:cNvSpPr txBox="1"/>
          <p:nvPr/>
        </p:nvSpPr>
        <p:spPr bwMode="auto">
          <a:xfrm>
            <a:off x="5905500" y="3670300"/>
            <a:ext cx="1333500" cy="4197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EXT4</a:t>
            </a:r>
            <a:endParaRPr lang="en-US" sz="24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2597247" name="文本框 49"/>
          <p:cNvSpPr txBox="1"/>
          <p:nvPr/>
        </p:nvSpPr>
        <p:spPr bwMode="auto">
          <a:xfrm>
            <a:off x="4597400" y="4114800"/>
            <a:ext cx="5461000" cy="21209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zh-CN" sz="1050" b="1">
                <a:solidFill>
                  <a:srgbClr val="333333"/>
                </a:solidFill>
                <a:latin typeface="+mn-ea"/>
                <a:ea typeface="微软雅黑" panose="020B0503020204020204" charset="-122"/>
                <a:cs typeface="+mn-ea"/>
              </a:rPr>
              <a:t>向上承接</a:t>
            </a:r>
            <a:r>
              <a:rPr lang="en-US" sz="1050" b="1">
                <a:solidFill>
                  <a:srgbClr val="333333"/>
                </a:solidFill>
                <a:latin typeface="+mn-ea"/>
                <a:ea typeface="微软雅黑" panose="020B0503020204020204" charset="-122"/>
                <a:cs typeface="+mn-ea"/>
              </a:rPr>
              <a:t>POSIX/VFS</a:t>
            </a:r>
            <a:r>
              <a:rPr lang="zh-CN" sz="1050" b="1">
                <a:solidFill>
                  <a:srgbClr val="333333"/>
                </a:solidFill>
                <a:latin typeface="+mn-ea"/>
                <a:ea typeface="微软雅黑" panose="020B0503020204020204" charset="-122"/>
                <a:cs typeface="+mn-ea"/>
              </a:rPr>
              <a:t>语义，向下组织块设备</a:t>
            </a:r>
            <a:r>
              <a:rPr lang="en-US" sz="1050" b="1">
                <a:solidFill>
                  <a:srgbClr val="333333"/>
                </a:solidFill>
                <a:latin typeface="+mn-ea"/>
                <a:ea typeface="微软雅黑" panose="020B0503020204020204" charset="-122"/>
                <a:cs typeface="+mn-ea"/>
              </a:rPr>
              <a:t>I/O</a:t>
            </a:r>
            <a:r>
              <a:rPr lang="zh-CN" sz="1050" b="1">
                <a:solidFill>
                  <a:srgbClr val="333333"/>
                </a:solidFill>
                <a:latin typeface="+mn-ea"/>
                <a:ea typeface="微软雅黑" panose="020B0503020204020204" charset="-122"/>
                <a:cs typeface="+mn-ea"/>
              </a:rPr>
              <a:t>，并通过成熟工具链支撑长期运维。</a:t>
            </a:r>
            <a:endParaRPr lang="zh-CN" sz="1050" b="1">
              <a:solidFill>
                <a:srgbClr val="333333"/>
              </a:solidFill>
              <a:latin typeface="+mn-ea"/>
              <a:ea typeface="微软雅黑" panose="020B0503020204020204" charset="-122"/>
              <a:cs typeface="+mn-ea"/>
            </a:endParaRPr>
          </a:p>
        </p:txBody>
      </p:sp>
      <p:pic>
        <p:nvPicPr>
          <p:cNvPr id="1570154856" name="图片 50" descr="tux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auto">
          <a:xfrm>
            <a:off x="3581400" y="3606800"/>
            <a:ext cx="609600" cy="698500"/>
          </a:xfrm>
          <a:prstGeom prst="rect">
            <a:avLst/>
          </a:prstGeom>
        </p:spPr>
      </p:pic>
      <p:sp>
        <p:nvSpPr>
          <p:cNvPr id="686943685" name="文本框 56"/>
          <p:cNvSpPr txBox="1"/>
          <p:nvPr/>
        </p:nvSpPr>
        <p:spPr bwMode="auto">
          <a:xfrm>
            <a:off x="2844800" y="4762500"/>
            <a:ext cx="1524000" cy="25844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zh-CN" sz="1350" b="1">
                <a:solidFill>
                  <a:srgbClr val="0070C0"/>
                </a:solidFill>
                <a:latin typeface="+mn-ea"/>
                <a:ea typeface="微软雅黑" panose="020B0503020204020204" charset="-122"/>
              </a:rPr>
              <a:t>核心工程能力</a:t>
            </a:r>
            <a:endParaRPr lang="zh-CN" sz="1350" b="1">
              <a:solidFill>
                <a:srgbClr val="0070C0"/>
              </a:solidFill>
              <a:latin typeface="+mn-ea"/>
              <a:ea typeface="微软雅黑" panose="020B0503020204020204" charset="-122"/>
            </a:endParaRPr>
          </a:p>
        </p:txBody>
      </p:sp>
      <p:sp>
        <p:nvSpPr>
          <p:cNvPr id="1129405054" name="圆角矩形 57"/>
          <p:cNvSpPr/>
          <p:nvPr/>
        </p:nvSpPr>
        <p:spPr bwMode="auto">
          <a:xfrm>
            <a:off x="2819400" y="5143500"/>
            <a:ext cx="1651000" cy="35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92798013" name="文本框 58"/>
          <p:cNvSpPr txBox="1"/>
          <p:nvPr/>
        </p:nvSpPr>
        <p:spPr bwMode="auto">
          <a:xfrm>
            <a:off x="2882899" y="5232400"/>
            <a:ext cx="1524000" cy="1860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sz="9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extent </a:t>
            </a:r>
            <a:r>
              <a:rPr lang="zh-CN" sz="9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连续块映射</a:t>
            </a:r>
            <a:endParaRPr lang="zh-CN" sz="9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41890130" name="圆角矩形 59"/>
          <p:cNvSpPr/>
          <p:nvPr/>
        </p:nvSpPr>
        <p:spPr bwMode="auto">
          <a:xfrm>
            <a:off x="4902200" y="5143500"/>
            <a:ext cx="1651000" cy="35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631000000" name="文本框 60"/>
          <p:cNvSpPr txBox="1"/>
          <p:nvPr/>
        </p:nvSpPr>
        <p:spPr bwMode="auto">
          <a:xfrm>
            <a:off x="4965700" y="5232400"/>
            <a:ext cx="15240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sz="9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POSIX</a:t>
            </a:r>
            <a:r>
              <a:rPr lang="zh-CN" altLang="en-US" sz="9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语义</a:t>
            </a:r>
            <a:endParaRPr lang="zh-CN" altLang="en-US" sz="9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638273" name="圆角矩形 61"/>
          <p:cNvSpPr/>
          <p:nvPr/>
        </p:nvSpPr>
        <p:spPr bwMode="auto">
          <a:xfrm>
            <a:off x="6985000" y="5143500"/>
            <a:ext cx="1651000" cy="35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783310457" name="文本框 62"/>
          <p:cNvSpPr txBox="1"/>
          <p:nvPr/>
        </p:nvSpPr>
        <p:spPr bwMode="auto">
          <a:xfrm>
            <a:off x="6921500" y="5232400"/>
            <a:ext cx="1524000" cy="18605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sz="9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JBD2 journal</a:t>
            </a:r>
            <a:endParaRPr lang="en-US" sz="9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4825244" name="圆角矩形 63"/>
          <p:cNvSpPr/>
          <p:nvPr/>
        </p:nvSpPr>
        <p:spPr bwMode="auto">
          <a:xfrm>
            <a:off x="9271000" y="5143500"/>
            <a:ext cx="1651000" cy="355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1530649076" name="文本框 64"/>
          <p:cNvSpPr txBox="1"/>
          <p:nvPr/>
        </p:nvSpPr>
        <p:spPr bwMode="auto">
          <a:xfrm>
            <a:off x="9220200" y="5232400"/>
            <a:ext cx="1524000" cy="1892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sz="9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Linux</a:t>
            </a:r>
            <a:r>
              <a:rPr lang="zh-CN" altLang="en-US" sz="9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工具链兼容</a:t>
            </a:r>
            <a:endParaRPr lang="zh-CN" altLang="en-US" sz="9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8083022" name="文本框 67"/>
          <p:cNvSpPr txBox="1"/>
          <p:nvPr/>
        </p:nvSpPr>
        <p:spPr bwMode="auto">
          <a:xfrm>
            <a:off x="3111500" y="5867399"/>
            <a:ext cx="8255000" cy="26606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zh-CN" sz="1400" b="1">
                <a:solidFill>
                  <a:schemeClr val="tx1"/>
                </a:solidFill>
                <a:latin typeface="+mn-ea"/>
                <a:ea typeface="微软雅黑" panose="020B0503020204020204" charset="-122"/>
                <a:cs typeface="+mn-ea"/>
              </a:rPr>
              <a:t>项目背景：在</a:t>
            </a:r>
            <a:r>
              <a:rPr lang="en-US" sz="1400" b="1">
                <a:solidFill>
                  <a:schemeClr val="tx1"/>
                </a:solidFill>
                <a:latin typeface="+mn-ea"/>
                <a:ea typeface="微软雅黑" panose="020B0503020204020204" charset="-122"/>
                <a:cs typeface="+mn-ea"/>
              </a:rPr>
              <a:t>Asterinas</a:t>
            </a:r>
            <a:r>
              <a:rPr lang="zh-CN" sz="1400" b="1">
                <a:solidFill>
                  <a:schemeClr val="tx1"/>
                </a:solidFill>
                <a:latin typeface="+mn-ea"/>
                <a:ea typeface="微软雅黑" panose="020B0503020204020204" charset="-122"/>
                <a:cs typeface="+mn-ea"/>
              </a:rPr>
              <a:t>上实现</a:t>
            </a:r>
            <a:r>
              <a:rPr lang="en-US" sz="1400" b="1">
                <a:solidFill>
                  <a:schemeClr val="tx1"/>
                </a:solidFill>
                <a:latin typeface="+mn-ea"/>
                <a:ea typeface="微软雅黑" panose="020B0503020204020204" charset="-122"/>
                <a:cs typeface="+mn-ea"/>
              </a:rPr>
              <a:t>EXT4</a:t>
            </a:r>
            <a:r>
              <a:rPr lang="zh-CN" sz="1400" b="1">
                <a:solidFill>
                  <a:schemeClr val="tx1"/>
                </a:solidFill>
                <a:latin typeface="+mn-ea"/>
                <a:ea typeface="微软雅黑" panose="020B0503020204020204" charset="-122"/>
                <a:cs typeface="+mn-ea"/>
              </a:rPr>
              <a:t>，就是补齐</a:t>
            </a:r>
            <a:r>
              <a:rPr lang="en-US" sz="1400" b="1">
                <a:solidFill>
                  <a:schemeClr val="tx1"/>
                </a:solidFill>
                <a:latin typeface="+mn-ea"/>
                <a:ea typeface="微软雅黑" panose="020B0503020204020204" charset="-122"/>
                <a:cs typeface="+mn-ea"/>
              </a:rPr>
              <a:t>RustOS</a:t>
            </a:r>
            <a:r>
              <a:rPr lang="zh-CN" sz="1400" b="1">
                <a:solidFill>
                  <a:schemeClr val="tx1"/>
                </a:solidFill>
                <a:latin typeface="+mn-ea"/>
                <a:ea typeface="微软雅黑" panose="020B0503020204020204" charset="-122"/>
                <a:cs typeface="+mn-ea"/>
              </a:rPr>
              <a:t>承载真实</a:t>
            </a:r>
            <a:r>
              <a:rPr lang="en-US" sz="1400" b="1">
                <a:solidFill>
                  <a:schemeClr val="tx1"/>
                </a:solidFill>
                <a:latin typeface="+mn-ea"/>
                <a:ea typeface="微软雅黑" panose="020B0503020204020204" charset="-122"/>
                <a:cs typeface="+mn-ea"/>
              </a:rPr>
              <a:t>Linux</a:t>
            </a:r>
            <a:r>
              <a:rPr lang="zh-CN" sz="1400" b="1">
                <a:solidFill>
                  <a:schemeClr val="tx1"/>
                </a:solidFill>
                <a:latin typeface="+mn-ea"/>
                <a:ea typeface="微软雅黑" panose="020B0503020204020204" charset="-122"/>
                <a:cs typeface="+mn-ea"/>
              </a:rPr>
              <a:t>应用生态的关键。</a:t>
            </a:r>
            <a:endParaRPr lang="zh-CN" sz="1400" b="1">
              <a:solidFill>
                <a:schemeClr val="tx1"/>
              </a:solidFill>
              <a:latin typeface="+mn-ea"/>
              <a:ea typeface="微软雅黑" panose="020B0503020204020204" charset="-122"/>
              <a:cs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7000" y="4839335"/>
            <a:ext cx="2195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+mn-lt"/>
                <a:cs typeface="+mn-lt"/>
              </a:rPr>
              <a:t>AI</a:t>
            </a:r>
            <a:r>
              <a:rPr lang="zh-CN" altLang="en-US" sz="2400">
                <a:solidFill>
                  <a:schemeClr val="bg1"/>
                </a:solidFill>
                <a:ea typeface="+mn-lt"/>
                <a:cs typeface="+mn-lt"/>
              </a:rPr>
              <a:t>的使用</a:t>
            </a:r>
            <a:endParaRPr lang="zh-CN" altLang="en-US" sz="2400">
              <a:solidFill>
                <a:schemeClr val="bg1"/>
              </a:solidFill>
              <a:ea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3500707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791699541" name="组合 19"/>
          <p:cNvGrpSpPr/>
          <p:nvPr/>
        </p:nvGrpSpPr>
        <p:grpSpPr bwMode="auto">
          <a:xfrm>
            <a:off x="0" y="1256291"/>
            <a:ext cx="2737505" cy="762000"/>
            <a:chOff x="0" y="772160"/>
            <a:chExt cx="2737505" cy="762000"/>
          </a:xfrm>
        </p:grpSpPr>
        <p:sp>
          <p:nvSpPr>
            <p:cNvPr id="7" name="矩形 14"/>
            <p:cNvSpPr/>
            <p:nvPr/>
          </p:nvSpPr>
          <p:spPr bwMode="auto">
            <a:xfrm>
              <a:off x="0" y="772160"/>
              <a:ext cx="2509520" cy="76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" name="等腰三角形 16"/>
            <p:cNvSpPr/>
            <p:nvPr/>
          </p:nvSpPr>
          <p:spPr bwMode="auto">
            <a:xfrm rot="5400000">
              <a:off x="2491281" y="1039167"/>
              <a:ext cx="264463" cy="227985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2113296301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056711190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65010658" name="文本框 9"/>
          <p:cNvSpPr txBox="1"/>
          <p:nvPr/>
        </p:nvSpPr>
        <p:spPr bwMode="auto">
          <a:xfrm>
            <a:off x="85724" y="3199937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782069770" name="文本框 10"/>
          <p:cNvSpPr txBox="1"/>
          <p:nvPr/>
        </p:nvSpPr>
        <p:spPr bwMode="auto">
          <a:xfrm>
            <a:off x="86359" y="4061588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642353651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60" y="5943600"/>
            <a:ext cx="914400" cy="914400"/>
          </a:xfrm>
          <a:prstGeom prst="rect">
            <a:avLst/>
          </a:prstGeom>
        </p:spPr>
      </p:pic>
      <p:pic>
        <p:nvPicPr>
          <p:cNvPr id="583090217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8" y="311328"/>
            <a:ext cx="2256183" cy="414149"/>
          </a:xfrm>
          <a:prstGeom prst="rect">
            <a:avLst/>
          </a:prstGeom>
        </p:spPr>
      </p:pic>
      <p:sp>
        <p:nvSpPr>
          <p:cNvPr id="1379327059" name="文本框 29"/>
          <p:cNvSpPr txBox="1"/>
          <p:nvPr/>
        </p:nvSpPr>
        <p:spPr bwMode="auto">
          <a:xfrm>
            <a:off x="86054" y="556014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93554233" name="文本框 32"/>
          <p:cNvSpPr txBox="1"/>
          <p:nvPr/>
        </p:nvSpPr>
        <p:spPr bwMode="auto">
          <a:xfrm>
            <a:off x="2743200" y="317500"/>
            <a:ext cx="9144000" cy="481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en-US" sz="2800" b="1">
                <a:solidFill>
                  <a:srgbClr val="000000"/>
                </a:solidFill>
                <a:ea typeface="+mn-lt"/>
                <a:cs typeface="+mn-lt"/>
              </a:rPr>
              <a:t>1.3 </a:t>
            </a:r>
            <a:r>
              <a:rPr lang="zh-CN" sz="2800" b="1">
                <a:solidFill>
                  <a:srgbClr val="000000"/>
                </a:solidFill>
                <a:ea typeface="+mn-lt"/>
                <a:cs typeface="+mn-lt"/>
              </a:rPr>
              <a:t>一致性与性能代价</a:t>
            </a:r>
            <a:endParaRPr lang="zh-CN" sz="2800" b="1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665157832" name="文本框 34"/>
          <p:cNvSpPr txBox="1"/>
          <p:nvPr/>
        </p:nvSpPr>
        <p:spPr bwMode="auto">
          <a:xfrm>
            <a:off x="2794000" y="990600"/>
            <a:ext cx="9017000" cy="789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传统文件系统通常假设系统可能随时崩溃，因此会通过日志、写入顺序约束和同步刷盘来保证恢复后状态一致。这样做提高了可靠性，但也在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I/O</a:t>
            </a: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路径中加入了额外开销。随着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SSD/NVMe</a:t>
            </a: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等高速设备降低了硬件访问延迟，这些软件层面的等待、排序和元数据写入，反而更容易成为性能瓶颈。</a:t>
            </a:r>
            <a:endParaRPr lang="zh-CN" sz="16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962824636" name="文本框 35"/>
          <p:cNvSpPr txBox="1"/>
          <p:nvPr/>
        </p:nvSpPr>
        <p:spPr bwMode="auto">
          <a:xfrm>
            <a:off x="3022600" y="1981200"/>
            <a:ext cx="1397000" cy="281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zh-CN" sz="15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安全一致性</a:t>
            </a:r>
            <a:endParaRPr lang="zh-CN" sz="1500" b="1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187503" name="文本框 36"/>
          <p:cNvSpPr txBox="1"/>
          <p:nvPr/>
        </p:nvSpPr>
        <p:spPr bwMode="auto">
          <a:xfrm>
            <a:off x="8153399" y="1981200"/>
            <a:ext cx="1397000" cy="281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zh-CN" sz="15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性能代价</a:t>
            </a:r>
            <a:endParaRPr lang="zh-CN" sz="1500" b="1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045560" name="矩形 37"/>
          <p:cNvSpPr/>
          <p:nvPr/>
        </p:nvSpPr>
        <p:spPr bwMode="auto">
          <a:xfrm>
            <a:off x="2794000" y="2413000"/>
            <a:ext cx="1625600" cy="558800"/>
          </a:xfrm>
          <a:prstGeom prst="rect">
            <a:avLst/>
          </a:prstGeom>
          <a:solidFill>
            <a:srgbClr val="F7F7F7"/>
          </a:solidFill>
          <a:ln w="12700"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800355405" name="文本框 38"/>
          <p:cNvSpPr txBox="1"/>
          <p:nvPr/>
        </p:nvSpPr>
        <p:spPr bwMode="auto">
          <a:xfrm>
            <a:off x="2895600" y="2565400"/>
            <a:ext cx="1422400" cy="227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sz="115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JBD2</a:t>
            </a:r>
            <a:r>
              <a:rPr lang="zh-CN" sz="115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</a:t>
            </a:r>
            <a:endParaRPr lang="zh-CN" sz="1150" b="1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64893202" name="文本框 39"/>
          <p:cNvSpPr txBox="1"/>
          <p:nvPr/>
        </p:nvSpPr>
        <p:spPr bwMode="auto">
          <a:xfrm>
            <a:off x="4699000" y="2565400"/>
            <a:ext cx="3111500" cy="234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zh-CN" sz="1200" b="1">
                <a:solidFill>
                  <a:srgbClr val="333333"/>
                </a:solidFill>
                <a:ea typeface="+mn-lt"/>
                <a:cs typeface="+mn-lt"/>
              </a:rPr>
              <a:t>崩溃后重放完整事务</a:t>
            </a:r>
            <a:endParaRPr lang="zh-CN" sz="1200" b="1">
              <a:solidFill>
                <a:srgbClr val="333333"/>
              </a:solidFill>
              <a:ea typeface="+mn-lt"/>
              <a:cs typeface="+mn-lt"/>
            </a:endParaRPr>
          </a:p>
        </p:txBody>
      </p:sp>
      <p:sp>
        <p:nvSpPr>
          <p:cNvPr id="368668761" name="文本框 40"/>
          <p:cNvSpPr txBox="1"/>
          <p:nvPr/>
        </p:nvSpPr>
        <p:spPr bwMode="auto">
          <a:xfrm>
            <a:off x="8255000" y="2567940"/>
            <a:ext cx="3238500" cy="234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zh-CN" sz="1200" b="1">
                <a:solidFill>
                  <a:srgbClr val="333333"/>
                </a:solidFill>
                <a:ea typeface="+mn-lt"/>
                <a:cs typeface="+mn-lt"/>
              </a:rPr>
              <a:t>额外元数据</a:t>
            </a:r>
            <a:r>
              <a:rPr lang="en-US" sz="1200" b="1">
                <a:solidFill>
                  <a:srgbClr val="333333"/>
                </a:solidFill>
                <a:ea typeface="+mn-lt"/>
                <a:cs typeface="+mn-lt"/>
              </a:rPr>
              <a:t>I/O</a:t>
            </a:r>
            <a:r>
              <a:rPr lang="zh-CN" sz="1200" b="1">
                <a:solidFill>
                  <a:srgbClr val="333333"/>
                </a:solidFill>
                <a:ea typeface="+mn-lt"/>
                <a:cs typeface="+mn-lt"/>
              </a:rPr>
              <a:t>与</a:t>
            </a:r>
            <a:r>
              <a:rPr lang="en-US" sz="1200" b="1">
                <a:solidFill>
                  <a:srgbClr val="333333"/>
                </a:solidFill>
                <a:ea typeface="+mn-lt"/>
                <a:cs typeface="+mn-lt"/>
              </a:rPr>
              <a:t>checkpoint</a:t>
            </a:r>
            <a:r>
              <a:rPr lang="zh-CN" sz="1200" b="1">
                <a:solidFill>
                  <a:srgbClr val="333333"/>
                </a:solidFill>
                <a:ea typeface="+mn-lt"/>
                <a:cs typeface="+mn-lt"/>
              </a:rPr>
              <a:t>写回</a:t>
            </a:r>
            <a:endParaRPr lang="zh-CN" sz="1200" b="1">
              <a:solidFill>
                <a:srgbClr val="333333"/>
              </a:solidFill>
              <a:ea typeface="+mn-lt"/>
              <a:cs typeface="+mn-lt"/>
            </a:endParaRPr>
          </a:p>
        </p:txBody>
      </p:sp>
      <p:cxnSp>
        <p:nvCxnSpPr>
          <p:cNvPr id="1886168491" name="直接连接符 41"/>
          <p:cNvCxnSpPr/>
          <p:nvPr/>
        </p:nvCxnSpPr>
        <p:spPr bwMode="auto">
          <a:xfrm>
            <a:off x="4445000" y="2692400"/>
            <a:ext cx="190500" cy="635"/>
          </a:xfrm>
          <a:prstGeom prst="line">
            <a:avLst/>
          </a:prstGeom>
          <a:ln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75762024" name="直接连接符 42"/>
          <p:cNvCxnSpPr/>
          <p:nvPr/>
        </p:nvCxnSpPr>
        <p:spPr bwMode="auto">
          <a:xfrm>
            <a:off x="7874000" y="2692400"/>
            <a:ext cx="279400" cy="635"/>
          </a:xfrm>
          <a:prstGeom prst="line">
            <a:avLst/>
          </a:prstGeom>
          <a:ln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9816687" name="矩形 43"/>
          <p:cNvSpPr/>
          <p:nvPr/>
        </p:nvSpPr>
        <p:spPr bwMode="auto">
          <a:xfrm>
            <a:off x="2794000" y="3124200"/>
            <a:ext cx="1625600" cy="558800"/>
          </a:xfrm>
          <a:prstGeom prst="rect">
            <a:avLst/>
          </a:prstGeom>
          <a:solidFill>
            <a:srgbClr val="F7F7F7"/>
          </a:solidFill>
          <a:ln w="12700"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997290694" name="文本框 44"/>
          <p:cNvSpPr txBox="1"/>
          <p:nvPr/>
        </p:nvSpPr>
        <p:spPr bwMode="auto">
          <a:xfrm>
            <a:off x="2895600" y="3276600"/>
            <a:ext cx="1422400" cy="227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zh-CN" sz="115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顺序屏障</a:t>
            </a:r>
            <a:endParaRPr lang="zh-CN" sz="1150" b="1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7453784" name="文本框 45"/>
          <p:cNvSpPr txBox="1"/>
          <p:nvPr/>
        </p:nvSpPr>
        <p:spPr bwMode="auto">
          <a:xfrm>
            <a:off x="4704080" y="3265170"/>
            <a:ext cx="3111500" cy="4197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zh-CN" sz="1200" b="1">
                <a:solidFill>
                  <a:srgbClr val="333333"/>
                </a:solidFill>
                <a:ea typeface="+mn-lt"/>
                <a:cs typeface="+mn-lt"/>
              </a:rPr>
              <a:t>约束提交顺序，避免写缓存乱序导致</a:t>
            </a:r>
            <a:r>
              <a:rPr lang="en-US" sz="1200" b="1">
                <a:solidFill>
                  <a:srgbClr val="333333"/>
                </a:solidFill>
                <a:ea typeface="+mn-lt"/>
                <a:cs typeface="+mn-lt"/>
              </a:rPr>
              <a:t>journal </a:t>
            </a:r>
            <a:r>
              <a:rPr lang="zh-CN" sz="1200" b="1">
                <a:solidFill>
                  <a:srgbClr val="333333"/>
                </a:solidFill>
                <a:ea typeface="+mn-lt"/>
                <a:cs typeface="+mn-lt"/>
              </a:rPr>
              <a:t>失效</a:t>
            </a:r>
            <a:endParaRPr lang="zh-CN" sz="1200" b="1">
              <a:solidFill>
                <a:srgbClr val="333333"/>
              </a:solidFill>
              <a:ea typeface="+mn-lt"/>
              <a:cs typeface="+mn-lt"/>
            </a:endParaRPr>
          </a:p>
        </p:txBody>
      </p:sp>
      <p:sp>
        <p:nvSpPr>
          <p:cNvPr id="879530206" name="文本框 46"/>
          <p:cNvSpPr txBox="1"/>
          <p:nvPr/>
        </p:nvSpPr>
        <p:spPr bwMode="auto">
          <a:xfrm>
            <a:off x="8242300" y="3291840"/>
            <a:ext cx="3238500" cy="234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zh-CN" sz="1200" b="1">
                <a:solidFill>
                  <a:srgbClr val="333333"/>
                </a:solidFill>
                <a:ea typeface="+mn-lt"/>
                <a:cs typeface="+mn-ea"/>
              </a:rPr>
              <a:t>增加等待，降低高速设备并行度</a:t>
            </a:r>
            <a:endParaRPr lang="zh-CN" sz="1200" b="1">
              <a:solidFill>
                <a:srgbClr val="333333"/>
              </a:solidFill>
              <a:ea typeface="+mn-lt"/>
              <a:cs typeface="+mn-ea"/>
            </a:endParaRPr>
          </a:p>
        </p:txBody>
      </p:sp>
      <p:cxnSp>
        <p:nvCxnSpPr>
          <p:cNvPr id="1872661526" name="直接连接符 47"/>
          <p:cNvCxnSpPr/>
          <p:nvPr/>
        </p:nvCxnSpPr>
        <p:spPr bwMode="auto">
          <a:xfrm>
            <a:off x="4445000" y="3403600"/>
            <a:ext cx="190500" cy="635"/>
          </a:xfrm>
          <a:prstGeom prst="line">
            <a:avLst/>
          </a:prstGeom>
          <a:ln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19404032" name="直接连接符 48"/>
          <p:cNvCxnSpPr/>
          <p:nvPr/>
        </p:nvCxnSpPr>
        <p:spPr bwMode="auto">
          <a:xfrm>
            <a:off x="7874000" y="3403600"/>
            <a:ext cx="279400" cy="635"/>
          </a:xfrm>
          <a:prstGeom prst="line">
            <a:avLst/>
          </a:prstGeom>
          <a:ln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20191896" name="矩形 49"/>
          <p:cNvSpPr/>
          <p:nvPr/>
        </p:nvSpPr>
        <p:spPr bwMode="auto">
          <a:xfrm>
            <a:off x="2819400" y="3935730"/>
            <a:ext cx="1625600" cy="558800"/>
          </a:xfrm>
          <a:prstGeom prst="rect">
            <a:avLst/>
          </a:prstGeom>
          <a:solidFill>
            <a:srgbClr val="F7F7F7"/>
          </a:solidFill>
          <a:ln w="12700"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536512894" name="文本框 50"/>
          <p:cNvSpPr txBox="1"/>
          <p:nvPr/>
        </p:nvSpPr>
        <p:spPr bwMode="auto">
          <a:xfrm>
            <a:off x="2895600" y="4101464"/>
            <a:ext cx="1422400" cy="227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sz="115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fsync</a:t>
            </a:r>
            <a:r>
              <a:rPr lang="zh-CN" sz="115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</a:t>
            </a:r>
            <a:endParaRPr lang="zh-CN" sz="1150" b="1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7624954" name="文本框 51"/>
          <p:cNvSpPr txBox="1"/>
          <p:nvPr/>
        </p:nvSpPr>
        <p:spPr bwMode="auto">
          <a:xfrm>
            <a:off x="4730750" y="4149725"/>
            <a:ext cx="3111500" cy="234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zh-CN" sz="1200" b="1">
                <a:solidFill>
                  <a:srgbClr val="333333"/>
                </a:solidFill>
                <a:ea typeface="+mn-lt"/>
              </a:rPr>
              <a:t>给数据库事务提交提供明确持久化裁决点</a:t>
            </a:r>
            <a:endParaRPr lang="zh-CN" sz="1200" b="1">
              <a:solidFill>
                <a:srgbClr val="333333"/>
              </a:solidFill>
              <a:ea typeface="+mn-lt"/>
            </a:endParaRPr>
          </a:p>
        </p:txBody>
      </p:sp>
      <p:sp>
        <p:nvSpPr>
          <p:cNvPr id="1730712977" name="文本框 52"/>
          <p:cNvSpPr txBox="1"/>
          <p:nvPr/>
        </p:nvSpPr>
        <p:spPr bwMode="auto">
          <a:xfrm>
            <a:off x="8255000" y="4172585"/>
            <a:ext cx="3238500" cy="234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zh-CN" sz="1200" b="1">
                <a:solidFill>
                  <a:srgbClr val="333333"/>
                </a:solidFill>
                <a:ea typeface="+mn-lt"/>
              </a:rPr>
              <a:t>同步等待脏页和事务提交，延迟被放大</a:t>
            </a:r>
            <a:endParaRPr lang="zh-CN" sz="1200" b="1">
              <a:solidFill>
                <a:srgbClr val="333333"/>
              </a:solidFill>
              <a:ea typeface="+mn-lt"/>
            </a:endParaRPr>
          </a:p>
        </p:txBody>
      </p:sp>
      <p:cxnSp>
        <p:nvCxnSpPr>
          <p:cNvPr id="1910577068" name="直接连接符 53"/>
          <p:cNvCxnSpPr/>
          <p:nvPr/>
        </p:nvCxnSpPr>
        <p:spPr bwMode="auto">
          <a:xfrm>
            <a:off x="4479290" y="4227830"/>
            <a:ext cx="190500" cy="635"/>
          </a:xfrm>
          <a:prstGeom prst="line">
            <a:avLst/>
          </a:prstGeom>
          <a:ln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67422024" name="直接连接符 54"/>
          <p:cNvCxnSpPr/>
          <p:nvPr/>
        </p:nvCxnSpPr>
        <p:spPr bwMode="auto">
          <a:xfrm>
            <a:off x="7962900" y="4269105"/>
            <a:ext cx="279400" cy="635"/>
          </a:xfrm>
          <a:prstGeom prst="line">
            <a:avLst/>
          </a:prstGeom>
          <a:ln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70711842" name="矩形 55"/>
          <p:cNvSpPr/>
          <p:nvPr/>
        </p:nvSpPr>
        <p:spPr bwMode="auto">
          <a:xfrm>
            <a:off x="2819400" y="4926330"/>
            <a:ext cx="1625600" cy="558800"/>
          </a:xfrm>
          <a:prstGeom prst="rect">
            <a:avLst/>
          </a:prstGeom>
          <a:solidFill>
            <a:srgbClr val="F7F7F7"/>
          </a:solidFill>
          <a:ln w="12700"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9949756" name="文本框 56"/>
          <p:cNvSpPr txBox="1"/>
          <p:nvPr/>
        </p:nvSpPr>
        <p:spPr bwMode="auto">
          <a:xfrm>
            <a:off x="2895600" y="5053330"/>
            <a:ext cx="1422400" cy="227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zh-CN" sz="115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锁与缓存一致性</a:t>
            </a:r>
            <a:endParaRPr lang="zh-CN" sz="1150" b="1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083033" name="文本框 57"/>
          <p:cNvSpPr txBox="1"/>
          <p:nvPr/>
        </p:nvSpPr>
        <p:spPr bwMode="auto">
          <a:xfrm>
            <a:off x="4704080" y="5015865"/>
            <a:ext cx="3111500" cy="4197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zh-CN" sz="1200" b="1">
                <a:solidFill>
                  <a:srgbClr val="333333"/>
                </a:solidFill>
                <a:ea typeface="+mn-lt"/>
                <a:cs typeface="+mn-lt"/>
              </a:rPr>
              <a:t>保护目录、</a:t>
            </a:r>
            <a:r>
              <a:rPr lang="en-US" sz="1200" b="1">
                <a:solidFill>
                  <a:srgbClr val="333333"/>
                </a:solidFill>
                <a:ea typeface="+mn-lt"/>
                <a:cs typeface="+mn-lt"/>
              </a:rPr>
              <a:t>inode</a:t>
            </a:r>
            <a:r>
              <a:rPr lang="zh-CN" sz="1200" b="1">
                <a:solidFill>
                  <a:srgbClr val="333333"/>
                </a:solidFill>
                <a:ea typeface="+mn-lt"/>
                <a:cs typeface="+mn-lt"/>
              </a:rPr>
              <a:t>、</a:t>
            </a:r>
            <a:r>
              <a:rPr lang="en-US" sz="1200" b="1">
                <a:solidFill>
                  <a:srgbClr val="333333"/>
                </a:solidFill>
                <a:ea typeface="+mn-lt"/>
                <a:cs typeface="+mn-lt"/>
              </a:rPr>
              <a:t>extent</a:t>
            </a:r>
            <a:r>
              <a:rPr lang="zh-CN" sz="1200" b="1">
                <a:solidFill>
                  <a:srgbClr val="333333"/>
                </a:solidFill>
                <a:ea typeface="+mn-lt"/>
                <a:cs typeface="+mn-lt"/>
              </a:rPr>
              <a:t>、</a:t>
            </a:r>
            <a:r>
              <a:rPr lang="en-US" sz="1200" b="1">
                <a:solidFill>
                  <a:srgbClr val="333333"/>
                </a:solidFill>
                <a:ea typeface="+mn-lt"/>
                <a:cs typeface="+mn-lt"/>
              </a:rPr>
              <a:t>PageCache</a:t>
            </a:r>
            <a:r>
              <a:rPr lang="zh-CN" sz="1200" b="1">
                <a:solidFill>
                  <a:srgbClr val="333333"/>
                </a:solidFill>
                <a:ea typeface="+mn-lt"/>
                <a:cs typeface="+mn-lt"/>
              </a:rPr>
              <a:t>与</a:t>
            </a:r>
            <a:r>
              <a:rPr lang="en-US" sz="1200" b="1">
                <a:solidFill>
                  <a:srgbClr val="333333"/>
                </a:solidFill>
                <a:ea typeface="+mn-lt"/>
                <a:cs typeface="+mn-lt"/>
              </a:rPr>
              <a:t> journal </a:t>
            </a:r>
            <a:r>
              <a:rPr lang="zh-CN" sz="1200" b="1">
                <a:solidFill>
                  <a:srgbClr val="333333"/>
                </a:solidFill>
                <a:ea typeface="+mn-lt"/>
                <a:cs typeface="+mn-lt"/>
              </a:rPr>
              <a:t>状态一致</a:t>
            </a:r>
            <a:endParaRPr lang="zh-CN" sz="1200" b="1">
              <a:solidFill>
                <a:srgbClr val="333333"/>
              </a:solidFill>
              <a:ea typeface="+mn-lt"/>
              <a:cs typeface="+mn-lt"/>
            </a:endParaRPr>
          </a:p>
        </p:txBody>
      </p:sp>
      <p:sp>
        <p:nvSpPr>
          <p:cNvPr id="882442691" name="文本框 58"/>
          <p:cNvSpPr txBox="1"/>
          <p:nvPr/>
        </p:nvSpPr>
        <p:spPr bwMode="auto">
          <a:xfrm>
            <a:off x="8255000" y="5053330"/>
            <a:ext cx="3238500" cy="234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zh-CN" sz="1200" b="1">
                <a:solidFill>
                  <a:srgbClr val="333333"/>
                </a:solidFill>
                <a:ea typeface="+mn-lt"/>
                <a:cs typeface="+mn-lt"/>
              </a:rPr>
              <a:t>粗粒度锁或频繁失效会削弱并发</a:t>
            </a:r>
            <a:r>
              <a:rPr lang="en-US" sz="1200" b="1">
                <a:solidFill>
                  <a:srgbClr val="333333"/>
                </a:solidFill>
                <a:ea typeface="+mn-lt"/>
                <a:cs typeface="+mn-lt"/>
              </a:rPr>
              <a:t>I/O</a:t>
            </a:r>
            <a:r>
              <a:rPr lang="zh-CN" sz="1200" b="1">
                <a:solidFill>
                  <a:srgbClr val="333333"/>
                </a:solidFill>
                <a:ea typeface="+mn-lt"/>
                <a:cs typeface="+mn-lt"/>
              </a:rPr>
              <a:t>扩展性</a:t>
            </a:r>
            <a:endParaRPr lang="zh-CN" sz="1200" b="1">
              <a:solidFill>
                <a:srgbClr val="333333"/>
              </a:solidFill>
              <a:ea typeface="+mn-lt"/>
              <a:cs typeface="+mn-lt"/>
            </a:endParaRPr>
          </a:p>
        </p:txBody>
      </p:sp>
      <p:cxnSp>
        <p:nvCxnSpPr>
          <p:cNvPr id="1274221252" name="直接连接符 59"/>
          <p:cNvCxnSpPr/>
          <p:nvPr/>
        </p:nvCxnSpPr>
        <p:spPr bwMode="auto">
          <a:xfrm>
            <a:off x="4479290" y="5201920"/>
            <a:ext cx="190500" cy="635"/>
          </a:xfrm>
          <a:prstGeom prst="line">
            <a:avLst/>
          </a:prstGeom>
          <a:ln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59618149" name="直接连接符 60"/>
          <p:cNvCxnSpPr/>
          <p:nvPr/>
        </p:nvCxnSpPr>
        <p:spPr bwMode="auto">
          <a:xfrm>
            <a:off x="7962900" y="5135245"/>
            <a:ext cx="279400" cy="635"/>
          </a:xfrm>
          <a:prstGeom prst="line">
            <a:avLst/>
          </a:prstGeom>
          <a:ln>
            <a:solidFill>
              <a:srgbClr val="AAAAAA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27000" y="4839335"/>
            <a:ext cx="2195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+mn-lt"/>
                <a:cs typeface="+mn-lt"/>
              </a:rPr>
              <a:t>AI</a:t>
            </a:r>
            <a:r>
              <a:rPr lang="zh-CN" altLang="en-US" sz="2400">
                <a:solidFill>
                  <a:schemeClr val="bg1"/>
                </a:solidFill>
                <a:ea typeface="+mn-lt"/>
                <a:cs typeface="+mn-lt"/>
              </a:rPr>
              <a:t>的使用</a:t>
            </a:r>
            <a:endParaRPr lang="zh-CN" altLang="en-US" sz="2400">
              <a:solidFill>
                <a:schemeClr val="bg1"/>
              </a:solidFill>
              <a:ea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2429308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833185290" name="组合 19"/>
          <p:cNvGrpSpPr/>
          <p:nvPr/>
        </p:nvGrpSpPr>
        <p:grpSpPr bwMode="auto">
          <a:xfrm>
            <a:off x="0" y="1256291"/>
            <a:ext cx="2737505" cy="762000"/>
            <a:chOff x="0" y="772160"/>
            <a:chExt cx="2737505" cy="762000"/>
          </a:xfrm>
        </p:grpSpPr>
        <p:sp>
          <p:nvSpPr>
            <p:cNvPr id="7" name="矩形 14"/>
            <p:cNvSpPr/>
            <p:nvPr/>
          </p:nvSpPr>
          <p:spPr bwMode="auto">
            <a:xfrm>
              <a:off x="0" y="772160"/>
              <a:ext cx="2509520" cy="76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" name="等腰三角形 16"/>
            <p:cNvSpPr/>
            <p:nvPr/>
          </p:nvSpPr>
          <p:spPr bwMode="auto">
            <a:xfrm rot="5400000">
              <a:off x="2491281" y="1039167"/>
              <a:ext cx="264463" cy="227985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047992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50027475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37561115" name="文本框 9"/>
          <p:cNvSpPr txBox="1"/>
          <p:nvPr/>
        </p:nvSpPr>
        <p:spPr bwMode="auto">
          <a:xfrm>
            <a:off x="85724" y="3199937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162105655" name="文本框 10"/>
          <p:cNvSpPr txBox="1"/>
          <p:nvPr/>
        </p:nvSpPr>
        <p:spPr bwMode="auto">
          <a:xfrm>
            <a:off x="86359" y="4061588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351058192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60" y="5943600"/>
            <a:ext cx="914400" cy="914400"/>
          </a:xfrm>
          <a:prstGeom prst="rect">
            <a:avLst/>
          </a:prstGeom>
        </p:spPr>
      </p:pic>
      <p:pic>
        <p:nvPicPr>
          <p:cNvPr id="139239274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8" y="311328"/>
            <a:ext cx="2256183" cy="414149"/>
          </a:xfrm>
          <a:prstGeom prst="rect">
            <a:avLst/>
          </a:prstGeom>
        </p:spPr>
      </p:pic>
      <p:sp>
        <p:nvSpPr>
          <p:cNvPr id="1813874096" name="文本框 29"/>
          <p:cNvSpPr txBox="1"/>
          <p:nvPr/>
        </p:nvSpPr>
        <p:spPr bwMode="auto">
          <a:xfrm>
            <a:off x="86054" y="556014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13795794" name="文本框 23"/>
          <p:cNvSpPr txBox="1"/>
          <p:nvPr/>
        </p:nvSpPr>
        <p:spPr bwMode="auto">
          <a:xfrm>
            <a:off x="2743200" y="317500"/>
            <a:ext cx="9144000" cy="481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en-US" sz="2800" b="1">
                <a:solidFill>
                  <a:srgbClr val="000000"/>
                </a:solidFill>
                <a:ea typeface="+mn-lt"/>
                <a:cs typeface="+mn-lt"/>
              </a:rPr>
              <a:t>1.4 </a:t>
            </a:r>
            <a:r>
              <a:rPr lang="zh-CN" sz="2800" b="1">
                <a:solidFill>
                  <a:srgbClr val="000000"/>
                </a:solidFill>
                <a:ea typeface="+mn-lt"/>
                <a:cs typeface="+mn-lt"/>
              </a:rPr>
              <a:t>在</a:t>
            </a:r>
            <a:r>
              <a:rPr lang="en-US" sz="2800" b="1">
                <a:solidFill>
                  <a:srgbClr val="000000"/>
                </a:solidFill>
                <a:ea typeface="+mn-lt"/>
                <a:cs typeface="+mn-lt"/>
              </a:rPr>
              <a:t>Asterinas</a:t>
            </a:r>
            <a:r>
              <a:rPr lang="zh-CN" sz="2800" b="1">
                <a:solidFill>
                  <a:srgbClr val="000000"/>
                </a:solidFill>
                <a:ea typeface="+mn-lt"/>
                <a:cs typeface="+mn-lt"/>
              </a:rPr>
              <a:t>上重做</a:t>
            </a:r>
            <a:r>
              <a:rPr lang="en-US" sz="2800" b="1">
                <a:solidFill>
                  <a:srgbClr val="000000"/>
                </a:solidFill>
                <a:ea typeface="+mn-lt"/>
                <a:cs typeface="+mn-lt"/>
              </a:rPr>
              <a:t>“</a:t>
            </a:r>
            <a:r>
              <a:rPr lang="zh-CN" sz="2800" b="1">
                <a:solidFill>
                  <a:srgbClr val="000000"/>
                </a:solidFill>
                <a:ea typeface="+mn-lt"/>
                <a:cs typeface="+mn-lt"/>
              </a:rPr>
              <a:t>安全且高性能</a:t>
            </a:r>
            <a:r>
              <a:rPr lang="en-US" sz="2800" b="1">
                <a:solidFill>
                  <a:srgbClr val="000000"/>
                </a:solidFill>
                <a:ea typeface="+mn-lt"/>
                <a:cs typeface="+mn-lt"/>
              </a:rPr>
              <a:t>”</a:t>
            </a:r>
            <a:r>
              <a:rPr lang="zh-CN" sz="2800" b="1">
                <a:solidFill>
                  <a:srgbClr val="000000"/>
                </a:solidFill>
                <a:ea typeface="+mn-lt"/>
                <a:cs typeface="+mn-lt"/>
              </a:rPr>
              <a:t>的</a:t>
            </a:r>
            <a:r>
              <a:rPr lang="en-US" sz="2800" b="1">
                <a:solidFill>
                  <a:srgbClr val="000000"/>
                </a:solidFill>
                <a:ea typeface="+mn-lt"/>
                <a:cs typeface="+mn-lt"/>
              </a:rPr>
              <a:t>EXT4</a:t>
            </a:r>
            <a:endParaRPr lang="en-US" sz="2800" b="1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1690720819" name="文本框 25"/>
          <p:cNvSpPr txBox="1"/>
          <p:nvPr/>
        </p:nvSpPr>
        <p:spPr bwMode="auto">
          <a:xfrm>
            <a:off x="2794000" y="990600"/>
            <a:ext cx="8763000" cy="789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Rust</a:t>
            </a: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与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framekernel</a:t>
            </a: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把内存安全、隔离和错误边界前移，使文件系统运行环境更可控；但真实应用仍需要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EXT4</a:t>
            </a: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这样成熟的磁盘格式与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POSIX </a:t>
            </a: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语义。本项目的意义在于：把主流文件系统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EXT4</a:t>
            </a: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的能力带到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Asterinas</a:t>
            </a: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平台上，同时研究一致性机制与性能的均衡问题。</a:t>
            </a:r>
            <a:endParaRPr lang="zh-CN" sz="16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2146468574" name="文本框 26"/>
          <p:cNvSpPr txBox="1"/>
          <p:nvPr/>
        </p:nvSpPr>
        <p:spPr bwMode="auto">
          <a:xfrm>
            <a:off x="2946400" y="2013585"/>
            <a:ext cx="2413000" cy="281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zh-CN" sz="1500" b="1">
                <a:solidFill>
                  <a:schemeClr val="tx1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理由：</a:t>
            </a:r>
            <a:endParaRPr lang="zh-CN" sz="1500" b="1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7509027" name="文本框 27"/>
          <p:cNvSpPr txBox="1"/>
          <p:nvPr/>
        </p:nvSpPr>
        <p:spPr bwMode="auto">
          <a:xfrm>
            <a:off x="2946400" y="2413000"/>
            <a:ext cx="3282315" cy="251269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• RustOS</a:t>
            </a: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降低内存安全类崩溃风险，为实现更复杂的存储子系统提供了更可靠的基础。</a:t>
            </a:r>
            <a:endParaRPr lang="zh-CN" sz="1600">
              <a:solidFill>
                <a:srgbClr val="000000"/>
              </a:solidFill>
              <a:ea typeface="+mn-lt"/>
              <a:cs typeface="+mn-lt"/>
            </a:endParaRPr>
          </a:p>
          <a:p>
            <a:pPr algn="l">
              <a:spcAft>
                <a:spcPts val="0"/>
              </a:spcAft>
              <a:defRPr/>
            </a:pPr>
            <a:endParaRPr lang="en-US" sz="1600">
              <a:solidFill>
                <a:srgbClr val="000000"/>
              </a:solidFill>
              <a:ea typeface="+mn-lt"/>
              <a:cs typeface="+mn-lt"/>
            </a:endParaRPr>
          </a:p>
          <a:p>
            <a:pPr algn="l">
              <a:spcAft>
                <a:spcPts val="0"/>
              </a:spcAft>
              <a:defRPr/>
            </a:pP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• </a:t>
            </a: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高速块设备让传统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journal / fsync / </a:t>
            </a: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锁路径的开销更明显，优化收益更容易被放大。</a:t>
            </a:r>
            <a:endParaRPr lang="zh-CN" sz="1600">
              <a:solidFill>
                <a:srgbClr val="000000"/>
              </a:solidFill>
              <a:ea typeface="+mn-lt"/>
              <a:cs typeface="+mn-lt"/>
            </a:endParaRPr>
          </a:p>
          <a:p>
            <a:pPr algn="l">
              <a:spcAft>
                <a:spcPts val="0"/>
              </a:spcAft>
              <a:defRPr/>
            </a:pPr>
            <a:endParaRPr lang="en-US" sz="1600">
              <a:solidFill>
                <a:srgbClr val="000000"/>
              </a:solidFill>
              <a:ea typeface="+mn-lt"/>
              <a:cs typeface="+mn-lt"/>
            </a:endParaRPr>
          </a:p>
          <a:p>
            <a:pPr algn="l">
              <a:spcAft>
                <a:spcPts val="0"/>
              </a:spcAft>
              <a:defRPr/>
            </a:pP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• EXT4</a:t>
            </a: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生态成熟，适合用作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RustOS </a:t>
            </a: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与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Linux</a:t>
            </a:r>
            <a:r>
              <a:rPr lang="zh-CN" sz="1600">
                <a:solidFill>
                  <a:srgbClr val="000000"/>
                </a:solidFill>
                <a:ea typeface="+mn-lt"/>
                <a:cs typeface="+mn-lt"/>
              </a:rPr>
              <a:t>应用兼容性的验收场景。</a:t>
            </a:r>
            <a:endParaRPr lang="zh-CN" sz="16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2135275160" name="椭圆 30"/>
          <p:cNvSpPr/>
          <p:nvPr/>
        </p:nvSpPr>
        <p:spPr bwMode="auto">
          <a:xfrm>
            <a:off x="8382000" y="2108200"/>
            <a:ext cx="431799" cy="431799"/>
          </a:xfrm>
          <a:prstGeom prst="ellips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801804369" name="文本框 31"/>
          <p:cNvSpPr txBox="1"/>
          <p:nvPr/>
        </p:nvSpPr>
        <p:spPr bwMode="auto">
          <a:xfrm>
            <a:off x="8432800" y="2209800"/>
            <a:ext cx="330200" cy="196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5018104" name="文本框 32"/>
          <p:cNvSpPr txBox="1"/>
          <p:nvPr/>
        </p:nvSpPr>
        <p:spPr bwMode="auto">
          <a:xfrm>
            <a:off x="8991600" y="2095500"/>
            <a:ext cx="2159000" cy="2476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zh-CN" sz="13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安全运行</a:t>
            </a:r>
            <a:endParaRPr lang="zh-CN" sz="13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8097841" name="文本框 33"/>
          <p:cNvSpPr txBox="1"/>
          <p:nvPr/>
        </p:nvSpPr>
        <p:spPr bwMode="auto">
          <a:xfrm>
            <a:off x="8991600" y="2374900"/>
            <a:ext cx="2667000" cy="4197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en-US" sz="1200">
                <a:solidFill>
                  <a:srgbClr val="333333"/>
                </a:solidFill>
                <a:ea typeface="+mn-lt"/>
                <a:cs typeface="+mn-lt"/>
              </a:rPr>
              <a:t>safe Rust + framekernel</a:t>
            </a:r>
            <a:r>
              <a:rPr lang="zh-CN" sz="1200">
                <a:solidFill>
                  <a:srgbClr val="333333"/>
                </a:solidFill>
                <a:ea typeface="+mn-lt"/>
                <a:cs typeface="+mn-lt"/>
              </a:rPr>
              <a:t>提供更可控的内核服务边界</a:t>
            </a:r>
            <a:endParaRPr lang="zh-CN" sz="1200">
              <a:solidFill>
                <a:srgbClr val="333333"/>
              </a:solidFill>
              <a:ea typeface="+mn-lt"/>
              <a:cs typeface="+mn-lt"/>
            </a:endParaRPr>
          </a:p>
        </p:txBody>
      </p:sp>
      <p:cxnSp>
        <p:nvCxnSpPr>
          <p:cNvPr id="1802293932" name="直接连接符 34"/>
          <p:cNvCxnSpPr/>
          <p:nvPr/>
        </p:nvCxnSpPr>
        <p:spPr bwMode="auto">
          <a:xfrm>
            <a:off x="8597900" y="2565400"/>
            <a:ext cx="635" cy="33020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15435307" name="椭圆 35"/>
          <p:cNvSpPr/>
          <p:nvPr/>
        </p:nvSpPr>
        <p:spPr bwMode="auto">
          <a:xfrm>
            <a:off x="8382000" y="3022600"/>
            <a:ext cx="431799" cy="431799"/>
          </a:xfrm>
          <a:prstGeom prst="ellips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619993897" name="文本框 36"/>
          <p:cNvSpPr txBox="1"/>
          <p:nvPr/>
        </p:nvSpPr>
        <p:spPr bwMode="auto">
          <a:xfrm>
            <a:off x="8432800" y="3124200"/>
            <a:ext cx="330200" cy="196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9654427" name="文本框 37"/>
          <p:cNvSpPr txBox="1"/>
          <p:nvPr/>
        </p:nvSpPr>
        <p:spPr bwMode="auto">
          <a:xfrm>
            <a:off x="8991600" y="3009900"/>
            <a:ext cx="2159000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en-US" sz="13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EXT4</a:t>
            </a:r>
            <a:r>
              <a:rPr lang="zh-CN" sz="13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语义补齐</a:t>
            </a:r>
            <a:endParaRPr lang="zh-CN" sz="13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20600549" name="文本框 38"/>
          <p:cNvSpPr txBox="1"/>
          <p:nvPr/>
        </p:nvSpPr>
        <p:spPr bwMode="auto">
          <a:xfrm>
            <a:off x="8991600" y="3289300"/>
            <a:ext cx="2667000" cy="4197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zh-CN" sz="1200">
                <a:solidFill>
                  <a:srgbClr val="333333"/>
                </a:solidFill>
                <a:ea typeface="+mn-lt"/>
                <a:cs typeface="+mn-lt"/>
              </a:rPr>
              <a:t>对接</a:t>
            </a:r>
            <a:r>
              <a:rPr lang="en-US" sz="1200">
                <a:solidFill>
                  <a:srgbClr val="333333"/>
                </a:solidFill>
                <a:ea typeface="+mn-lt"/>
                <a:cs typeface="+mn-lt"/>
              </a:rPr>
              <a:t>VFS / PageCache / block device</a:t>
            </a:r>
            <a:r>
              <a:rPr lang="zh-CN" sz="1200">
                <a:solidFill>
                  <a:srgbClr val="333333"/>
                </a:solidFill>
                <a:ea typeface="+mn-lt"/>
                <a:cs typeface="+mn-lt"/>
              </a:rPr>
              <a:t>，支持真实应用</a:t>
            </a:r>
            <a:endParaRPr lang="zh-CN" sz="1200">
              <a:solidFill>
                <a:srgbClr val="333333"/>
              </a:solidFill>
              <a:ea typeface="+mn-lt"/>
              <a:cs typeface="+mn-lt"/>
            </a:endParaRPr>
          </a:p>
        </p:txBody>
      </p:sp>
      <p:cxnSp>
        <p:nvCxnSpPr>
          <p:cNvPr id="746632232" name="直接连接符 39"/>
          <p:cNvCxnSpPr/>
          <p:nvPr/>
        </p:nvCxnSpPr>
        <p:spPr bwMode="auto">
          <a:xfrm>
            <a:off x="8597900" y="3479800"/>
            <a:ext cx="635" cy="33020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0276560" name="椭圆 40"/>
          <p:cNvSpPr/>
          <p:nvPr/>
        </p:nvSpPr>
        <p:spPr bwMode="auto">
          <a:xfrm>
            <a:off x="8382000" y="3937000"/>
            <a:ext cx="431799" cy="431799"/>
          </a:xfrm>
          <a:prstGeom prst="ellips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1189085223" name="文本框 41"/>
          <p:cNvSpPr txBox="1"/>
          <p:nvPr/>
        </p:nvSpPr>
        <p:spPr bwMode="auto">
          <a:xfrm>
            <a:off x="8432800" y="4038600"/>
            <a:ext cx="330200" cy="196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1780625" name="文本框 42"/>
          <p:cNvSpPr txBox="1"/>
          <p:nvPr/>
        </p:nvSpPr>
        <p:spPr bwMode="auto">
          <a:xfrm>
            <a:off x="8991600" y="3924300"/>
            <a:ext cx="2159000" cy="2476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zh-CN" sz="13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一致性约束</a:t>
            </a:r>
            <a:endParaRPr lang="zh-CN" sz="13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48133923" name="文本框 43"/>
          <p:cNvSpPr txBox="1"/>
          <p:nvPr/>
        </p:nvSpPr>
        <p:spPr bwMode="auto">
          <a:xfrm>
            <a:off x="8991600" y="4203700"/>
            <a:ext cx="2667000" cy="41973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en-US" sz="1200">
                <a:solidFill>
                  <a:srgbClr val="333333"/>
                </a:solidFill>
                <a:ea typeface="+mn-lt"/>
                <a:cs typeface="+mn-lt"/>
              </a:rPr>
              <a:t>JBD2 ordered</a:t>
            </a:r>
            <a:r>
              <a:rPr lang="zh-CN" sz="1200">
                <a:solidFill>
                  <a:srgbClr val="333333"/>
                </a:solidFill>
                <a:ea typeface="+mn-lt"/>
                <a:cs typeface="+mn-lt"/>
              </a:rPr>
              <a:t>、</a:t>
            </a:r>
            <a:r>
              <a:rPr lang="en-US" sz="1200">
                <a:solidFill>
                  <a:srgbClr val="333333"/>
                </a:solidFill>
                <a:ea typeface="+mn-lt"/>
                <a:cs typeface="+mn-lt"/>
              </a:rPr>
              <a:t>fsync</a:t>
            </a:r>
            <a:r>
              <a:rPr lang="zh-CN" sz="1200">
                <a:solidFill>
                  <a:srgbClr val="333333"/>
                </a:solidFill>
                <a:ea typeface="+mn-lt"/>
                <a:cs typeface="+mn-lt"/>
              </a:rPr>
              <a:t>、</a:t>
            </a:r>
            <a:r>
              <a:rPr lang="en-US" sz="1200">
                <a:solidFill>
                  <a:srgbClr val="333333"/>
                </a:solidFill>
                <a:ea typeface="+mn-lt"/>
                <a:cs typeface="+mn-lt"/>
              </a:rPr>
              <a:t>recovery</a:t>
            </a:r>
            <a:r>
              <a:rPr lang="zh-CN" sz="1200">
                <a:solidFill>
                  <a:srgbClr val="333333"/>
                </a:solidFill>
                <a:ea typeface="+mn-lt"/>
                <a:cs typeface="+mn-lt"/>
              </a:rPr>
              <a:t>保证崩溃后可恢复</a:t>
            </a:r>
            <a:endParaRPr lang="zh-CN" sz="1200">
              <a:solidFill>
                <a:srgbClr val="333333"/>
              </a:solidFill>
              <a:ea typeface="+mn-lt"/>
              <a:cs typeface="+mn-lt"/>
            </a:endParaRPr>
          </a:p>
        </p:txBody>
      </p:sp>
      <p:cxnSp>
        <p:nvCxnSpPr>
          <p:cNvPr id="587386031" name="直接连接符 44"/>
          <p:cNvCxnSpPr/>
          <p:nvPr/>
        </p:nvCxnSpPr>
        <p:spPr bwMode="auto">
          <a:xfrm>
            <a:off x="8597900" y="4394200"/>
            <a:ext cx="635" cy="33020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27741754" name="椭圆 45"/>
          <p:cNvSpPr/>
          <p:nvPr/>
        </p:nvSpPr>
        <p:spPr bwMode="auto">
          <a:xfrm>
            <a:off x="8382000" y="4851400"/>
            <a:ext cx="431799" cy="431799"/>
          </a:xfrm>
          <a:prstGeom prst="ellipse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256639256" name="文本框 46"/>
          <p:cNvSpPr txBox="1"/>
          <p:nvPr/>
        </p:nvSpPr>
        <p:spPr bwMode="auto">
          <a:xfrm>
            <a:off x="8432800" y="4953000"/>
            <a:ext cx="330200" cy="1968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1519256" name="文本框 47"/>
          <p:cNvSpPr txBox="1"/>
          <p:nvPr/>
        </p:nvSpPr>
        <p:spPr bwMode="auto">
          <a:xfrm>
            <a:off x="8991600" y="4838700"/>
            <a:ext cx="2159000" cy="2476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zh-CN" sz="13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性能路径优化</a:t>
            </a:r>
            <a:endParaRPr lang="zh-CN" sz="13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116164" name="文本框 48"/>
          <p:cNvSpPr txBox="1"/>
          <p:nvPr/>
        </p:nvSpPr>
        <p:spPr bwMode="auto">
          <a:xfrm>
            <a:off x="8991600" y="5118100"/>
            <a:ext cx="2667000" cy="234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zh-CN" sz="1200">
                <a:solidFill>
                  <a:srgbClr val="333333"/>
                </a:solidFill>
                <a:ea typeface="+mn-lt"/>
                <a:cs typeface="+mn-ea"/>
              </a:rPr>
              <a:t>缓存、日志、锁的优化</a:t>
            </a:r>
            <a:endParaRPr lang="zh-CN" sz="1200">
              <a:solidFill>
                <a:srgbClr val="333333"/>
              </a:solidFill>
              <a:ea typeface="+mn-lt"/>
              <a:cs typeface="+mn-ea"/>
            </a:endParaRPr>
          </a:p>
        </p:txBody>
      </p:sp>
      <p:sp>
        <p:nvSpPr>
          <p:cNvPr id="184491102" name="圆角矩形 49"/>
          <p:cNvSpPr/>
          <p:nvPr/>
        </p:nvSpPr>
        <p:spPr bwMode="auto">
          <a:xfrm>
            <a:off x="2819400" y="5153660"/>
            <a:ext cx="3700145" cy="406400"/>
          </a:xfrm>
          <a:prstGeom prst="roundRect">
            <a:avLst>
              <a:gd name="adj" fmla="val 16667"/>
            </a:avLst>
          </a:prstGeom>
          <a:solidFill>
            <a:srgbClr val="E7E7E7"/>
          </a:solidFill>
          <a:ln w="12700"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1645636005" name="文本框 50"/>
          <p:cNvSpPr txBox="1"/>
          <p:nvPr/>
        </p:nvSpPr>
        <p:spPr bwMode="auto">
          <a:xfrm>
            <a:off x="2819400" y="5209540"/>
            <a:ext cx="3699510" cy="21971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zh-CN" sz="1100" b="1">
                <a:solidFill>
                  <a:schemeClr val="tx1"/>
                </a:solidFill>
                <a:effectLst/>
                <a:latin typeface="+mn-ea"/>
                <a:ea typeface="微软雅黑" panose="020B0503020204020204" charset="-122"/>
                <a:cs typeface="+mn-ea"/>
              </a:rPr>
              <a:t>目标：面向</a:t>
            </a:r>
            <a:r>
              <a:rPr lang="en-US" sz="1100" b="1">
                <a:solidFill>
                  <a:schemeClr val="tx1"/>
                </a:solidFill>
                <a:effectLst/>
                <a:latin typeface="+mn-ea"/>
                <a:ea typeface="微软雅黑" panose="020B0503020204020204" charset="-122"/>
                <a:cs typeface="+mn-ea"/>
              </a:rPr>
              <a:t>Rust OS</a:t>
            </a:r>
            <a:r>
              <a:rPr lang="zh-CN" sz="1100" b="1">
                <a:solidFill>
                  <a:schemeClr val="tx1"/>
                </a:solidFill>
                <a:effectLst/>
                <a:latin typeface="+mn-ea"/>
                <a:ea typeface="微软雅黑" panose="020B0503020204020204" charset="-122"/>
                <a:cs typeface="+mn-ea"/>
              </a:rPr>
              <a:t>的高性能强一致性</a:t>
            </a:r>
            <a:r>
              <a:rPr lang="en-US" sz="1100" b="1">
                <a:solidFill>
                  <a:schemeClr val="tx1"/>
                </a:solidFill>
                <a:effectLst/>
                <a:latin typeface="+mn-ea"/>
                <a:ea typeface="微软雅黑" panose="020B0503020204020204" charset="-122"/>
                <a:cs typeface="+mn-ea"/>
              </a:rPr>
              <a:t>EXT4</a:t>
            </a:r>
            <a:r>
              <a:rPr lang="zh-CN" sz="1100" b="1">
                <a:solidFill>
                  <a:schemeClr val="tx1"/>
                </a:solidFill>
                <a:effectLst/>
                <a:latin typeface="+mn-ea"/>
                <a:ea typeface="微软雅黑" panose="020B0503020204020204" charset="-122"/>
                <a:cs typeface="+mn-ea"/>
              </a:rPr>
              <a:t>文件系统</a:t>
            </a:r>
            <a:endParaRPr lang="zh-CN" sz="1100" b="1">
              <a:solidFill>
                <a:schemeClr val="tx1"/>
              </a:solidFill>
              <a:effectLst/>
              <a:latin typeface="+mn-ea"/>
              <a:ea typeface="微软雅黑" panose="020B0503020204020204" charset="-122"/>
              <a:cs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7000" y="4839335"/>
            <a:ext cx="2195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+mn-lt"/>
                <a:cs typeface="+mn-lt"/>
              </a:rPr>
              <a:t>AI</a:t>
            </a:r>
            <a:r>
              <a:rPr lang="zh-CN" altLang="en-US" sz="2400">
                <a:solidFill>
                  <a:schemeClr val="bg1"/>
                </a:solidFill>
                <a:ea typeface="+mn-lt"/>
                <a:cs typeface="+mn-lt"/>
              </a:rPr>
              <a:t>的使用</a:t>
            </a:r>
            <a:endParaRPr lang="zh-CN" altLang="en-US" sz="2400">
              <a:solidFill>
                <a:schemeClr val="bg1"/>
              </a:solidFill>
              <a:ea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0611430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852296680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597848106" name="文本框 9"/>
          <p:cNvSpPr txBox="1"/>
          <p:nvPr/>
        </p:nvSpPr>
        <p:spPr bwMode="auto">
          <a:xfrm>
            <a:off x="85724" y="3199937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40333834" name="文本框 10"/>
          <p:cNvSpPr txBox="1"/>
          <p:nvPr/>
        </p:nvSpPr>
        <p:spPr bwMode="auto">
          <a:xfrm>
            <a:off x="86359" y="4061588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829651697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60" y="5943600"/>
            <a:ext cx="914400" cy="914400"/>
          </a:xfrm>
          <a:prstGeom prst="rect">
            <a:avLst/>
          </a:prstGeom>
        </p:spPr>
      </p:pic>
      <p:pic>
        <p:nvPicPr>
          <p:cNvPr id="304090691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8" y="311328"/>
            <a:ext cx="2256183" cy="414149"/>
          </a:xfrm>
          <a:prstGeom prst="rect">
            <a:avLst/>
          </a:prstGeom>
        </p:spPr>
      </p:pic>
      <p:sp>
        <p:nvSpPr>
          <p:cNvPr id="750054616" name="文本框 29"/>
          <p:cNvSpPr txBox="1"/>
          <p:nvPr/>
        </p:nvSpPr>
        <p:spPr bwMode="auto">
          <a:xfrm>
            <a:off x="86054" y="556014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761035398" name="组合 19"/>
          <p:cNvGrpSpPr/>
          <p:nvPr/>
        </p:nvGrpSpPr>
        <p:grpSpPr bwMode="auto">
          <a:xfrm>
            <a:off x="0" y="2175081"/>
            <a:ext cx="2737505" cy="762000"/>
            <a:chOff x="0" y="772160"/>
            <a:chExt cx="2737505" cy="762000"/>
          </a:xfrm>
        </p:grpSpPr>
        <p:sp>
          <p:nvSpPr>
            <p:cNvPr id="15" name="矩形 14"/>
            <p:cNvSpPr/>
            <p:nvPr/>
          </p:nvSpPr>
          <p:spPr bwMode="auto">
            <a:xfrm>
              <a:off x="0" y="772160"/>
              <a:ext cx="2509520" cy="76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" name="等腰三角形 16"/>
            <p:cNvSpPr/>
            <p:nvPr/>
          </p:nvSpPr>
          <p:spPr bwMode="auto">
            <a:xfrm rot="5400000">
              <a:off x="2491281" y="1039167"/>
              <a:ext cx="264463" cy="227985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834041134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96306022" name="TextBox 24"/>
          <p:cNvSpPr txBox="1"/>
          <p:nvPr/>
        </p:nvSpPr>
        <p:spPr bwMode="auto">
          <a:xfrm>
            <a:off x="2743200" y="347471"/>
            <a:ext cx="8779319" cy="56515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sz="2800" b="1">
                <a:solidFill>
                  <a:schemeClr val="tx1"/>
                </a:solidFill>
                <a:ea typeface="+mn-lt"/>
                <a:cs typeface="+mn-lt"/>
              </a:rPr>
              <a:t>2.1 项目目标</a:t>
            </a:r>
            <a:endParaRPr sz="2800" b="1">
              <a:solidFill>
                <a:schemeClr val="tx1"/>
              </a:solidFill>
              <a:ea typeface="+mn-lt"/>
              <a:cs typeface="+mn-lt"/>
            </a:endParaRPr>
          </a:p>
        </p:txBody>
      </p:sp>
      <p:graphicFrame>
        <p:nvGraphicFramePr>
          <p:cNvPr id="205774833" name="表格 3"/>
          <p:cNvGraphicFramePr>
            <a:graphicFrameLocks noGrp="1"/>
          </p:cNvGraphicFramePr>
          <p:nvPr/>
        </p:nvGraphicFramePr>
        <p:xfrm>
          <a:off x="2737485" y="1026795"/>
          <a:ext cx="9091930" cy="5245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0850"/>
                <a:gridCol w="2533650"/>
                <a:gridCol w="4837430"/>
              </a:tblGrid>
              <a:tr h="44831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zh-CN" sz="20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目标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zh-CN" sz="20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完成情况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zh-CN" sz="20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说明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/>
                </a:tc>
              </a:tr>
              <a:tr h="12827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zh-CN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目标</a:t>
                      </a:r>
                      <a:r>
                        <a:rPr lang="en-US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</a:t>
                      </a:r>
                      <a:r>
                        <a:rPr lang="zh-CN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：</a:t>
                      </a:r>
                      <a:r>
                        <a:rPr lang="en-US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EXT4</a:t>
                      </a:r>
                      <a:r>
                        <a:rPr lang="zh-CN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文件系统功能完成度</a:t>
                      </a:r>
                      <a:endParaRPr sz="1600" b="1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/>
                      </a:pP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     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defRPr/>
                      </a:pP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  </a:t>
                      </a:r>
                      <a:r>
                        <a:rPr lang="en-US" sz="1600">
                          <a:ea typeface="+mn-lt"/>
                          <a:cs typeface="+mn-lt"/>
                        </a:rPr>
                        <a:t> </a:t>
                      </a:r>
                      <a:r>
                        <a:rPr lang="zh-CN" altLang="en-US" sz="1600">
                          <a:ea typeface="+mn-lt"/>
                          <a:cs typeface="+mn-lt"/>
                        </a:rPr>
                        <a:t>全部</a:t>
                      </a:r>
                      <a:r>
                        <a:rPr lang="zh-CN" sz="1600">
                          <a:ea typeface="+mn-lt"/>
                          <a:cs typeface="+mn-lt"/>
                        </a:rPr>
                        <a:t>完成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（</a:t>
                      </a:r>
                      <a:r>
                        <a:rPr lang="en-US" alt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100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%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）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US" sz="1600">
                          <a:ea typeface="+mn-lt"/>
                          <a:cs typeface="+mn-lt"/>
                        </a:rPr>
                        <a:t>1.</a:t>
                      </a:r>
                      <a:r>
                        <a:rPr lang="zh-CN" altLang="en-US" sz="1600">
                          <a:ea typeface="+mn-lt"/>
                          <a:cs typeface="+mn-lt"/>
                        </a:rPr>
                        <a:t>实现完整</a:t>
                      </a:r>
                      <a:r>
                        <a:rPr lang="en-US" sz="1600">
                          <a:ea typeface="+mn-lt"/>
                          <a:cs typeface="+mn-lt"/>
                        </a:rPr>
                        <a:t>POSIX</a:t>
                      </a:r>
                      <a:r>
                        <a:rPr lang="zh-CN" sz="1600">
                          <a:ea typeface="+mn-lt"/>
                          <a:cs typeface="+mn-lt"/>
                        </a:rPr>
                        <a:t>核心接口</a:t>
                      </a:r>
                      <a:endParaRPr lang="zh-CN" sz="1600">
                        <a:ea typeface="+mn-lt"/>
                        <a:cs typeface="+mn-lt"/>
                      </a:endParaRPr>
                    </a:p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600">
                          <a:ea typeface="+mn-lt"/>
                          <a:cs typeface="+mn-lt"/>
                        </a:rPr>
                        <a:t>2.</a:t>
                      </a:r>
                      <a:r>
                        <a:rPr lang="en-US" sz="1600">
                          <a:ea typeface="+mn-lt"/>
                          <a:cs typeface="+mn-lt"/>
                        </a:rPr>
                        <a:t>Extent</a:t>
                      </a:r>
                      <a:r>
                        <a:rPr lang="zh-CN" altLang="en-US" sz="1600">
                          <a:ea typeface="+mn-lt"/>
                          <a:cs typeface="+mn-lt"/>
                        </a:rPr>
                        <a:t>多块分配与管理</a:t>
                      </a:r>
                      <a:endParaRPr lang="zh-CN" altLang="en-US" sz="1600">
                        <a:ea typeface="+mn-lt"/>
                        <a:cs typeface="+mn-lt"/>
                      </a:endParaRPr>
                    </a:p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600">
                          <a:ea typeface="+mn-lt"/>
                          <a:cs typeface="+mn-lt"/>
                        </a:rPr>
                        <a:t>3.</a:t>
                      </a:r>
                      <a:r>
                        <a:rPr lang="zh-CN" altLang="en-US" sz="1600">
                          <a:ea typeface="+mn-lt"/>
                          <a:cs typeface="+mn-lt"/>
                        </a:rPr>
                        <a:t>并发读写测试无数据错乱和丢失问题</a:t>
                      </a:r>
                      <a:endParaRPr lang="zh-CN" altLang="en-US" sz="1600">
                        <a:ea typeface="+mn-lt"/>
                        <a:cs typeface="+mn-lt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9982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zh-CN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目标</a:t>
                      </a:r>
                      <a:r>
                        <a:rPr lang="en-US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</a:t>
                      </a:r>
                      <a:r>
                        <a:rPr lang="zh-CN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：崩溃恢复一致性</a:t>
                      </a:r>
                      <a:endParaRPr sz="1600" b="1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</a:t>
                      </a:r>
                      <a:r>
                        <a:rPr lang="zh-CN" sz="1600">
                          <a:ea typeface="+mn-lt"/>
                          <a:cs typeface="Arial" panose="020B0604020202020204"/>
                        </a:rPr>
                        <a:t>全部完成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（</a:t>
                      </a:r>
                      <a:r>
                        <a:rPr lang="en-US" alt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100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%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）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600">
                          <a:ea typeface="+mn-lt"/>
                          <a:cs typeface="+mn-lt"/>
                        </a:rPr>
                        <a:t>1.</a:t>
                      </a:r>
                      <a:r>
                        <a:rPr lang="zh-CN" altLang="en-US" sz="1600">
                          <a:ea typeface="+mn-lt"/>
                          <a:cs typeface="+mn-lt"/>
                        </a:rPr>
                        <a:t>实现</a:t>
                      </a:r>
                      <a:r>
                        <a:rPr lang="en-US" altLang="zh-CN" sz="1600">
                          <a:ea typeface="+mn-lt"/>
                          <a:cs typeface="+mn-lt"/>
                        </a:rPr>
                        <a:t>JBD2</a:t>
                      </a:r>
                      <a:r>
                        <a:rPr lang="zh-CN" altLang="en-US" sz="1600">
                          <a:ea typeface="+mn-lt"/>
                          <a:cs typeface="+mn-lt"/>
                        </a:rPr>
                        <a:t>日志完整功能（日志刷盘、事务管理、全量崩溃恢复）</a:t>
                      </a:r>
                      <a:endParaRPr lang="zh-CN" altLang="en-US" sz="1600">
                        <a:ea typeface="+mn-lt"/>
                        <a:cs typeface="+mn-lt"/>
                      </a:endParaRPr>
                    </a:p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600">
                          <a:ea typeface="+mn-lt"/>
                          <a:cs typeface="+mn-lt"/>
                        </a:rPr>
                        <a:t>2.</a:t>
                      </a:r>
                      <a:r>
                        <a:rPr lang="zh-CN" altLang="en-US" sz="1600">
                          <a:ea typeface="+mn-lt"/>
                          <a:cs typeface="+mn-lt"/>
                        </a:rPr>
                        <a:t>完成了多场景崩溃恢复测试</a:t>
                      </a:r>
                      <a:endParaRPr lang="zh-CN" altLang="en-US"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/>
                </a:tc>
              </a:tr>
              <a:tr h="1457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zh-CN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目标3：与</a:t>
                      </a:r>
                      <a:r>
                        <a:rPr lang="en-US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Linux EXT4</a:t>
                      </a:r>
                      <a:r>
                        <a:rPr lang="zh-CN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的性能对比</a:t>
                      </a:r>
                      <a:endParaRPr sz="1600" b="1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0" marR="0" lvl="0" indent="0" algn="ctr" defTabSz="914400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</a:t>
                      </a:r>
                      <a:r>
                        <a:rPr lang="zh-CN" sz="1600">
                          <a:ea typeface="+mn-lt"/>
                          <a:cs typeface="Arial" panose="020B0604020202020204"/>
                        </a:rPr>
                        <a:t>全部完成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（</a:t>
                      </a:r>
                      <a:r>
                        <a:rPr lang="en-US" alt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100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%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）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600">
                          <a:ea typeface="+mn-lt"/>
                          <a:cs typeface="+mn-lt"/>
                        </a:rPr>
                        <a:t>1.fio</a:t>
                      </a:r>
                      <a:r>
                        <a:rPr lang="zh-CN" altLang="en-US" sz="1600">
                          <a:ea typeface="+mn-lt"/>
                          <a:cs typeface="+mn-lt"/>
                        </a:rPr>
                        <a:t>顺序读写测试带宽达到</a:t>
                      </a:r>
                      <a:r>
                        <a:rPr lang="en-US" altLang="zh-CN" sz="1600">
                          <a:ea typeface="+mn-lt"/>
                          <a:cs typeface="+mn-lt"/>
                        </a:rPr>
                        <a:t>Linux EXT4</a:t>
                      </a:r>
                      <a:r>
                        <a:rPr lang="zh-CN" altLang="en-US" sz="1600">
                          <a:ea typeface="+mn-lt"/>
                          <a:cs typeface="+mn-lt"/>
                        </a:rPr>
                        <a:t>的</a:t>
                      </a:r>
                      <a:r>
                        <a:rPr lang="zh-CN" altLang="en-US" sz="1600" b="1">
                          <a:ea typeface="+mn-lt"/>
                          <a:cs typeface="+mn-lt"/>
                        </a:rPr>
                        <a:t>1</a:t>
                      </a:r>
                      <a:r>
                        <a:rPr lang="en-US" altLang="zh-CN" sz="1600" b="1">
                          <a:ea typeface="+mn-lt"/>
                          <a:cs typeface="+mn-lt"/>
                        </a:rPr>
                        <a:t>05.1</a:t>
                      </a:r>
                      <a:r>
                        <a:rPr lang="zh-CN" altLang="en-US" sz="1600" b="1">
                          <a:ea typeface="+mn-lt"/>
                          <a:cs typeface="+mn-lt"/>
                        </a:rPr>
                        <a:t>%–113.4%</a:t>
                      </a:r>
                      <a:endParaRPr lang="zh-CN" altLang="en-US" sz="1600" b="1">
                        <a:ea typeface="+mn-lt"/>
                        <a:cs typeface="+mn-lt"/>
                      </a:endParaRPr>
                    </a:p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600" b="0">
                          <a:ea typeface="+mn-lt"/>
                          <a:cs typeface="+mn-lt"/>
                        </a:rPr>
                        <a:t>2.</a:t>
                      </a:r>
                      <a:r>
                        <a:rPr lang="zh-CN" altLang="en-US" sz="1600">
                          <a:ea typeface="+mn-lt"/>
                          <a:cs typeface="+mn-lt"/>
                        </a:rPr>
                        <a:t>同文件并发写测试带宽在</a:t>
                      </a:r>
                      <a:r>
                        <a:rPr lang="en-US" altLang="zh-CN" sz="1600" b="1">
                          <a:ea typeface="+mn-lt"/>
                          <a:cs typeface="+mn-lt"/>
                        </a:rPr>
                        <a:t>numjobs=2</a:t>
                      </a:r>
                      <a:r>
                        <a:rPr lang="zh-CN" altLang="en-US" sz="1600" b="1">
                          <a:ea typeface="+mn-lt"/>
                          <a:cs typeface="+mn-lt"/>
                        </a:rPr>
                        <a:t>和</a:t>
                      </a:r>
                      <a:r>
                        <a:rPr lang="en-US" altLang="zh-CN" sz="1600" b="1">
                          <a:ea typeface="+mn-lt"/>
                          <a:cs typeface="+mn-lt"/>
                        </a:rPr>
                        <a:t>numjobs=4</a:t>
                      </a:r>
                      <a:r>
                        <a:rPr lang="zh-CN" altLang="en-US" sz="1600">
                          <a:ea typeface="+mn-lt"/>
                          <a:cs typeface="+mn-lt"/>
                        </a:rPr>
                        <a:t>的情况下分别为</a:t>
                      </a:r>
                      <a:r>
                        <a:rPr lang="en-US" altLang="zh-CN" sz="1600">
                          <a:ea typeface="+mn-lt"/>
                          <a:cs typeface="+mn-lt"/>
                        </a:rPr>
                        <a:t>Linux EXT4</a:t>
                      </a:r>
                      <a:r>
                        <a:rPr lang="zh-CN" altLang="en-US" sz="1600">
                          <a:ea typeface="+mn-lt"/>
                          <a:cs typeface="+mn-lt"/>
                        </a:rPr>
                        <a:t>的</a:t>
                      </a:r>
                      <a:r>
                        <a:rPr lang="zh-CN" altLang="en-US" sz="1600" b="1">
                          <a:ea typeface="+mn-lt"/>
                          <a:cs typeface="+mn-lt"/>
                        </a:rPr>
                        <a:t>103%和111%</a:t>
                      </a:r>
                      <a:endParaRPr lang="zh-CN" altLang="en-US" sz="1600">
                        <a:ea typeface="+mn-lt"/>
                        <a:cs typeface="+mn-lt"/>
                      </a:endParaRPr>
                    </a:p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600">
                          <a:ea typeface="+mn-lt"/>
                          <a:cs typeface="+mn-lt"/>
                        </a:rPr>
                        <a:t>3.SQLite speedtest1</a:t>
                      </a:r>
                      <a:r>
                        <a:rPr lang="zh-CN" altLang="en-US" sz="1600">
                          <a:ea typeface="+mn-lt"/>
                          <a:cs typeface="+mn-lt"/>
                        </a:rPr>
                        <a:t>测试耗时缩短至</a:t>
                      </a:r>
                      <a:r>
                        <a:rPr lang="zh-CN" altLang="en-US" sz="1600" b="1">
                          <a:ea typeface="+mn-lt"/>
                          <a:cs typeface="+mn-lt"/>
                        </a:rPr>
                        <a:t>86.2 </a:t>
                      </a:r>
                      <a:r>
                        <a:rPr lang="en-US" altLang="zh-CN" sz="1600" b="1">
                          <a:ea typeface="+mn-lt"/>
                          <a:cs typeface="+mn-lt"/>
                        </a:rPr>
                        <a:t>s</a:t>
                      </a:r>
                      <a:endParaRPr lang="zh-CN" altLang="en-US" sz="1600">
                        <a:ea typeface="+mn-lt"/>
                        <a:cs typeface="+mn-lt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9620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zh-CN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目标</a:t>
                      </a:r>
                      <a:r>
                        <a:rPr lang="en-US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4</a:t>
                      </a:r>
                      <a:r>
                        <a:rPr lang="zh-CN" sz="1600" b="1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：创新性优化</a:t>
                      </a:r>
                      <a:endParaRPr sz="1600" b="1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</a:t>
                      </a:r>
                      <a:r>
                        <a:rPr lang="zh-CN" sz="1600">
                          <a:ea typeface="+mn-lt"/>
                          <a:cs typeface="Arial" panose="020B0604020202020204"/>
                        </a:rPr>
                        <a:t>全部完成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（</a:t>
                      </a:r>
                      <a:r>
                        <a:rPr lang="en-US" alt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100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%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）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600" b="0">
                          <a:ea typeface="+mn-lt"/>
                          <a:cs typeface="+mn-lt"/>
                        </a:rPr>
                        <a:t>1.Extent</a:t>
                      </a:r>
                      <a:r>
                        <a:rPr lang="zh-CN" altLang="en-US" sz="1600" b="0">
                          <a:ea typeface="+mn-lt"/>
                          <a:cs typeface="+mn-lt"/>
                        </a:rPr>
                        <a:t>与空间分配优化</a:t>
                      </a:r>
                      <a:endParaRPr lang="zh-CN" altLang="en-US" sz="1600" b="0">
                        <a:ea typeface="+mn-lt"/>
                        <a:cs typeface="+mn-lt"/>
                      </a:endParaRPr>
                    </a:p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600" b="0">
                          <a:ea typeface="+mn-lt"/>
                          <a:cs typeface="+mn-lt"/>
                        </a:rPr>
                        <a:t>2.</a:t>
                      </a:r>
                      <a:r>
                        <a:rPr lang="zh-CN" altLang="en-US" sz="1600" b="0">
                          <a:ea typeface="+mn-lt"/>
                          <a:cs typeface="+mn-lt"/>
                        </a:rPr>
                        <a:t>缓存与写回路径优化</a:t>
                      </a:r>
                      <a:endParaRPr lang="zh-CN" altLang="en-US" sz="1600" b="0">
                        <a:ea typeface="+mn-lt"/>
                        <a:cs typeface="+mn-lt"/>
                      </a:endParaRPr>
                    </a:p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600" b="0">
                          <a:ea typeface="+mn-lt"/>
                          <a:cs typeface="+mn-lt"/>
                        </a:rPr>
                        <a:t>3.</a:t>
                      </a:r>
                      <a:r>
                        <a:rPr lang="zh-CN" altLang="en-US" sz="1600" b="0">
                          <a:ea typeface="+mn-lt"/>
                          <a:cs typeface="+mn-lt"/>
                        </a:rPr>
                        <a:t>直接</a:t>
                      </a:r>
                      <a:r>
                        <a:rPr lang="en-US" altLang="zh-CN" sz="1600" b="0">
                          <a:ea typeface="+mn-lt"/>
                          <a:cs typeface="+mn-lt"/>
                        </a:rPr>
                        <a:t>I/O</a:t>
                      </a:r>
                      <a:r>
                        <a:rPr lang="zh-CN" altLang="en-US" sz="1600" b="0">
                          <a:ea typeface="+mn-lt"/>
                          <a:cs typeface="+mn-lt"/>
                        </a:rPr>
                        <a:t>与并发优化。</a:t>
                      </a:r>
                      <a:endParaRPr lang="en-US" altLang="zh-CN" sz="1600" b="0">
                        <a:ea typeface="+mn-lt"/>
                        <a:cs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27000" y="4839335"/>
            <a:ext cx="2195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+mn-lt"/>
                <a:cs typeface="+mn-lt"/>
              </a:rPr>
              <a:t>AI</a:t>
            </a:r>
            <a:r>
              <a:rPr lang="zh-CN" altLang="en-US" sz="2400">
                <a:solidFill>
                  <a:schemeClr val="bg1"/>
                </a:solidFill>
                <a:ea typeface="+mn-lt"/>
                <a:cs typeface="+mn-lt"/>
              </a:rPr>
              <a:t>的使用</a:t>
            </a:r>
            <a:endParaRPr lang="zh-CN" altLang="en-US" sz="2400">
              <a:solidFill>
                <a:schemeClr val="bg1"/>
              </a:solidFill>
              <a:ea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2789203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59872470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76623274" name="文本框 9"/>
          <p:cNvSpPr txBox="1"/>
          <p:nvPr/>
        </p:nvSpPr>
        <p:spPr bwMode="auto">
          <a:xfrm>
            <a:off x="85724" y="3199937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97643837" name="文本框 10"/>
          <p:cNvSpPr txBox="1"/>
          <p:nvPr/>
        </p:nvSpPr>
        <p:spPr bwMode="auto">
          <a:xfrm>
            <a:off x="86359" y="4061588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155257891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60" y="5943600"/>
            <a:ext cx="914400" cy="914400"/>
          </a:xfrm>
          <a:prstGeom prst="rect">
            <a:avLst/>
          </a:prstGeom>
        </p:spPr>
      </p:pic>
      <p:pic>
        <p:nvPicPr>
          <p:cNvPr id="1038066148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8" y="311328"/>
            <a:ext cx="2256183" cy="414149"/>
          </a:xfrm>
          <a:prstGeom prst="rect">
            <a:avLst/>
          </a:prstGeom>
        </p:spPr>
      </p:pic>
      <p:sp>
        <p:nvSpPr>
          <p:cNvPr id="881306159" name="文本框 29"/>
          <p:cNvSpPr txBox="1"/>
          <p:nvPr/>
        </p:nvSpPr>
        <p:spPr bwMode="auto">
          <a:xfrm>
            <a:off x="86054" y="556014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712494074" name="组合 19"/>
          <p:cNvGrpSpPr/>
          <p:nvPr/>
        </p:nvGrpSpPr>
        <p:grpSpPr bwMode="auto">
          <a:xfrm>
            <a:off x="0" y="2175081"/>
            <a:ext cx="2737505" cy="762000"/>
            <a:chOff x="0" y="772160"/>
            <a:chExt cx="2737505" cy="762000"/>
          </a:xfrm>
        </p:grpSpPr>
        <p:sp>
          <p:nvSpPr>
            <p:cNvPr id="14" name="矩形 14"/>
            <p:cNvSpPr/>
            <p:nvPr/>
          </p:nvSpPr>
          <p:spPr bwMode="auto">
            <a:xfrm>
              <a:off x="0" y="772160"/>
              <a:ext cx="2509520" cy="76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5" name="等腰三角形 16"/>
            <p:cNvSpPr/>
            <p:nvPr/>
          </p:nvSpPr>
          <p:spPr bwMode="auto">
            <a:xfrm rot="5400000">
              <a:off x="2491281" y="1039167"/>
              <a:ext cx="264463" cy="227985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616990030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31460061" name="TextBox 26"/>
          <p:cNvSpPr txBox="1"/>
          <p:nvPr/>
        </p:nvSpPr>
        <p:spPr bwMode="auto">
          <a:xfrm>
            <a:off x="2743200" y="347471"/>
            <a:ext cx="8779319" cy="56515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800" b="1">
                <a:solidFill>
                  <a:schemeClr val="tx1"/>
                </a:solidFill>
                <a:ea typeface="+mn-lt"/>
                <a:cs typeface="+mn-lt"/>
              </a:rPr>
              <a:t>2.2 </a:t>
            </a:r>
            <a:r>
              <a:rPr lang="zh-CN" sz="2800" b="1">
                <a:solidFill>
                  <a:schemeClr val="tx1"/>
                </a:solidFill>
                <a:ea typeface="+mn-lt"/>
                <a:cs typeface="+mn-lt"/>
              </a:rPr>
              <a:t>额外拓展</a:t>
            </a:r>
            <a:endParaRPr lang="zh-CN" sz="2800" b="1">
              <a:solidFill>
                <a:schemeClr val="tx1"/>
              </a:solidFill>
              <a:ea typeface="+mn-lt"/>
              <a:cs typeface="+mn-lt"/>
            </a:endParaRPr>
          </a:p>
        </p:txBody>
      </p:sp>
      <p:sp>
        <p:nvSpPr>
          <p:cNvPr id="239967577" name="文本框 1"/>
          <p:cNvSpPr txBox="1"/>
          <p:nvPr/>
        </p:nvSpPr>
        <p:spPr bwMode="auto">
          <a:xfrm>
            <a:off x="2737485" y="1062758"/>
            <a:ext cx="792007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7000" y="4839335"/>
            <a:ext cx="2195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+mn-lt"/>
                <a:cs typeface="+mn-lt"/>
              </a:rPr>
              <a:t>AI</a:t>
            </a:r>
            <a:r>
              <a:rPr lang="zh-CN" altLang="en-US" sz="2400">
                <a:solidFill>
                  <a:schemeClr val="bg1"/>
                </a:solidFill>
                <a:ea typeface="+mn-lt"/>
                <a:cs typeface="+mn-lt"/>
              </a:rPr>
              <a:t>的使用</a:t>
            </a:r>
            <a:endParaRPr lang="zh-CN" altLang="en-US" sz="2400">
              <a:solidFill>
                <a:schemeClr val="bg1"/>
              </a:solidFill>
              <a:ea typeface="+mn-lt"/>
              <a:cs typeface="+mn-lt"/>
            </a:endParaRPr>
          </a:p>
        </p:txBody>
      </p:sp>
      <p:graphicFrame>
        <p:nvGraphicFramePr>
          <p:cNvPr id="205774833" name="表格 3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2737485" y="1026795"/>
          <a:ext cx="8823960" cy="5173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0850"/>
                <a:gridCol w="2533650"/>
                <a:gridCol w="4569460"/>
              </a:tblGrid>
              <a:tr h="49149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zh-CN" sz="2000"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创新功能</a:t>
                      </a:r>
                      <a:endParaRPr lang="zh-CN" sz="2000">
                        <a:latin typeface="Arial" panose="020B0604020202020204"/>
                        <a:ea typeface="宋体" panose="02010600030101010101" pitchFamily="2" charset="-122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zh-CN" sz="20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完成情况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zh-CN" sz="20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说明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/>
                </a:tc>
              </a:tr>
              <a:tr h="1407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600" b="1">
                          <a:latin typeface="Arial" panose="020B0604020202020204"/>
                          <a:cs typeface="Arial" panose="020B0604020202020204"/>
                        </a:rPr>
                        <a:t>外部电源保护模式下的性能优化</a:t>
                      </a:r>
                      <a:endParaRPr lang="zh-CN" altLang="en-US" sz="1600" b="1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/>
                      </a:pP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     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defRPr/>
                      </a:pP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  </a:t>
                      </a:r>
                      <a:r>
                        <a:rPr lang="en-US" sz="1600">
                          <a:ea typeface="+mn-lt"/>
                          <a:cs typeface="+mn-lt"/>
                        </a:rPr>
                        <a:t> </a:t>
                      </a:r>
                      <a:r>
                        <a:rPr lang="zh-CN" altLang="en-US" sz="1600">
                          <a:ea typeface="+mn-lt"/>
                          <a:cs typeface="+mn-lt"/>
                        </a:rPr>
                        <a:t>全部</a:t>
                      </a:r>
                      <a:r>
                        <a:rPr lang="zh-CN" sz="1600">
                          <a:ea typeface="+mn-lt"/>
                          <a:cs typeface="+mn-lt"/>
                        </a:rPr>
                        <a:t>完成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（</a:t>
                      </a:r>
                      <a:r>
                        <a:rPr lang="en-US" alt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100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%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）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600">
                          <a:ea typeface="+mn-lt"/>
                          <a:cs typeface="+mn-lt"/>
                        </a:rPr>
                        <a:t>面向现代计算设备较常见的稳定供电、备用电源与受控关机场景，利用外部供电保障延后日志和元数据写回，减少高频</a:t>
                      </a:r>
                      <a:r>
                        <a:rPr lang="en-US" altLang="zh-CN" sz="1600">
                          <a:ea typeface="+mn-lt"/>
                          <a:cs typeface="+mn-lt"/>
                        </a:rPr>
                        <a:t>fsync</a:t>
                      </a:r>
                      <a:r>
                        <a:rPr lang="zh-CN" altLang="en-US" sz="1600">
                          <a:ea typeface="+mn-lt"/>
                          <a:cs typeface="+mn-lt"/>
                        </a:rPr>
                        <a:t>的重复 </a:t>
                      </a:r>
                      <a:r>
                        <a:rPr lang="en-US" altLang="zh-CN" sz="1600">
                          <a:ea typeface="+mn-lt"/>
                          <a:cs typeface="+mn-lt"/>
                        </a:rPr>
                        <a:t>I/O，</a:t>
                      </a:r>
                      <a:r>
                        <a:rPr lang="zh-CN" altLang="en-US" sz="1600">
                          <a:ea typeface="+mn-lt"/>
                          <a:cs typeface="+mn-lt"/>
                        </a:rPr>
                        <a:t>性能提升</a:t>
                      </a:r>
                      <a:r>
                        <a:rPr lang="zh-CN" altLang="en-US" sz="1600" b="1">
                          <a:ea typeface="+mn-lt"/>
                          <a:cs typeface="+mn-lt"/>
                        </a:rPr>
                        <a:t>80.59%–154.81%</a:t>
                      </a:r>
                      <a:r>
                        <a:rPr lang="zh-CN" altLang="en-US" sz="1600">
                          <a:ea typeface="+mn-lt"/>
                          <a:cs typeface="+mn-lt"/>
                        </a:rPr>
                        <a:t>。</a:t>
                      </a:r>
                      <a:endParaRPr lang="zh-CN" altLang="en-US" sz="1600">
                        <a:ea typeface="+mn-lt"/>
                        <a:cs typeface="+mn-lt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0953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600" b="1">
                          <a:latin typeface="Arial" panose="020B0604020202020204"/>
                          <a:cs typeface="Arial" panose="020B0604020202020204"/>
                        </a:rPr>
                        <a:t>崩溃恢复验证测试</a:t>
                      </a:r>
                      <a:endParaRPr lang="zh-CN" altLang="en-US" sz="1600" b="1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</a:t>
                      </a:r>
                      <a:r>
                        <a:rPr lang="zh-CN" sz="1600">
                          <a:ea typeface="+mn-lt"/>
                          <a:cs typeface="Arial" panose="020B0604020202020204"/>
                        </a:rPr>
                        <a:t>全部完成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（</a:t>
                      </a:r>
                      <a:r>
                        <a:rPr lang="en-US" alt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100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%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）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600">
                          <a:ea typeface="+mn-lt"/>
                          <a:cs typeface="+mn-lt"/>
                        </a:rPr>
                        <a:t>建立逐</a:t>
                      </a:r>
                      <a:r>
                        <a:rPr lang="en-US" altLang="zh-CN" sz="1600">
                          <a:ea typeface="+mn-lt"/>
                          <a:cs typeface="+mn-lt"/>
                        </a:rPr>
                        <a:t>FLUSH</a:t>
                      </a:r>
                      <a:r>
                        <a:rPr lang="zh-CN" altLang="en-US" sz="1600">
                          <a:ea typeface="+mn-lt"/>
                          <a:cs typeface="+mn-lt"/>
                        </a:rPr>
                        <a:t>断电矩阵，以及</a:t>
                      </a:r>
                      <a:r>
                        <a:rPr lang="zh-CN" altLang="en-US" sz="1600">
                          <a:ea typeface="+mn-lt"/>
                          <a:cs typeface="+mn-lt"/>
                          <a:sym typeface="+mn-ea"/>
                        </a:rPr>
                        <a:t>日志空间紧张、</a:t>
                      </a:r>
                      <a:r>
                        <a:rPr lang="en-US" altLang="zh-CN" sz="1600">
                          <a:ea typeface="+mn-lt"/>
                          <a:cs typeface="+mn-lt"/>
                          <a:sym typeface="+mn-ea"/>
                        </a:rPr>
                        <a:t>checkpoint</a:t>
                      </a:r>
                      <a:r>
                        <a:rPr lang="zh-CN" altLang="en-US" sz="1600">
                          <a:ea typeface="+mn-lt"/>
                          <a:cs typeface="+mn-lt"/>
                          <a:sym typeface="+mn-ea"/>
                        </a:rPr>
                        <a:t>频繁的压力场景下的崩溃恢复测试。</a:t>
                      </a:r>
                      <a:endParaRPr lang="zh-CN" altLang="en-US" sz="1600">
                        <a:ea typeface="+mn-lt"/>
                        <a:cs typeface="+mn-lt"/>
                      </a:endParaRPr>
                    </a:p>
                  </a:txBody>
                  <a:tcPr/>
                </a:tc>
              </a:tr>
              <a:tr h="1123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600" b="1">
                          <a:latin typeface="Arial" panose="020B0604020202020204"/>
                          <a:cs typeface="Arial" panose="020B0604020202020204"/>
                        </a:rPr>
                        <a:t>Linux</a:t>
                      </a:r>
                      <a:r>
                        <a:rPr lang="zh-CN" altLang="en-US" sz="1600" b="1">
                          <a:latin typeface="Arial" panose="020B0604020202020204"/>
                          <a:cs typeface="Arial" panose="020B0604020202020204"/>
                        </a:rPr>
                        <a:t>双向磁盘互操作</a:t>
                      </a:r>
                      <a:endParaRPr lang="zh-CN" altLang="en-US" sz="1600" b="1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0" marR="0" lvl="0" indent="0" algn="ctr" defTabSz="914400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</a:t>
                      </a:r>
                      <a:r>
                        <a:rPr lang="zh-CN" sz="1600">
                          <a:ea typeface="+mn-lt"/>
                          <a:cs typeface="Arial" panose="020B0604020202020204"/>
                        </a:rPr>
                        <a:t>全部完成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（</a:t>
                      </a:r>
                      <a:r>
                        <a:rPr lang="en-US" alt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100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%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）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600">
                          <a:ea typeface="+mn-lt"/>
                          <a:cs typeface="+mn-lt"/>
                        </a:rPr>
                        <a:t>Linux</a:t>
                      </a:r>
                      <a:r>
                        <a:rPr lang="zh-CN" altLang="en-US" sz="1600">
                          <a:ea typeface="+mn-lt"/>
                          <a:cs typeface="+mn-lt"/>
                        </a:rPr>
                        <a:t>创建的</a:t>
                      </a:r>
                      <a:r>
                        <a:rPr lang="en-US" altLang="zh-CN" sz="1600">
                          <a:ea typeface="+mn-lt"/>
                          <a:cs typeface="+mn-lt"/>
                        </a:rPr>
                        <a:t>EXT4</a:t>
                      </a:r>
                      <a:r>
                        <a:rPr lang="zh-CN" altLang="en-US" sz="1600">
                          <a:ea typeface="+mn-lt"/>
                          <a:cs typeface="+mn-lt"/>
                        </a:rPr>
                        <a:t>镜像可由</a:t>
                      </a:r>
                      <a:r>
                        <a:rPr lang="en-US" altLang="zh-CN" sz="1600">
                          <a:ea typeface="+mn-lt"/>
                          <a:cs typeface="+mn-lt"/>
                        </a:rPr>
                        <a:t>Asterinas</a:t>
                      </a:r>
                      <a:r>
                        <a:rPr lang="zh-CN" altLang="en-US" sz="1600">
                          <a:ea typeface="+mn-lt"/>
                          <a:cs typeface="+mn-lt"/>
                        </a:rPr>
                        <a:t>继续读写，</a:t>
                      </a:r>
                      <a:r>
                        <a:rPr lang="en-US" altLang="zh-CN" sz="1600">
                          <a:ea typeface="+mn-lt"/>
                          <a:cs typeface="+mn-lt"/>
                        </a:rPr>
                        <a:t>Asterinas</a:t>
                      </a:r>
                      <a:r>
                        <a:rPr lang="zh-CN" altLang="en-US" sz="1600">
                          <a:ea typeface="+mn-lt"/>
                          <a:cs typeface="+mn-lt"/>
                        </a:rPr>
                        <a:t>修改后的镜像也可由</a:t>
                      </a:r>
                      <a:r>
                        <a:rPr lang="en-US" altLang="zh-CN" sz="1600">
                          <a:ea typeface="+mn-lt"/>
                          <a:cs typeface="+mn-lt"/>
                        </a:rPr>
                        <a:t>Linux</a:t>
                      </a:r>
                      <a:r>
                        <a:rPr lang="zh-CN" altLang="en-US" sz="1600">
                          <a:ea typeface="+mn-lt"/>
                          <a:cs typeface="+mn-lt"/>
                        </a:rPr>
                        <a:t>挂载并通过一致性检查。</a:t>
                      </a:r>
                      <a:endParaRPr lang="zh-CN" altLang="en-US" sz="1600">
                        <a:ea typeface="+mn-lt"/>
                        <a:cs typeface="+mn-lt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10553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600" b="1">
                          <a:latin typeface="Arial" panose="020B0604020202020204"/>
                          <a:cs typeface="Arial" panose="020B0604020202020204"/>
                        </a:rPr>
                        <a:t>高级接口与真实应用拓展</a:t>
                      </a:r>
                      <a:endParaRPr lang="zh-CN" altLang="en-US" sz="1600" b="1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</a:t>
                      </a:r>
                      <a:r>
                        <a:rPr lang="zh-CN" sz="1600">
                          <a:ea typeface="+mn-lt"/>
                          <a:cs typeface="Arial" panose="020B0604020202020204"/>
                        </a:rPr>
                        <a:t>全部完成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（</a:t>
                      </a:r>
                      <a:r>
                        <a:rPr lang="en-US" alt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100</a:t>
                      </a:r>
                      <a:r>
                        <a:rPr lang="en-US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%</a:t>
                      </a:r>
                      <a:r>
                        <a:rPr lang="zh-CN" sz="1600"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）</a:t>
                      </a:r>
                      <a:endParaRPr sz="16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600" b="0">
                          <a:ea typeface="+mn-lt"/>
                          <a:cs typeface="+mn-lt"/>
                        </a:rPr>
                        <a:t>在</a:t>
                      </a:r>
                      <a:r>
                        <a:rPr lang="en-US" altLang="zh-CN" sz="1600" b="0">
                          <a:ea typeface="+mn-lt"/>
                          <a:cs typeface="+mn-lt"/>
                        </a:rPr>
                        <a:t>POSIX</a:t>
                      </a:r>
                      <a:r>
                        <a:rPr lang="zh-CN" altLang="en-US" sz="1600" b="0">
                          <a:ea typeface="+mn-lt"/>
                          <a:cs typeface="+mn-lt"/>
                        </a:rPr>
                        <a:t>读写之外，支持</a:t>
                      </a:r>
                      <a:r>
                        <a:rPr lang="en-US" altLang="zh-CN" sz="1600" b="0">
                          <a:ea typeface="+mn-lt"/>
                          <a:cs typeface="+mn-lt"/>
                        </a:rPr>
                        <a:t>fallocate、O_DIRECT、fsync/fdatasync、</a:t>
                      </a:r>
                      <a:r>
                        <a:rPr lang="zh-CN" altLang="en-US" sz="1600" b="0">
                          <a:ea typeface="+mn-lt"/>
                          <a:cs typeface="+mn-lt"/>
                        </a:rPr>
                        <a:t>基础</a:t>
                      </a:r>
                      <a:r>
                        <a:rPr lang="en-US" altLang="zh-CN" sz="1600" b="0">
                          <a:ea typeface="+mn-lt"/>
                          <a:cs typeface="+mn-lt"/>
                        </a:rPr>
                        <a:t>mmap</a:t>
                      </a:r>
                      <a:r>
                        <a:rPr lang="zh-CN" altLang="en-US" sz="1600" b="0">
                          <a:ea typeface="+mn-lt"/>
                          <a:cs typeface="+mn-lt"/>
                        </a:rPr>
                        <a:t>及</a:t>
                      </a:r>
                      <a:r>
                        <a:rPr lang="en-US" altLang="zh-CN" sz="1600" b="0">
                          <a:ea typeface="+mn-lt"/>
                          <a:cs typeface="+mn-lt"/>
                        </a:rPr>
                        <a:t>SQLite</a:t>
                      </a:r>
                      <a:r>
                        <a:rPr lang="zh-CN" altLang="en-US" sz="1600" b="0">
                          <a:ea typeface="+mn-lt"/>
                          <a:cs typeface="+mn-lt"/>
                        </a:rPr>
                        <a:t>真实负载，覆盖缓存、直接</a:t>
                      </a:r>
                      <a:r>
                        <a:rPr lang="en-US" altLang="zh-CN" sz="1600" b="0">
                          <a:ea typeface="+mn-lt"/>
                          <a:cs typeface="+mn-lt"/>
                        </a:rPr>
                        <a:t>I/O</a:t>
                      </a:r>
                      <a:r>
                        <a:rPr lang="zh-CN" altLang="en-US" sz="1600" b="0">
                          <a:ea typeface="+mn-lt"/>
                          <a:cs typeface="+mn-lt"/>
                        </a:rPr>
                        <a:t>与数据库持久化路径。</a:t>
                      </a:r>
                      <a:endParaRPr lang="zh-CN" altLang="en-US" sz="1600" b="0">
                        <a:ea typeface="+mn-lt"/>
                        <a:cs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7763" name="矩形 11"/>
          <p:cNvSpPr/>
          <p:nvPr/>
        </p:nvSpPr>
        <p:spPr bwMode="auto">
          <a:xfrm>
            <a:off x="-1524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592301375" name="文本框 7"/>
          <p:cNvSpPr txBox="1"/>
          <p:nvPr/>
        </p:nvSpPr>
        <p:spPr bwMode="auto">
          <a:xfrm>
            <a:off x="86359" y="1388370"/>
            <a:ext cx="2337157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443147360" name="组合 19"/>
          <p:cNvGrpSpPr/>
          <p:nvPr/>
        </p:nvGrpSpPr>
        <p:grpSpPr bwMode="auto">
          <a:xfrm>
            <a:off x="0" y="3062808"/>
            <a:ext cx="2737501" cy="761997"/>
            <a:chOff x="0" y="772157"/>
            <a:chExt cx="2737501" cy="761997"/>
          </a:xfrm>
        </p:grpSpPr>
        <p:sp>
          <p:nvSpPr>
            <p:cNvPr id="1732252265" name="矩形 14"/>
            <p:cNvSpPr/>
            <p:nvPr/>
          </p:nvSpPr>
          <p:spPr bwMode="auto">
            <a:xfrm>
              <a:off x="0" y="772157"/>
              <a:ext cx="2509520" cy="76199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934851169" name="等腰三角形 16"/>
            <p:cNvSpPr/>
            <p:nvPr/>
          </p:nvSpPr>
          <p:spPr bwMode="auto">
            <a:xfrm rot="5400000">
              <a:off x="2491281" y="1039167"/>
              <a:ext cx="264460" cy="227982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985448973" name="文本框 9"/>
          <p:cNvSpPr txBox="1"/>
          <p:nvPr/>
        </p:nvSpPr>
        <p:spPr bwMode="auto">
          <a:xfrm>
            <a:off x="85724" y="3199937"/>
            <a:ext cx="2337157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77294970" name="文本框 10"/>
          <p:cNvSpPr txBox="1"/>
          <p:nvPr/>
        </p:nvSpPr>
        <p:spPr bwMode="auto">
          <a:xfrm>
            <a:off x="86359" y="4061588"/>
            <a:ext cx="2337157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254241012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57" y="5943600"/>
            <a:ext cx="914400" cy="914400"/>
          </a:xfrm>
          <a:prstGeom prst="rect">
            <a:avLst/>
          </a:prstGeom>
        </p:spPr>
      </p:pic>
      <p:pic>
        <p:nvPicPr>
          <p:cNvPr id="1467683723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6" y="311328"/>
            <a:ext cx="2256183" cy="414146"/>
          </a:xfrm>
          <a:prstGeom prst="rect">
            <a:avLst/>
          </a:prstGeom>
        </p:spPr>
      </p:pic>
      <p:sp>
        <p:nvSpPr>
          <p:cNvPr id="1921854245" name="文本框 29"/>
          <p:cNvSpPr txBox="1"/>
          <p:nvPr/>
        </p:nvSpPr>
        <p:spPr bwMode="auto">
          <a:xfrm>
            <a:off x="86054" y="5560146"/>
            <a:ext cx="2337157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24594420" name="文本框 8"/>
          <p:cNvSpPr txBox="1"/>
          <p:nvPr/>
        </p:nvSpPr>
        <p:spPr bwMode="auto">
          <a:xfrm>
            <a:off x="86359" y="2325586"/>
            <a:ext cx="2337157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7000" y="4839335"/>
            <a:ext cx="2195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+mn-lt"/>
                <a:cs typeface="+mn-lt"/>
              </a:rPr>
              <a:t>AI</a:t>
            </a:r>
            <a:r>
              <a:rPr lang="zh-CN" altLang="en-US" sz="2400">
                <a:solidFill>
                  <a:schemeClr val="bg1"/>
                </a:solidFill>
                <a:ea typeface="+mn-lt"/>
                <a:cs typeface="+mn-lt"/>
              </a:rPr>
              <a:t>的使用</a:t>
            </a:r>
            <a:endParaRPr lang="zh-CN" altLang="en-US" sz="240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1934851170" name="TextBox 1934851169"/>
          <p:cNvSpPr txBox="1"/>
          <p:nvPr/>
        </p:nvSpPr>
        <p:spPr>
          <a:xfrm>
            <a:off x="2743200" y="352171"/>
            <a:ext cx="8778240" cy="466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1F1F"/>
                </a:solidFill>
                <a:ea typeface="+mn-lt"/>
                <a:cs typeface="+mn-lt"/>
              </a:rPr>
              <a:t>3.1 </a:t>
            </a:r>
            <a:r>
              <a:rPr sz="2800" b="1">
                <a:solidFill>
                  <a:srgbClr val="1F1F1F"/>
                </a:solidFill>
                <a:ea typeface="+mn-lt"/>
                <a:cs typeface="+mn-lt"/>
              </a:rPr>
              <a:t>系统总体架构</a:t>
            </a:r>
            <a:endParaRPr sz="2800" b="1">
              <a:solidFill>
                <a:srgbClr val="1F1F1F"/>
              </a:solidFill>
              <a:ea typeface="+mn-lt"/>
              <a:cs typeface="+mn-lt"/>
            </a:endParaRPr>
          </a:p>
        </p:txBody>
      </p:sp>
      <p:pic>
        <p:nvPicPr>
          <p:cNvPr id="1934851171" name="Picture 1934851170" descr="系统总体架构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960120"/>
            <a:ext cx="3739718" cy="5285232"/>
          </a:xfrm>
          <a:prstGeom prst="rect">
            <a:avLst/>
          </a:prstGeom>
        </p:spPr>
      </p:pic>
      <p:sp>
        <p:nvSpPr>
          <p:cNvPr id="1934851172" name="Rounded Rectangle 1934851171"/>
          <p:cNvSpPr/>
          <p:nvPr/>
        </p:nvSpPr>
        <p:spPr>
          <a:xfrm>
            <a:off x="6903720" y="1060704"/>
            <a:ext cx="4407408" cy="1051560"/>
          </a:xfrm>
          <a:prstGeom prst="roundRect">
            <a:avLst/>
          </a:prstGeom>
          <a:solidFill>
            <a:srgbClr val="FDEEE5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34851173" name="Rounded Rectangle 1934851172"/>
          <p:cNvSpPr/>
          <p:nvPr/>
        </p:nvSpPr>
        <p:spPr>
          <a:xfrm>
            <a:off x="7068312" y="1188719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ED7D31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等线" panose="02010600030101010101" charset="-122"/>
              </a:rPr>
              <a:t>01 崩溃一致性</a:t>
            </a:r>
            <a:endParaRPr sz="1000" b="1">
              <a:solidFill>
                <a:srgbClr val="FFFFFF"/>
              </a:solidFill>
              <a:latin typeface="等线" panose="02010600030101010101" charset="-122"/>
            </a:endParaRPr>
          </a:p>
        </p:txBody>
      </p:sp>
      <p:sp>
        <p:nvSpPr>
          <p:cNvPr id="1934851174" name="TextBox 1934851173"/>
          <p:cNvSpPr txBox="1"/>
          <p:nvPr/>
        </p:nvSpPr>
        <p:spPr>
          <a:xfrm>
            <a:off x="8595360" y="1202590"/>
            <a:ext cx="2487168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44546A"/>
                </a:solidFill>
                <a:latin typeface="等线" panose="02010600030101010101" charset="-122"/>
              </a:rPr>
              <a:t>JBD2事务与恢复</a:t>
            </a:r>
            <a:endParaRPr sz="1600" b="1" dirty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1934851175" name="TextBox 1934851174"/>
          <p:cNvSpPr txBox="1"/>
          <p:nvPr/>
        </p:nvSpPr>
        <p:spPr>
          <a:xfrm>
            <a:off x="7068312" y="1653992"/>
            <a:ext cx="4005072" cy="2215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44546A"/>
                </a:solidFill>
                <a:latin typeface="等线" panose="02010600030101010101" charset="-122"/>
              </a:rPr>
              <a:t>Handle · Commit · Checkpoint · Recovery</a:t>
            </a:r>
            <a:endParaRPr sz="1200" b="0" dirty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1934851176" name="Rounded Rectangle 1934851175"/>
          <p:cNvSpPr/>
          <p:nvPr/>
        </p:nvSpPr>
        <p:spPr>
          <a:xfrm>
            <a:off x="6903720" y="2368296"/>
            <a:ext cx="4407408" cy="1051560"/>
          </a:xfrm>
          <a:prstGeom prst="roundRect">
            <a:avLst/>
          </a:prstGeom>
          <a:solidFill>
            <a:srgbClr val="EBF4E5"/>
          </a:solidFill>
          <a:ln w="1397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34851177" name="Rounded Rectangle 1934851176"/>
          <p:cNvSpPr/>
          <p:nvPr/>
        </p:nvSpPr>
        <p:spPr>
          <a:xfrm>
            <a:off x="7068312" y="2496312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70AD47"/>
          </a:solidFill>
          <a:ln w="1397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等线" panose="02010600030101010101" charset="-122"/>
              </a:rPr>
              <a:t>02 并发一致性</a:t>
            </a:r>
            <a:endParaRPr sz="1000" b="1">
              <a:solidFill>
                <a:srgbClr val="FFFFFF"/>
              </a:solidFill>
              <a:latin typeface="等线" panose="02010600030101010101" charset="-122"/>
            </a:endParaRPr>
          </a:p>
        </p:txBody>
      </p:sp>
      <p:sp>
        <p:nvSpPr>
          <p:cNvPr id="1934851178" name="TextBox 1934851177"/>
          <p:cNvSpPr txBox="1"/>
          <p:nvPr/>
        </p:nvSpPr>
        <p:spPr>
          <a:xfrm>
            <a:off x="8595360" y="2523362"/>
            <a:ext cx="2487168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44546A"/>
                </a:solidFill>
                <a:latin typeface="等线" panose="02010600030101010101" charset="-122"/>
              </a:rPr>
              <a:t>锁与事务协同</a:t>
            </a:r>
            <a:endParaRPr sz="1600" b="1" dirty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1934851179" name="TextBox 1934851178"/>
          <p:cNvSpPr txBox="1"/>
          <p:nvPr/>
        </p:nvSpPr>
        <p:spPr>
          <a:xfrm>
            <a:off x="7068312" y="2961583"/>
            <a:ext cx="4005072" cy="2215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44546A"/>
                </a:solidFill>
                <a:latin typeface="等线" panose="02010600030101010101" charset="-122"/>
              </a:rPr>
              <a:t>inode</a:t>
            </a:r>
            <a:r>
              <a:rPr sz="1200" b="0" dirty="0">
                <a:solidFill>
                  <a:srgbClr val="44546A"/>
                </a:solidFill>
                <a:latin typeface="等线" panose="02010600030101010101" charset="-122"/>
              </a:rPr>
              <a:t> · Extent · Namespace · Journal</a:t>
            </a:r>
            <a:endParaRPr sz="1200" b="0" dirty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1934851180" name="Rounded Rectangle 1934851179"/>
          <p:cNvSpPr/>
          <p:nvPr/>
        </p:nvSpPr>
        <p:spPr>
          <a:xfrm>
            <a:off x="6903720" y="3675887"/>
            <a:ext cx="4407408" cy="1051560"/>
          </a:xfrm>
          <a:prstGeom prst="roundRect">
            <a:avLst/>
          </a:prstGeom>
          <a:solidFill>
            <a:srgbClr val="E9F0FA"/>
          </a:solidFill>
          <a:ln w="1397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34851181" name="Rounded Rectangle 1934851180"/>
          <p:cNvSpPr/>
          <p:nvPr/>
        </p:nvSpPr>
        <p:spPr>
          <a:xfrm>
            <a:off x="7068312" y="3803903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4472C4"/>
          </a:solidFill>
          <a:ln w="1397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等线" panose="02010600030101010101" charset="-122"/>
              </a:rPr>
              <a:t>03 缓存一致性</a:t>
            </a:r>
            <a:endParaRPr sz="1000" b="1">
              <a:solidFill>
                <a:srgbClr val="FFFFFF"/>
              </a:solidFill>
              <a:latin typeface="等线" panose="02010600030101010101" charset="-122"/>
            </a:endParaRPr>
          </a:p>
        </p:txBody>
      </p:sp>
      <p:sp>
        <p:nvSpPr>
          <p:cNvPr id="1934851182" name="TextBox 1934851181"/>
          <p:cNvSpPr txBox="1"/>
          <p:nvPr/>
        </p:nvSpPr>
        <p:spPr>
          <a:xfrm>
            <a:off x="8595360" y="3826142"/>
            <a:ext cx="2487168" cy="28315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44546A"/>
                </a:solidFill>
                <a:latin typeface="等线" panose="02010600030101010101" charset="-122"/>
              </a:rPr>
              <a:t>多条I</a:t>
            </a:r>
            <a:r>
              <a:rPr sz="1600" b="1" dirty="0">
                <a:solidFill>
                  <a:srgbClr val="44546A"/>
                </a:solidFill>
                <a:latin typeface="等线" panose="02010600030101010101" charset="-122"/>
              </a:rPr>
              <a:t>/</a:t>
            </a:r>
            <a:r>
              <a:rPr sz="1600" b="1" dirty="0" err="1">
                <a:solidFill>
                  <a:srgbClr val="44546A"/>
                </a:solidFill>
                <a:latin typeface="等线" panose="02010600030101010101" charset="-122"/>
              </a:rPr>
              <a:t>O路径协同</a:t>
            </a:r>
            <a:endParaRPr sz="1600" b="1" dirty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1934851183" name="TextBox 1934851182"/>
          <p:cNvSpPr txBox="1"/>
          <p:nvPr/>
        </p:nvSpPr>
        <p:spPr>
          <a:xfrm>
            <a:off x="7068312" y="4269176"/>
            <a:ext cx="4005072" cy="22159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 err="1">
                <a:solidFill>
                  <a:srgbClr val="44546A"/>
                </a:solidFill>
                <a:latin typeface="等线" panose="02010600030101010101" charset="-122"/>
              </a:rPr>
              <a:t>PageCache</a:t>
            </a:r>
            <a:r>
              <a:rPr sz="1200" b="0" dirty="0">
                <a:solidFill>
                  <a:srgbClr val="44546A"/>
                </a:solidFill>
                <a:latin typeface="等线" panose="02010600030101010101" charset="-122"/>
              </a:rPr>
              <a:t> · </a:t>
            </a:r>
            <a:r>
              <a:rPr sz="1200" b="0" dirty="0" err="1">
                <a:solidFill>
                  <a:srgbClr val="44546A"/>
                </a:solidFill>
                <a:latin typeface="等线" panose="02010600030101010101" charset="-122"/>
              </a:rPr>
              <a:t>mmap</a:t>
            </a:r>
            <a:r>
              <a:rPr sz="1200" b="0" dirty="0">
                <a:solidFill>
                  <a:srgbClr val="44546A"/>
                </a:solidFill>
                <a:latin typeface="等线" panose="02010600030101010101" charset="-122"/>
              </a:rPr>
              <a:t> · O_DIRECT · </a:t>
            </a:r>
            <a:r>
              <a:rPr sz="1200" b="0" dirty="0" err="1">
                <a:solidFill>
                  <a:srgbClr val="44546A"/>
                </a:solidFill>
                <a:latin typeface="等线" panose="02010600030101010101" charset="-122"/>
              </a:rPr>
              <a:t>EsCache</a:t>
            </a:r>
            <a:endParaRPr sz="1200" b="0" dirty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1934851184" name="Rounded Rectangle 1934851183"/>
          <p:cNvSpPr/>
          <p:nvPr/>
        </p:nvSpPr>
        <p:spPr>
          <a:xfrm>
            <a:off x="6903720" y="5299710"/>
            <a:ext cx="4407408" cy="859536"/>
          </a:xfrm>
          <a:prstGeom prst="roundRect">
            <a:avLst/>
          </a:prstGeom>
          <a:solidFill>
            <a:srgbClr val="F5F7FA"/>
          </a:solidFill>
          <a:ln w="13970">
            <a:solidFill>
              <a:srgbClr val="CF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44546A"/>
                </a:solidFill>
                <a:latin typeface="等线" panose="02010600030101010101" charset="-122"/>
              </a:rPr>
              <a:t>原生EXT4通过统一的Extent映射、JBD2事务与分层缓存，连接VFS语义和块设备持久化。</a:t>
            </a:r>
            <a:endParaRPr sz="1400" b="1" dirty="0">
              <a:solidFill>
                <a:srgbClr val="44546A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141915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444383742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88807363" name="文本框 10"/>
          <p:cNvSpPr txBox="1"/>
          <p:nvPr/>
        </p:nvSpPr>
        <p:spPr bwMode="auto">
          <a:xfrm>
            <a:off x="86359" y="4061588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42671947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59" y="5943600"/>
            <a:ext cx="914400" cy="914400"/>
          </a:xfrm>
          <a:prstGeom prst="rect">
            <a:avLst/>
          </a:prstGeom>
        </p:spPr>
      </p:pic>
      <p:pic>
        <p:nvPicPr>
          <p:cNvPr id="2011816943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7" y="311328"/>
            <a:ext cx="2256183" cy="414148"/>
          </a:xfrm>
          <a:prstGeom prst="rect">
            <a:avLst/>
          </a:prstGeom>
        </p:spPr>
      </p:pic>
      <p:sp>
        <p:nvSpPr>
          <p:cNvPr id="243396252" name="文本框 29"/>
          <p:cNvSpPr txBox="1"/>
          <p:nvPr/>
        </p:nvSpPr>
        <p:spPr bwMode="auto">
          <a:xfrm>
            <a:off x="86054" y="556014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50316645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94136190" name="组合 19"/>
          <p:cNvGrpSpPr/>
          <p:nvPr/>
        </p:nvGrpSpPr>
        <p:grpSpPr bwMode="auto">
          <a:xfrm>
            <a:off x="0" y="3110994"/>
            <a:ext cx="2737504" cy="761999"/>
            <a:chOff x="0" y="772159"/>
            <a:chExt cx="2737504" cy="761999"/>
          </a:xfrm>
        </p:grpSpPr>
        <p:sp>
          <p:nvSpPr>
            <p:cNvPr id="1862428904" name="矩形 14"/>
            <p:cNvSpPr/>
            <p:nvPr/>
          </p:nvSpPr>
          <p:spPr bwMode="auto">
            <a:xfrm>
              <a:off x="0" y="772159"/>
              <a:ext cx="2509520" cy="76199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18160985" name="等腰三角形 16"/>
            <p:cNvSpPr/>
            <p:nvPr/>
          </p:nvSpPr>
          <p:spPr bwMode="auto">
            <a:xfrm rot="5400000">
              <a:off x="2491281" y="1039167"/>
              <a:ext cx="264462" cy="227984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740593101" name="文本框 9"/>
          <p:cNvSpPr txBox="1"/>
          <p:nvPr/>
        </p:nvSpPr>
        <p:spPr bwMode="auto">
          <a:xfrm>
            <a:off x="85724" y="3199937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7000" y="4839335"/>
            <a:ext cx="2195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+mn-lt"/>
                <a:cs typeface="+mn-lt"/>
              </a:rPr>
              <a:t>AI</a:t>
            </a:r>
            <a:r>
              <a:rPr lang="zh-CN" altLang="en-US" sz="2400">
                <a:solidFill>
                  <a:schemeClr val="bg1"/>
                </a:solidFill>
                <a:ea typeface="+mn-lt"/>
                <a:cs typeface="+mn-lt"/>
              </a:rPr>
              <a:t>的使用</a:t>
            </a:r>
            <a:endParaRPr lang="zh-CN" altLang="en-US" sz="240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2011816944" name="TextBox 2011816943"/>
          <p:cNvSpPr txBox="1"/>
          <p:nvPr/>
        </p:nvSpPr>
        <p:spPr>
          <a:xfrm>
            <a:off x="2743200" y="352171"/>
            <a:ext cx="8778240" cy="466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1F1F"/>
                </a:solidFill>
                <a:ea typeface="+mn-lt"/>
                <a:cs typeface="+mn-lt"/>
              </a:rPr>
              <a:t>3.2 文件读写与Extent管理</a:t>
            </a:r>
            <a:endParaRPr sz="2800" b="1">
              <a:solidFill>
                <a:srgbClr val="1F1F1F"/>
              </a:solidFill>
              <a:ea typeface="+mn-lt"/>
              <a:cs typeface="+mn-lt"/>
            </a:endParaRPr>
          </a:p>
        </p:txBody>
      </p:sp>
      <p:sp>
        <p:nvSpPr>
          <p:cNvPr id="2011816945" name="TextBox 2011816944"/>
          <p:cNvSpPr txBox="1"/>
          <p:nvPr/>
        </p:nvSpPr>
        <p:spPr>
          <a:xfrm>
            <a:off x="2816352" y="941832"/>
            <a:ext cx="4617720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44546A"/>
                </a:solidFill>
                <a:latin typeface="等线" panose="02010600030101010101" charset="-122"/>
              </a:rPr>
              <a:t>三条访问路径汇合到同一个ExtentManager</a:t>
            </a:r>
            <a:endParaRPr b="1" dirty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011816946" name="Rounded Rectangle 2011816945"/>
          <p:cNvSpPr/>
          <p:nvPr/>
        </p:nvSpPr>
        <p:spPr>
          <a:xfrm>
            <a:off x="3005922" y="1502069"/>
            <a:ext cx="1325880" cy="621792"/>
          </a:xfrm>
          <a:prstGeom prst="roundRect">
            <a:avLst/>
          </a:prstGeom>
          <a:solidFill>
            <a:srgbClr val="E9F0FA"/>
          </a:solidFill>
          <a:ln w="1397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4546A"/>
                </a:solidFill>
                <a:latin typeface="等线" panose="02010600030101010101" charset="-122"/>
              </a:rPr>
              <a:t>Buffered I/O</a:t>
            </a:r>
            <a:endParaRPr sz="130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cxnSp>
        <p:nvCxnSpPr>
          <p:cNvPr id="2011816949" name="Connector 2011816948"/>
          <p:cNvCxnSpPr/>
          <p:nvPr/>
        </p:nvCxnSpPr>
        <p:spPr>
          <a:xfrm>
            <a:off x="4421010" y="1779956"/>
            <a:ext cx="109728" cy="1252728"/>
          </a:xfrm>
          <a:prstGeom prst="line">
            <a:avLst/>
          </a:prstGeom>
          <a:ln w="1778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1816950" name="Rounded Rectangle 2011816949"/>
          <p:cNvSpPr/>
          <p:nvPr/>
        </p:nvSpPr>
        <p:spPr>
          <a:xfrm>
            <a:off x="3005922" y="2526197"/>
            <a:ext cx="1325880" cy="621792"/>
          </a:xfrm>
          <a:prstGeom prst="roundRect">
            <a:avLst/>
          </a:prstGeom>
          <a:solidFill>
            <a:srgbClr val="E9F0FA"/>
          </a:solidFill>
          <a:ln w="1397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4546A"/>
                </a:solidFill>
                <a:latin typeface="等线" panose="02010600030101010101" charset="-122"/>
              </a:rPr>
              <a:t>mmap</a:t>
            </a:r>
            <a:endParaRPr sz="130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cxnSp>
        <p:nvCxnSpPr>
          <p:cNvPr id="2011816953" name="Connector 2011816952"/>
          <p:cNvCxnSpPr/>
          <p:nvPr/>
        </p:nvCxnSpPr>
        <p:spPr>
          <a:xfrm>
            <a:off x="4421010" y="2804084"/>
            <a:ext cx="109728" cy="228600"/>
          </a:xfrm>
          <a:prstGeom prst="line">
            <a:avLst/>
          </a:prstGeom>
          <a:ln w="1778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1816954" name="Rounded Rectangle 2011816953"/>
          <p:cNvSpPr/>
          <p:nvPr/>
        </p:nvSpPr>
        <p:spPr>
          <a:xfrm>
            <a:off x="3005922" y="3550325"/>
            <a:ext cx="1325880" cy="621792"/>
          </a:xfrm>
          <a:prstGeom prst="roundRect">
            <a:avLst/>
          </a:prstGeom>
          <a:solidFill>
            <a:srgbClr val="E9F0FA"/>
          </a:solidFill>
          <a:ln w="1397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4546A"/>
                </a:solidFill>
                <a:latin typeface="等线" panose="02010600030101010101" charset="-122"/>
              </a:rPr>
              <a:t>O_DIRECT</a:t>
            </a:r>
            <a:endParaRPr sz="130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cxnSp>
        <p:nvCxnSpPr>
          <p:cNvPr id="2011816957" name="Connector 2011816956"/>
          <p:cNvCxnSpPr/>
          <p:nvPr/>
        </p:nvCxnSpPr>
        <p:spPr>
          <a:xfrm flipV="1">
            <a:off x="4421010" y="3032684"/>
            <a:ext cx="109728" cy="795528"/>
          </a:xfrm>
          <a:prstGeom prst="line">
            <a:avLst/>
          </a:prstGeom>
          <a:ln w="1778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1816958" name="Rounded Rectangle 2011816957"/>
          <p:cNvSpPr/>
          <p:nvPr/>
        </p:nvSpPr>
        <p:spPr>
          <a:xfrm>
            <a:off x="4653874" y="2555190"/>
            <a:ext cx="1188720" cy="932688"/>
          </a:xfrm>
          <a:prstGeom prst="roundRect">
            <a:avLst/>
          </a:prstGeom>
          <a:solidFill>
            <a:srgbClr val="F5F7FA"/>
          </a:solidFill>
          <a:ln w="1397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4546A"/>
                </a:solidFill>
                <a:latin typeface="等线" panose="02010600030101010101" charset="-122"/>
              </a:rPr>
              <a:t>Extent
Manager</a:t>
            </a:r>
            <a:endParaRPr sz="130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011816959" name="Right Arrow 2011816958"/>
          <p:cNvSpPr/>
          <p:nvPr/>
        </p:nvSpPr>
        <p:spPr>
          <a:xfrm>
            <a:off x="5960049" y="2928534"/>
            <a:ext cx="246888" cy="173736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1816960" name="Rounded Rectangle 2011816959"/>
          <p:cNvSpPr/>
          <p:nvPr/>
        </p:nvSpPr>
        <p:spPr>
          <a:xfrm>
            <a:off x="6252658" y="2562774"/>
            <a:ext cx="749808" cy="932688"/>
          </a:xfrm>
          <a:prstGeom prst="roundRect">
            <a:avLst/>
          </a:prstGeom>
          <a:solidFill>
            <a:srgbClr val="F5F7FA"/>
          </a:solidFill>
          <a:ln w="1397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4546A"/>
                </a:solidFill>
                <a:latin typeface="等线" panose="02010600030101010101" charset="-122"/>
              </a:rPr>
              <a:t>IoBatch
/ BIO</a:t>
            </a:r>
            <a:endParaRPr sz="100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011816961" name="TextBox 2011816960"/>
          <p:cNvSpPr txBox="1"/>
          <p:nvPr/>
        </p:nvSpPr>
        <p:spPr>
          <a:xfrm>
            <a:off x="2852928" y="4604380"/>
            <a:ext cx="4956048" cy="86793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dirty="0">
                <a:solidFill>
                  <a:srgbClr val="44546A"/>
                </a:solidFill>
              </a:rPr>
              <a:t>Buffered I/</a:t>
            </a:r>
            <a:r>
              <a:rPr b="0" dirty="0" err="1">
                <a:solidFill>
                  <a:srgbClr val="44546A"/>
                </a:solidFill>
              </a:rPr>
              <a:t>O修改缓存页并标脏；mmap通过Vmo共享页面；O_DIRECT不传输缓存页数据，但仍共享Extent映射</a:t>
            </a:r>
            <a:r>
              <a:rPr b="0" dirty="0">
                <a:solidFill>
                  <a:srgbClr val="44546A"/>
                </a:solidFill>
              </a:rPr>
              <a:t>。</a:t>
            </a:r>
            <a:endParaRPr b="0" dirty="0">
              <a:solidFill>
                <a:srgbClr val="44546A"/>
              </a:solidFill>
            </a:endParaRPr>
          </a:p>
        </p:txBody>
      </p:sp>
      <p:sp>
        <p:nvSpPr>
          <p:cNvPr id="2011816962" name="TextBox 2011816961"/>
          <p:cNvSpPr txBox="1"/>
          <p:nvPr/>
        </p:nvSpPr>
        <p:spPr>
          <a:xfrm>
            <a:off x="8778240" y="941832"/>
            <a:ext cx="2395728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44546A"/>
                </a:solidFill>
                <a:latin typeface="等线" panose="02010600030101010101" charset="-122"/>
              </a:rPr>
              <a:t>Extent状态与原地编辑</a:t>
            </a:r>
            <a:endParaRPr b="1" dirty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011816963" name="Rounded Rectangle 2011816962"/>
          <p:cNvSpPr/>
          <p:nvPr/>
        </p:nvSpPr>
        <p:spPr>
          <a:xfrm>
            <a:off x="8796528" y="1389888"/>
            <a:ext cx="1024128" cy="457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472C4"/>
                </a:solidFill>
                <a:latin typeface="等线" panose="02010600030101010101" charset="-122"/>
              </a:rPr>
              <a:t>Written</a:t>
            </a:r>
            <a:endParaRPr sz="1000" b="1">
              <a:solidFill>
                <a:srgbClr val="4472C4"/>
              </a:solidFill>
              <a:latin typeface="等线" panose="02010600030101010101" charset="-122"/>
            </a:endParaRPr>
          </a:p>
        </p:txBody>
      </p:sp>
      <p:sp>
        <p:nvSpPr>
          <p:cNvPr id="2011816964" name="TextBox 2011816963"/>
          <p:cNvSpPr txBox="1"/>
          <p:nvPr/>
        </p:nvSpPr>
        <p:spPr>
          <a:xfrm>
            <a:off x="9966960" y="1417320"/>
            <a:ext cx="118872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等线" panose="02010600030101010101" charset="-122"/>
              </a:rPr>
              <a:t>有效数据</a:t>
            </a:r>
            <a:endParaRPr sz="1000" b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011816965" name="Rounded Rectangle 2011816964"/>
          <p:cNvSpPr/>
          <p:nvPr/>
        </p:nvSpPr>
        <p:spPr>
          <a:xfrm>
            <a:off x="8796528" y="2002536"/>
            <a:ext cx="1024128" cy="457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D7D31"/>
                </a:solidFill>
                <a:latin typeface="等线" panose="02010600030101010101" charset="-122"/>
              </a:rPr>
              <a:t>Unwritten</a:t>
            </a:r>
            <a:endParaRPr sz="1000" b="1">
              <a:solidFill>
                <a:srgbClr val="ED7D31"/>
              </a:solidFill>
              <a:latin typeface="等线" panose="02010600030101010101" charset="-122"/>
            </a:endParaRPr>
          </a:p>
        </p:txBody>
      </p:sp>
      <p:sp>
        <p:nvSpPr>
          <p:cNvPr id="2011816966" name="TextBox 2011816965"/>
          <p:cNvSpPr txBox="1"/>
          <p:nvPr/>
        </p:nvSpPr>
        <p:spPr>
          <a:xfrm>
            <a:off x="9966960" y="2029967"/>
            <a:ext cx="118872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等线" panose="02010600030101010101" charset="-122"/>
              </a:rPr>
              <a:t>读取返回零</a:t>
            </a:r>
            <a:endParaRPr sz="1000" b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011816967" name="Rounded Rectangle 2011816966"/>
          <p:cNvSpPr/>
          <p:nvPr/>
        </p:nvSpPr>
        <p:spPr>
          <a:xfrm>
            <a:off x="8796528" y="2615184"/>
            <a:ext cx="1024128" cy="457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F8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F8C9D"/>
                </a:solidFill>
                <a:latin typeface="等线" panose="02010600030101010101" charset="-122"/>
              </a:rPr>
              <a:t>Hole</a:t>
            </a:r>
            <a:endParaRPr sz="1000" b="1">
              <a:solidFill>
                <a:srgbClr val="7F8C9D"/>
              </a:solidFill>
              <a:latin typeface="等线" panose="02010600030101010101" charset="-122"/>
            </a:endParaRPr>
          </a:p>
        </p:txBody>
      </p:sp>
      <p:sp>
        <p:nvSpPr>
          <p:cNvPr id="2011816968" name="TextBox 2011816967"/>
          <p:cNvSpPr txBox="1"/>
          <p:nvPr/>
        </p:nvSpPr>
        <p:spPr>
          <a:xfrm>
            <a:off x="9966960" y="2642616"/>
            <a:ext cx="118872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等线" panose="02010600030101010101" charset="-122"/>
              </a:rPr>
              <a:t>尚未映射</a:t>
            </a:r>
            <a:endParaRPr sz="1000" b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011816969" name="Rounded Rectangle 2011816968"/>
          <p:cNvSpPr/>
          <p:nvPr/>
        </p:nvSpPr>
        <p:spPr>
          <a:xfrm>
            <a:off x="8796528" y="3337560"/>
            <a:ext cx="2359152" cy="286665"/>
          </a:xfrm>
          <a:prstGeom prst="roundRect">
            <a:avLst/>
          </a:prstGeom>
          <a:solidFill>
            <a:srgbClr val="F5F7FA"/>
          </a:solidFill>
          <a:ln w="13970">
            <a:solidFill>
              <a:srgbClr val="CF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等线" panose="02010600030101010101" charset="-122"/>
              </a:rPr>
              <a:t>查找叶节点</a:t>
            </a:r>
            <a:endParaRPr sz="1000" b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011816970" name="Down Arrow 2011816969"/>
          <p:cNvSpPr/>
          <p:nvPr/>
        </p:nvSpPr>
        <p:spPr>
          <a:xfrm>
            <a:off x="9857232" y="3624225"/>
            <a:ext cx="219456" cy="164592"/>
          </a:xfrm>
          <a:prstGeom prst="downArrow">
            <a:avLst/>
          </a:prstGeom>
          <a:solidFill>
            <a:srgbClr val="7F8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1816971" name="Rounded Rectangle 2011816970"/>
          <p:cNvSpPr/>
          <p:nvPr/>
        </p:nvSpPr>
        <p:spPr>
          <a:xfrm>
            <a:off x="8796528" y="3799332"/>
            <a:ext cx="2359152" cy="286665"/>
          </a:xfrm>
          <a:prstGeom prst="roundRect">
            <a:avLst/>
          </a:prstGeom>
          <a:solidFill>
            <a:srgbClr val="F5F7FA"/>
          </a:solidFill>
          <a:ln w="13970">
            <a:solidFill>
              <a:srgbClr val="CF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等线" panose="02010600030101010101" charset="-122"/>
              </a:rPr>
              <a:t>插入 / 删除</a:t>
            </a:r>
            <a:endParaRPr sz="1000" b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011816972" name="Down Arrow 2011816971"/>
          <p:cNvSpPr/>
          <p:nvPr/>
        </p:nvSpPr>
        <p:spPr>
          <a:xfrm>
            <a:off x="9857232" y="4087368"/>
            <a:ext cx="219456" cy="164592"/>
          </a:xfrm>
          <a:prstGeom prst="downArrow">
            <a:avLst/>
          </a:prstGeom>
          <a:solidFill>
            <a:srgbClr val="7F8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1816973" name="Rounded Rectangle 2011816972"/>
          <p:cNvSpPr/>
          <p:nvPr/>
        </p:nvSpPr>
        <p:spPr>
          <a:xfrm>
            <a:off x="8796528" y="4262422"/>
            <a:ext cx="2359152" cy="285348"/>
          </a:xfrm>
          <a:prstGeom prst="roundRect">
            <a:avLst/>
          </a:prstGeom>
          <a:solidFill>
            <a:srgbClr val="F5F7FA"/>
          </a:solidFill>
          <a:ln w="13970">
            <a:solidFill>
              <a:srgbClr val="CF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 err="1">
                <a:solidFill>
                  <a:srgbClr val="44546A"/>
                </a:solidFill>
                <a:latin typeface="等线" panose="02010600030101010101" charset="-122"/>
              </a:rPr>
              <a:t>分裂</a:t>
            </a:r>
            <a:r>
              <a:rPr sz="1000" b="0" dirty="0">
                <a:solidFill>
                  <a:srgbClr val="44546A"/>
                </a:solidFill>
                <a:latin typeface="等线" panose="02010600030101010101" charset="-122"/>
              </a:rPr>
              <a:t> / </a:t>
            </a:r>
            <a:r>
              <a:rPr sz="1000" b="0" dirty="0" err="1">
                <a:solidFill>
                  <a:srgbClr val="44546A"/>
                </a:solidFill>
                <a:latin typeface="等线" panose="02010600030101010101" charset="-122"/>
              </a:rPr>
              <a:t>合并</a:t>
            </a:r>
            <a:endParaRPr sz="1000" b="0" dirty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011816974" name="Down Arrow 2011816973"/>
          <p:cNvSpPr/>
          <p:nvPr/>
        </p:nvSpPr>
        <p:spPr>
          <a:xfrm>
            <a:off x="9857232" y="4567428"/>
            <a:ext cx="219456" cy="164592"/>
          </a:xfrm>
          <a:prstGeom prst="downArrow">
            <a:avLst/>
          </a:prstGeom>
          <a:solidFill>
            <a:srgbClr val="7F8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1816975" name="Rounded Rectangle 2011816974"/>
          <p:cNvSpPr/>
          <p:nvPr/>
        </p:nvSpPr>
        <p:spPr>
          <a:xfrm>
            <a:off x="8787384" y="4745736"/>
            <a:ext cx="2359152" cy="285348"/>
          </a:xfrm>
          <a:prstGeom prst="roundRect">
            <a:avLst/>
          </a:prstGeom>
          <a:solidFill>
            <a:srgbClr val="F5F7FA"/>
          </a:solidFill>
          <a:ln w="13970">
            <a:solidFill>
              <a:srgbClr val="CF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dirty="0" err="1">
                <a:solidFill>
                  <a:srgbClr val="44546A"/>
                </a:solidFill>
                <a:latin typeface="等线" panose="02010600030101010101" charset="-122"/>
              </a:rPr>
              <a:t>更新父节点</a:t>
            </a:r>
            <a:endParaRPr sz="1000" b="0" dirty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011816976" name="Down Arrow 2011816975"/>
          <p:cNvSpPr/>
          <p:nvPr/>
        </p:nvSpPr>
        <p:spPr>
          <a:xfrm>
            <a:off x="9857232" y="5055656"/>
            <a:ext cx="219456" cy="164592"/>
          </a:xfrm>
          <a:prstGeom prst="downArrow">
            <a:avLst/>
          </a:prstGeom>
          <a:solidFill>
            <a:srgbClr val="7F8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1816977" name="Rounded Rectangle 2011816976"/>
          <p:cNvSpPr/>
          <p:nvPr/>
        </p:nvSpPr>
        <p:spPr>
          <a:xfrm>
            <a:off x="8796528" y="5244820"/>
            <a:ext cx="2359152" cy="285348"/>
          </a:xfrm>
          <a:prstGeom prst="roundRect">
            <a:avLst/>
          </a:prstGeom>
          <a:solidFill>
            <a:srgbClr val="F5F7FA"/>
          </a:solidFill>
          <a:ln w="13970">
            <a:solidFill>
              <a:srgbClr val="CF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 err="1">
                <a:solidFill>
                  <a:srgbClr val="44546A"/>
                </a:solidFill>
                <a:latin typeface="等线" panose="02010600030101010101" charset="-122"/>
              </a:rPr>
              <a:t>失效相关缓存</a:t>
            </a:r>
            <a:endParaRPr sz="1000" b="1" dirty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011816978" name="Rounded Rectangle 2011816977"/>
          <p:cNvSpPr/>
          <p:nvPr/>
        </p:nvSpPr>
        <p:spPr>
          <a:xfrm>
            <a:off x="2816352" y="5925312"/>
            <a:ext cx="8339327" cy="438912"/>
          </a:xfrm>
          <a:prstGeom prst="roundRect">
            <a:avLst/>
          </a:prstGeom>
          <a:solidFill>
            <a:srgbClr val="E9F0FA"/>
          </a:solidFill>
          <a:ln w="1397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44546A"/>
                </a:solidFill>
                <a:latin typeface="等线" panose="02010600030101010101" charset="-122"/>
              </a:rPr>
              <a:t>ExtentManager是三条数据路径共同的映射基础，也是空间分配、缓存更新与日志事务的交汇点</a:t>
            </a:r>
            <a:r>
              <a:rPr sz="1400" b="1" dirty="0">
                <a:solidFill>
                  <a:srgbClr val="44546A"/>
                </a:solidFill>
                <a:latin typeface="等线" panose="02010600030101010101" charset="-122"/>
              </a:rPr>
              <a:t>。</a:t>
            </a:r>
            <a:endParaRPr sz="1400" b="1" dirty="0">
              <a:solidFill>
                <a:srgbClr val="44546A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032089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492405746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058802933" name="文本框 10"/>
          <p:cNvSpPr txBox="1"/>
          <p:nvPr/>
        </p:nvSpPr>
        <p:spPr bwMode="auto">
          <a:xfrm>
            <a:off x="86359" y="4061588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615630510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59" y="5943600"/>
            <a:ext cx="914400" cy="914400"/>
          </a:xfrm>
          <a:prstGeom prst="rect">
            <a:avLst/>
          </a:prstGeom>
        </p:spPr>
      </p:pic>
      <p:pic>
        <p:nvPicPr>
          <p:cNvPr id="67717365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7" y="311328"/>
            <a:ext cx="2256183" cy="414148"/>
          </a:xfrm>
          <a:prstGeom prst="rect">
            <a:avLst/>
          </a:prstGeom>
        </p:spPr>
      </p:pic>
      <p:sp>
        <p:nvSpPr>
          <p:cNvPr id="770280684" name="文本框 29"/>
          <p:cNvSpPr txBox="1"/>
          <p:nvPr/>
        </p:nvSpPr>
        <p:spPr bwMode="auto">
          <a:xfrm>
            <a:off x="86054" y="556014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05461433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92018690" name="组合 19"/>
          <p:cNvGrpSpPr/>
          <p:nvPr/>
        </p:nvGrpSpPr>
        <p:grpSpPr bwMode="auto">
          <a:xfrm>
            <a:off x="0" y="3110994"/>
            <a:ext cx="2737504" cy="761999"/>
            <a:chOff x="0" y="772159"/>
            <a:chExt cx="2737504" cy="761999"/>
          </a:xfrm>
        </p:grpSpPr>
        <p:sp>
          <p:nvSpPr>
            <p:cNvPr id="949635408" name="矩形 14"/>
            <p:cNvSpPr/>
            <p:nvPr/>
          </p:nvSpPr>
          <p:spPr bwMode="auto">
            <a:xfrm>
              <a:off x="0" y="772159"/>
              <a:ext cx="2509520" cy="76199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56244413" name="等腰三角形 16"/>
            <p:cNvSpPr/>
            <p:nvPr/>
          </p:nvSpPr>
          <p:spPr bwMode="auto">
            <a:xfrm rot="5400000">
              <a:off x="2491281" y="1039167"/>
              <a:ext cx="264462" cy="227984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826858237" name="文本框 9"/>
          <p:cNvSpPr txBox="1"/>
          <p:nvPr/>
        </p:nvSpPr>
        <p:spPr bwMode="auto">
          <a:xfrm>
            <a:off x="85724" y="3199937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7000" y="4839335"/>
            <a:ext cx="2195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+mn-lt"/>
                <a:cs typeface="+mn-lt"/>
              </a:rPr>
              <a:t>AI</a:t>
            </a:r>
            <a:r>
              <a:rPr lang="zh-CN" altLang="en-US" sz="2400">
                <a:solidFill>
                  <a:schemeClr val="bg1"/>
                </a:solidFill>
                <a:ea typeface="+mn-lt"/>
                <a:cs typeface="+mn-lt"/>
              </a:rPr>
              <a:t>的使用</a:t>
            </a:r>
            <a:endParaRPr lang="zh-CN" altLang="en-US" sz="240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2058802934" name="TextBox 2058802933"/>
          <p:cNvSpPr txBox="1"/>
          <p:nvPr/>
        </p:nvSpPr>
        <p:spPr>
          <a:xfrm>
            <a:off x="2743200" y="352171"/>
            <a:ext cx="8778240" cy="466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1F1F"/>
                </a:solidFill>
                <a:ea typeface="+mn-lt"/>
                <a:cs typeface="+mn-lt"/>
              </a:rPr>
              <a:t>3.3 崩溃一致性：事务边界</a:t>
            </a:r>
            <a:endParaRPr sz="2800" b="1">
              <a:solidFill>
                <a:srgbClr val="1F1F1F"/>
              </a:solidFill>
              <a:ea typeface="+mn-lt"/>
              <a:cs typeface="+mn-lt"/>
            </a:endParaRPr>
          </a:p>
        </p:txBody>
      </p:sp>
      <p:sp>
        <p:nvSpPr>
          <p:cNvPr id="2058802936" name="Rounded Rectangle 2058802935"/>
          <p:cNvSpPr/>
          <p:nvPr/>
        </p:nvSpPr>
        <p:spPr>
          <a:xfrm>
            <a:off x="2737504" y="1149530"/>
            <a:ext cx="8394192" cy="530352"/>
          </a:xfrm>
          <a:prstGeom prst="roundRect">
            <a:avLst/>
          </a:prstGeom>
          <a:solidFill>
            <a:srgbClr val="FDEEE5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dirty="0" err="1">
                <a:solidFill>
                  <a:srgbClr val="44546A"/>
                </a:solidFill>
                <a:latin typeface="等线" panose="02010600030101010101" charset="-122"/>
              </a:rPr>
              <a:t>文件创建、Extent分配、位图更新和inode修改涉及多个磁盘块，任意一步中断都可能形成不一致盘面</a:t>
            </a:r>
            <a:r>
              <a:rPr sz="1300" b="1" dirty="0">
                <a:solidFill>
                  <a:srgbClr val="44546A"/>
                </a:solidFill>
                <a:latin typeface="等线" panose="02010600030101010101" charset="-122"/>
              </a:rPr>
              <a:t>。</a:t>
            </a:r>
            <a:endParaRPr sz="1300" b="1" dirty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058802937" name="Rounded Rectangle 2058802936"/>
          <p:cNvSpPr/>
          <p:nvPr/>
        </p:nvSpPr>
        <p:spPr>
          <a:xfrm>
            <a:off x="2769617" y="2097177"/>
            <a:ext cx="960120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46A"/>
                </a:solidFill>
                <a:latin typeface="等线" panose="02010600030101010101" charset="-122"/>
              </a:rPr>
              <a:t>VFS操作</a:t>
            </a:r>
            <a:endParaRPr sz="1100" b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058802938" name="Right Arrow 2058802937"/>
          <p:cNvSpPr/>
          <p:nvPr/>
        </p:nvSpPr>
        <p:spPr>
          <a:xfrm>
            <a:off x="3784601" y="2371498"/>
            <a:ext cx="256032" cy="164592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8802939" name="Rounded Rectangle 2058802938"/>
          <p:cNvSpPr/>
          <p:nvPr/>
        </p:nvSpPr>
        <p:spPr>
          <a:xfrm>
            <a:off x="4086353" y="2097177"/>
            <a:ext cx="1078992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4546A"/>
                </a:solidFill>
                <a:latin typeface="等线" panose="02010600030101010101" charset="-122"/>
              </a:rPr>
              <a:t>估算Credits</a:t>
            </a:r>
            <a:endParaRPr sz="110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058802940" name="Right Arrow 2058802939"/>
          <p:cNvSpPr/>
          <p:nvPr/>
        </p:nvSpPr>
        <p:spPr>
          <a:xfrm>
            <a:off x="5220208" y="2371498"/>
            <a:ext cx="256032" cy="164592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8802941" name="Rounded Rectangle 2058802940"/>
          <p:cNvSpPr/>
          <p:nvPr/>
        </p:nvSpPr>
        <p:spPr>
          <a:xfrm>
            <a:off x="5521960" y="2097177"/>
            <a:ext cx="987552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4546A"/>
                </a:solidFill>
                <a:latin typeface="等线" panose="02010600030101010101" charset="-122"/>
              </a:rPr>
              <a:t>begin_op</a:t>
            </a:r>
            <a:endParaRPr sz="110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058802942" name="Right Arrow 2058802941"/>
          <p:cNvSpPr/>
          <p:nvPr/>
        </p:nvSpPr>
        <p:spPr>
          <a:xfrm>
            <a:off x="6564376" y="2371498"/>
            <a:ext cx="256032" cy="164592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8802943" name="Rounded Rectangle 2058802942"/>
          <p:cNvSpPr/>
          <p:nvPr/>
        </p:nvSpPr>
        <p:spPr>
          <a:xfrm>
            <a:off x="6866129" y="2097177"/>
            <a:ext cx="960120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46A"/>
                </a:solidFill>
                <a:latin typeface="等线" panose="02010600030101010101" charset="-122"/>
              </a:rPr>
              <a:t>获取Handle</a:t>
            </a:r>
            <a:endParaRPr sz="1100" b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058802944" name="Right Arrow 2058802943"/>
          <p:cNvSpPr/>
          <p:nvPr/>
        </p:nvSpPr>
        <p:spPr>
          <a:xfrm>
            <a:off x="7881113" y="2371498"/>
            <a:ext cx="256032" cy="164592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8802945" name="Rounded Rectangle 2058802944"/>
          <p:cNvSpPr/>
          <p:nvPr/>
        </p:nvSpPr>
        <p:spPr>
          <a:xfrm>
            <a:off x="8182865" y="2097177"/>
            <a:ext cx="1078992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46A"/>
                </a:solidFill>
                <a:latin typeface="等线" panose="02010600030101010101" charset="-122"/>
              </a:rPr>
              <a:t>修改元数据</a:t>
            </a:r>
            <a:endParaRPr sz="1100" b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058802946" name="Right Arrow 2058802945"/>
          <p:cNvSpPr/>
          <p:nvPr/>
        </p:nvSpPr>
        <p:spPr>
          <a:xfrm>
            <a:off x="9316721" y="2371498"/>
            <a:ext cx="256032" cy="164592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8802947" name="Rounded Rectangle 2058802946"/>
          <p:cNvSpPr/>
          <p:nvPr/>
        </p:nvSpPr>
        <p:spPr>
          <a:xfrm>
            <a:off x="9618473" y="2097177"/>
            <a:ext cx="1143000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46A"/>
                </a:solidFill>
                <a:latin typeface="等线" panose="02010600030101010101" charset="-122"/>
              </a:rPr>
              <a:t>capture / dirty</a:t>
            </a:r>
            <a:endParaRPr sz="1100" b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058802948" name="Right Arrow 2058802947"/>
          <p:cNvSpPr/>
          <p:nvPr/>
        </p:nvSpPr>
        <p:spPr>
          <a:xfrm>
            <a:off x="10816337" y="2371498"/>
            <a:ext cx="256032" cy="164592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8802949" name="Rounded Rectangle 2058802948"/>
          <p:cNvSpPr/>
          <p:nvPr/>
        </p:nvSpPr>
        <p:spPr>
          <a:xfrm>
            <a:off x="11118089" y="2097177"/>
            <a:ext cx="987552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46A"/>
                </a:solidFill>
                <a:latin typeface="等线" panose="02010600030101010101" charset="-122"/>
              </a:rPr>
              <a:t>结束Handle</a:t>
            </a:r>
            <a:endParaRPr sz="1100" b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058802950" name="Rounded Rectangle 2058802949"/>
          <p:cNvSpPr/>
          <p:nvPr/>
        </p:nvSpPr>
        <p:spPr>
          <a:xfrm>
            <a:off x="3117769" y="3624225"/>
            <a:ext cx="2606040" cy="1490472"/>
          </a:xfrm>
          <a:prstGeom prst="roundRect">
            <a:avLst/>
          </a:prstGeom>
          <a:solidFill>
            <a:srgbClr val="F5F7FA"/>
          </a:solidFill>
          <a:ln w="13970">
            <a:solidFill>
              <a:srgbClr val="CF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58802951" name="TextBox 2058802950"/>
          <p:cNvSpPr txBox="1"/>
          <p:nvPr/>
        </p:nvSpPr>
        <p:spPr>
          <a:xfrm>
            <a:off x="3264073" y="3770529"/>
            <a:ext cx="228600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D7D31"/>
                </a:solidFill>
                <a:latin typeface="等线" panose="02010600030101010101" charset="-122"/>
              </a:rPr>
              <a:t>统一事务入口</a:t>
            </a:r>
            <a:endParaRPr sz="1400" b="1">
              <a:solidFill>
                <a:srgbClr val="ED7D31"/>
              </a:solidFill>
              <a:latin typeface="等线" panose="02010600030101010101" charset="-122"/>
            </a:endParaRPr>
          </a:p>
        </p:txBody>
      </p:sp>
      <p:sp>
        <p:nvSpPr>
          <p:cNvPr id="2058802952" name="TextBox 2058802951"/>
          <p:cNvSpPr txBox="1"/>
          <p:nvPr/>
        </p:nvSpPr>
        <p:spPr>
          <a:xfrm>
            <a:off x="3264073" y="4163721"/>
            <a:ext cx="228600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546A"/>
                </a:solidFill>
                <a:latin typeface="等线" panose="02010600030101010101" charset="-122"/>
              </a:rPr>
              <a:t>所有元数据修改都从begin_op(credits)进入。</a:t>
            </a:r>
            <a:endParaRPr sz="1200" b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058802953" name="Rounded Rectangle 2058802952"/>
          <p:cNvSpPr/>
          <p:nvPr/>
        </p:nvSpPr>
        <p:spPr>
          <a:xfrm>
            <a:off x="5934121" y="3624225"/>
            <a:ext cx="2606040" cy="1490472"/>
          </a:xfrm>
          <a:prstGeom prst="roundRect">
            <a:avLst/>
          </a:prstGeom>
          <a:solidFill>
            <a:srgbClr val="F5F7FA"/>
          </a:solidFill>
          <a:ln w="13970">
            <a:solidFill>
              <a:srgbClr val="CF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58802954" name="TextBox 2058802953"/>
          <p:cNvSpPr txBox="1"/>
          <p:nvPr/>
        </p:nvSpPr>
        <p:spPr>
          <a:xfrm>
            <a:off x="6080425" y="3770529"/>
            <a:ext cx="228600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D7D31"/>
                </a:solidFill>
                <a:latin typeface="等线" panose="02010600030101010101" charset="-122"/>
              </a:rPr>
              <a:t>按路径预约空间</a:t>
            </a:r>
            <a:endParaRPr sz="1400" b="1">
              <a:solidFill>
                <a:srgbClr val="ED7D31"/>
              </a:solidFill>
              <a:latin typeface="等线" panose="02010600030101010101" charset="-122"/>
            </a:endParaRPr>
          </a:p>
        </p:txBody>
      </p:sp>
      <p:sp>
        <p:nvSpPr>
          <p:cNvPr id="2058802955" name="TextBox 2058802954"/>
          <p:cNvSpPr txBox="1"/>
          <p:nvPr/>
        </p:nvSpPr>
        <p:spPr>
          <a:xfrm>
            <a:off x="6080425" y="4163721"/>
            <a:ext cx="228600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546A"/>
                </a:solidFill>
                <a:latin typeface="等线" panose="02010600030101010101" charset="-122"/>
              </a:rPr>
              <a:t>Credits根据树深和可能修改的元数据块数量计算。</a:t>
            </a:r>
            <a:endParaRPr sz="1200" b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058802956" name="Rounded Rectangle 2058802955"/>
          <p:cNvSpPr/>
          <p:nvPr/>
        </p:nvSpPr>
        <p:spPr>
          <a:xfrm>
            <a:off x="8750473" y="3624225"/>
            <a:ext cx="2606040" cy="1490472"/>
          </a:xfrm>
          <a:prstGeom prst="roundRect">
            <a:avLst/>
          </a:prstGeom>
          <a:solidFill>
            <a:srgbClr val="F5F7FA"/>
          </a:solidFill>
          <a:ln w="13970">
            <a:solidFill>
              <a:srgbClr val="CF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58802957" name="TextBox 2058802956"/>
          <p:cNvSpPr txBox="1"/>
          <p:nvPr/>
        </p:nvSpPr>
        <p:spPr>
          <a:xfrm>
            <a:off x="8896777" y="3770529"/>
            <a:ext cx="228600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D7D31"/>
                </a:solidFill>
                <a:latin typeface="等线" panose="02010600030101010101" charset="-122"/>
              </a:rPr>
              <a:t>不完整事务不重放</a:t>
            </a:r>
            <a:endParaRPr sz="1400" b="1">
              <a:solidFill>
                <a:srgbClr val="ED7D31"/>
              </a:solidFill>
              <a:latin typeface="等线" panose="02010600030101010101" charset="-122"/>
            </a:endParaRPr>
          </a:p>
        </p:txBody>
      </p:sp>
      <p:sp>
        <p:nvSpPr>
          <p:cNvPr id="2058802958" name="TextBox 2058802957"/>
          <p:cNvSpPr txBox="1"/>
          <p:nvPr/>
        </p:nvSpPr>
        <p:spPr>
          <a:xfrm>
            <a:off x="8896777" y="4163721"/>
            <a:ext cx="2286000" cy="685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4546A"/>
                </a:solidFill>
                <a:latin typeface="等线" panose="02010600030101010101" charset="-122"/>
              </a:rPr>
              <a:t>只有具有完整提交记录的事务才具有恢复资格。</a:t>
            </a:r>
            <a:endParaRPr sz="1200" b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16352" y="5620434"/>
            <a:ext cx="88295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altLang="zh-CN" dirty="0">
                <a:solidFill>
                  <a:srgbClr val="000000"/>
                </a:solidFill>
                <a:ea typeface="+mn-lt"/>
                <a:cs typeface="+mn-lt"/>
              </a:rPr>
              <a:t>Journal</a:t>
            </a:r>
            <a:r>
              <a:rPr lang="zh-CN" altLang="en-US" dirty="0">
                <a:solidFill>
                  <a:srgbClr val="000000"/>
                </a:solidFill>
                <a:ea typeface="+mn-lt"/>
                <a:cs typeface="+mn-lt"/>
              </a:rPr>
              <a:t>组织事务状态，</a:t>
            </a:r>
            <a:r>
              <a:rPr lang="en-GB" altLang="zh-CN" dirty="0">
                <a:solidFill>
                  <a:srgbClr val="000000"/>
                </a:solidFill>
                <a:ea typeface="+mn-lt"/>
                <a:cs typeface="+mn-lt"/>
              </a:rPr>
              <a:t>Transaction</a:t>
            </a:r>
            <a:r>
              <a:rPr lang="zh-CN" altLang="en-US" dirty="0">
                <a:solidFill>
                  <a:srgbClr val="000000"/>
                </a:solidFill>
                <a:ea typeface="+mn-lt"/>
                <a:cs typeface="+mn-lt"/>
              </a:rPr>
              <a:t>保存本次提交的元数据版本，</a:t>
            </a:r>
            <a:r>
              <a:rPr lang="en-GB" altLang="zh-CN" dirty="0">
                <a:solidFill>
                  <a:srgbClr val="000000"/>
                </a:solidFill>
                <a:ea typeface="+mn-lt"/>
                <a:cs typeface="+mn-lt"/>
              </a:rPr>
              <a:t>Handle</a:t>
            </a:r>
            <a:r>
              <a:rPr lang="zh-CN" altLang="en-US" dirty="0">
                <a:solidFill>
                  <a:srgbClr val="000000"/>
                </a:solidFill>
                <a:ea typeface="+mn-lt"/>
                <a:cs typeface="+mn-lt"/>
              </a:rPr>
              <a:t>把一次文件操作加入当前事务。</a:t>
            </a:r>
            <a:endParaRPr lang="zh-CN" altLang="en-US" dirty="0">
              <a:solidFill>
                <a:srgbClr val="000000"/>
              </a:solidFill>
              <a:ea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0053284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724826842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24186141" name="文本框 10"/>
          <p:cNvSpPr txBox="1"/>
          <p:nvPr/>
        </p:nvSpPr>
        <p:spPr bwMode="auto">
          <a:xfrm>
            <a:off x="86359" y="4061588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76095543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59" y="5943600"/>
            <a:ext cx="914400" cy="914400"/>
          </a:xfrm>
          <a:prstGeom prst="rect">
            <a:avLst/>
          </a:prstGeom>
        </p:spPr>
      </p:pic>
      <p:pic>
        <p:nvPicPr>
          <p:cNvPr id="2145179575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7" y="311328"/>
            <a:ext cx="2256183" cy="414148"/>
          </a:xfrm>
          <a:prstGeom prst="rect">
            <a:avLst/>
          </a:prstGeom>
        </p:spPr>
      </p:pic>
      <p:sp>
        <p:nvSpPr>
          <p:cNvPr id="1006796647" name="文本框 29"/>
          <p:cNvSpPr txBox="1"/>
          <p:nvPr/>
        </p:nvSpPr>
        <p:spPr bwMode="auto">
          <a:xfrm>
            <a:off x="86054" y="556014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36310564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538936568" name="组合 19"/>
          <p:cNvGrpSpPr/>
          <p:nvPr/>
        </p:nvGrpSpPr>
        <p:grpSpPr bwMode="auto">
          <a:xfrm>
            <a:off x="0" y="3110994"/>
            <a:ext cx="2737504" cy="761999"/>
            <a:chOff x="0" y="772159"/>
            <a:chExt cx="2737504" cy="761999"/>
          </a:xfrm>
        </p:grpSpPr>
        <p:sp>
          <p:nvSpPr>
            <p:cNvPr id="2006302216" name="矩形 14"/>
            <p:cNvSpPr/>
            <p:nvPr/>
          </p:nvSpPr>
          <p:spPr bwMode="auto">
            <a:xfrm>
              <a:off x="0" y="772159"/>
              <a:ext cx="2509520" cy="76199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17539272" name="等腰三角形 16"/>
            <p:cNvSpPr/>
            <p:nvPr/>
          </p:nvSpPr>
          <p:spPr bwMode="auto">
            <a:xfrm rot="5400000">
              <a:off x="2491281" y="1039167"/>
              <a:ext cx="264462" cy="227984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2040954974" name="文本框 9"/>
          <p:cNvSpPr txBox="1"/>
          <p:nvPr/>
        </p:nvSpPr>
        <p:spPr bwMode="auto">
          <a:xfrm>
            <a:off x="85724" y="3199937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7000" y="4839335"/>
            <a:ext cx="2195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+mn-lt"/>
                <a:cs typeface="+mn-lt"/>
              </a:rPr>
              <a:t>AI</a:t>
            </a:r>
            <a:r>
              <a:rPr lang="zh-CN" altLang="en-US" sz="2400">
                <a:solidFill>
                  <a:schemeClr val="bg1"/>
                </a:solidFill>
                <a:ea typeface="+mn-lt"/>
                <a:cs typeface="+mn-lt"/>
              </a:rPr>
              <a:t>的使用</a:t>
            </a:r>
            <a:endParaRPr lang="zh-CN" altLang="en-US" sz="240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2145179576" name="TextBox 2145179575"/>
          <p:cNvSpPr txBox="1"/>
          <p:nvPr/>
        </p:nvSpPr>
        <p:spPr>
          <a:xfrm>
            <a:off x="2743200" y="352171"/>
            <a:ext cx="8778240" cy="466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1F1F"/>
                </a:solidFill>
                <a:ea typeface="+mn-lt"/>
                <a:cs typeface="+mn-lt"/>
              </a:rPr>
              <a:t>3.4 崩溃一致性：提交、检查点与恢复</a:t>
            </a:r>
            <a:endParaRPr sz="2800" b="1">
              <a:solidFill>
                <a:srgbClr val="1F1F1F"/>
              </a:solidFill>
              <a:ea typeface="+mn-lt"/>
              <a:cs typeface="+mn-lt"/>
            </a:endParaRPr>
          </a:p>
        </p:txBody>
      </p:sp>
      <p:sp>
        <p:nvSpPr>
          <p:cNvPr id="2145179578" name="TextBox 2145179577"/>
          <p:cNvSpPr txBox="1"/>
          <p:nvPr/>
        </p:nvSpPr>
        <p:spPr>
          <a:xfrm>
            <a:off x="2816352" y="932688"/>
            <a:ext cx="2743200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ED7D31"/>
                </a:solidFill>
                <a:latin typeface="等线" panose="02010600030101010101" charset="-122"/>
              </a:rPr>
              <a:t>运行时提交与检查点</a:t>
            </a:r>
            <a:endParaRPr b="1" dirty="0">
              <a:solidFill>
                <a:srgbClr val="ED7D31"/>
              </a:solidFill>
              <a:latin typeface="等线" panose="02010600030101010101" charset="-122"/>
            </a:endParaRPr>
          </a:p>
        </p:txBody>
      </p:sp>
      <p:sp>
        <p:nvSpPr>
          <p:cNvPr id="2145179579" name="Rounded Rectangle 2145179578"/>
          <p:cNvSpPr/>
          <p:nvPr/>
        </p:nvSpPr>
        <p:spPr>
          <a:xfrm>
            <a:off x="2816352" y="1353312"/>
            <a:ext cx="786384" cy="694944"/>
          </a:xfrm>
          <a:prstGeom prst="roundRect">
            <a:avLst/>
          </a:prstGeom>
          <a:solidFill>
            <a:srgbClr val="FCEDE5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44546A"/>
                </a:solidFill>
                <a:latin typeface="等线" panose="02010600030101010101" charset="-122"/>
              </a:rPr>
              <a:t>Running</a:t>
            </a:r>
            <a:endParaRPr sz="105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145179580" name="Right Arrow 2145179579"/>
          <p:cNvSpPr/>
          <p:nvPr/>
        </p:nvSpPr>
        <p:spPr>
          <a:xfrm>
            <a:off x="3639312" y="1609344"/>
            <a:ext cx="210312" cy="155448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/>
          </a:p>
        </p:txBody>
      </p:sp>
      <p:sp>
        <p:nvSpPr>
          <p:cNvPr id="2145179581" name="Rounded Rectangle 2145179580"/>
          <p:cNvSpPr/>
          <p:nvPr/>
        </p:nvSpPr>
        <p:spPr>
          <a:xfrm>
            <a:off x="3886200" y="1353312"/>
            <a:ext cx="950976" cy="694944"/>
          </a:xfrm>
          <a:prstGeom prst="roundRect">
            <a:avLst/>
          </a:prstGeom>
          <a:solidFill>
            <a:srgbClr val="FDEEE5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44546A"/>
                </a:solidFill>
                <a:latin typeface="等线" panose="02010600030101010101" charset="-122"/>
              </a:rPr>
              <a:t>Ordered
Data</a:t>
            </a:r>
            <a:endParaRPr sz="105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145179582" name="Right Arrow 2145179581"/>
          <p:cNvSpPr/>
          <p:nvPr/>
        </p:nvSpPr>
        <p:spPr>
          <a:xfrm>
            <a:off x="4873752" y="1609344"/>
            <a:ext cx="210312" cy="155448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/>
          </a:p>
        </p:txBody>
      </p:sp>
      <p:sp>
        <p:nvSpPr>
          <p:cNvPr id="2145179583" name="Rounded Rectangle 2145179582"/>
          <p:cNvSpPr/>
          <p:nvPr/>
        </p:nvSpPr>
        <p:spPr>
          <a:xfrm>
            <a:off x="5120640" y="1353312"/>
            <a:ext cx="786384" cy="694944"/>
          </a:xfrm>
          <a:prstGeom prst="roundRect">
            <a:avLst/>
          </a:prstGeom>
          <a:solidFill>
            <a:srgbClr val="FCEDE5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44546A"/>
                </a:solidFill>
                <a:latin typeface="等线" panose="02010600030101010101" charset="-122"/>
              </a:rPr>
              <a:t>Descriptor</a:t>
            </a:r>
            <a:endParaRPr sz="105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145179584" name="Right Arrow 2145179583"/>
          <p:cNvSpPr/>
          <p:nvPr/>
        </p:nvSpPr>
        <p:spPr>
          <a:xfrm>
            <a:off x="5943600" y="1609344"/>
            <a:ext cx="210312" cy="155448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/>
          </a:p>
        </p:txBody>
      </p:sp>
      <p:sp>
        <p:nvSpPr>
          <p:cNvPr id="2145179585" name="Rounded Rectangle 2145179584"/>
          <p:cNvSpPr/>
          <p:nvPr/>
        </p:nvSpPr>
        <p:spPr>
          <a:xfrm>
            <a:off x="6190488" y="1353312"/>
            <a:ext cx="950976" cy="694944"/>
          </a:xfrm>
          <a:prstGeom prst="roundRect">
            <a:avLst/>
          </a:prstGeom>
          <a:solidFill>
            <a:srgbClr val="FCEDE5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44546A"/>
                </a:solidFill>
                <a:latin typeface="等线" panose="02010600030101010101" charset="-122"/>
              </a:rPr>
              <a:t>Metadata
Payload</a:t>
            </a:r>
            <a:endParaRPr sz="105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145179586" name="Right Arrow 2145179585"/>
          <p:cNvSpPr/>
          <p:nvPr/>
        </p:nvSpPr>
        <p:spPr>
          <a:xfrm>
            <a:off x="7178040" y="1609344"/>
            <a:ext cx="210312" cy="155448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/>
          </a:p>
        </p:txBody>
      </p:sp>
      <p:sp>
        <p:nvSpPr>
          <p:cNvPr id="2145179587" name="Rounded Rectangle 2145179586"/>
          <p:cNvSpPr/>
          <p:nvPr/>
        </p:nvSpPr>
        <p:spPr>
          <a:xfrm>
            <a:off x="7424927" y="1353312"/>
            <a:ext cx="786384" cy="694944"/>
          </a:xfrm>
          <a:prstGeom prst="roundRect">
            <a:avLst/>
          </a:prstGeom>
          <a:solidFill>
            <a:srgbClr val="FDEEE5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44546A"/>
                </a:solidFill>
                <a:latin typeface="等线" panose="02010600030101010101" charset="-122"/>
              </a:rPr>
              <a:t>Barrier</a:t>
            </a:r>
            <a:endParaRPr sz="105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145179588" name="Right Arrow 2145179587"/>
          <p:cNvSpPr/>
          <p:nvPr/>
        </p:nvSpPr>
        <p:spPr>
          <a:xfrm>
            <a:off x="8247887" y="1609344"/>
            <a:ext cx="210312" cy="155448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/>
          </a:p>
        </p:txBody>
      </p:sp>
      <p:sp>
        <p:nvSpPr>
          <p:cNvPr id="2145179589" name="Rounded Rectangle 2145179588"/>
          <p:cNvSpPr/>
          <p:nvPr/>
        </p:nvSpPr>
        <p:spPr>
          <a:xfrm>
            <a:off x="8494776" y="1353312"/>
            <a:ext cx="786384" cy="694944"/>
          </a:xfrm>
          <a:prstGeom prst="roundRect">
            <a:avLst/>
          </a:prstGeom>
          <a:solidFill>
            <a:srgbClr val="FDEEE5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44546A"/>
                </a:solidFill>
                <a:latin typeface="等线" panose="02010600030101010101" charset="-122"/>
              </a:rPr>
              <a:t>Commit
Block</a:t>
            </a:r>
            <a:endParaRPr sz="105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145179590" name="Right Arrow 2145179589"/>
          <p:cNvSpPr/>
          <p:nvPr/>
        </p:nvSpPr>
        <p:spPr>
          <a:xfrm>
            <a:off x="9317735" y="1609344"/>
            <a:ext cx="210312" cy="155448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/>
          </a:p>
        </p:txBody>
      </p:sp>
      <p:sp>
        <p:nvSpPr>
          <p:cNvPr id="2145179591" name="Rounded Rectangle 2145179590"/>
          <p:cNvSpPr/>
          <p:nvPr/>
        </p:nvSpPr>
        <p:spPr>
          <a:xfrm>
            <a:off x="9564624" y="1353312"/>
            <a:ext cx="950976" cy="694944"/>
          </a:xfrm>
          <a:prstGeom prst="roundRect">
            <a:avLst/>
          </a:prstGeom>
          <a:solidFill>
            <a:srgbClr val="FCEDE5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44546A"/>
                </a:solidFill>
                <a:latin typeface="等线" panose="02010600030101010101" charset="-122"/>
              </a:rPr>
              <a:t>Lazy
Checkpoint</a:t>
            </a:r>
            <a:endParaRPr sz="105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145179592" name="Right Arrow 2145179591"/>
          <p:cNvSpPr/>
          <p:nvPr/>
        </p:nvSpPr>
        <p:spPr>
          <a:xfrm>
            <a:off x="10552176" y="1609344"/>
            <a:ext cx="210312" cy="155448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/>
          </a:p>
        </p:txBody>
      </p:sp>
      <p:sp>
        <p:nvSpPr>
          <p:cNvPr id="2145179593" name="Rounded Rectangle 2145179592"/>
          <p:cNvSpPr/>
          <p:nvPr/>
        </p:nvSpPr>
        <p:spPr>
          <a:xfrm>
            <a:off x="10799063" y="1353312"/>
            <a:ext cx="786384" cy="694944"/>
          </a:xfrm>
          <a:prstGeom prst="roundRect">
            <a:avLst/>
          </a:prstGeom>
          <a:solidFill>
            <a:srgbClr val="FCEDE5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44546A"/>
                </a:solidFill>
                <a:latin typeface="等线" panose="02010600030101010101" charset="-122"/>
              </a:rPr>
              <a:t>Home
Block</a:t>
            </a:r>
            <a:endParaRPr sz="105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145179594" name="Rounded Rectangle 2145179593"/>
          <p:cNvSpPr/>
          <p:nvPr/>
        </p:nvSpPr>
        <p:spPr>
          <a:xfrm>
            <a:off x="2788919" y="2286000"/>
            <a:ext cx="2606040" cy="585216"/>
          </a:xfrm>
          <a:prstGeom prst="roundRect">
            <a:avLst/>
          </a:prstGeom>
          <a:solidFill>
            <a:srgbClr val="F5F7FA"/>
          </a:solidFill>
          <a:ln w="13970">
            <a:solidFill>
              <a:srgbClr val="CF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4546A"/>
                </a:solidFill>
                <a:latin typeface="等线" panose="02010600030101010101" charset="-122"/>
              </a:rPr>
              <a:t>普通数据先于相关元数据事务提交</a:t>
            </a:r>
            <a:endParaRPr sz="110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145179595" name="Rounded Rectangle 2145179594"/>
          <p:cNvSpPr/>
          <p:nvPr/>
        </p:nvSpPr>
        <p:spPr>
          <a:xfrm>
            <a:off x="5875020" y="2288007"/>
            <a:ext cx="2606040" cy="585216"/>
          </a:xfrm>
          <a:prstGeom prst="roundRect">
            <a:avLst/>
          </a:prstGeom>
          <a:solidFill>
            <a:srgbClr val="F5F7FA"/>
          </a:solidFill>
          <a:ln w="13970">
            <a:solidFill>
              <a:srgbClr val="CF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4546A"/>
                </a:solidFill>
                <a:latin typeface="等线" panose="02010600030101010101" charset="-122"/>
              </a:rPr>
              <a:t>Descriptor与Payload先于Commit Block</a:t>
            </a:r>
            <a:endParaRPr sz="110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145179596" name="Rounded Rectangle 2145179595"/>
          <p:cNvSpPr/>
          <p:nvPr/>
        </p:nvSpPr>
        <p:spPr>
          <a:xfrm>
            <a:off x="8979407" y="2258568"/>
            <a:ext cx="2606040" cy="585216"/>
          </a:xfrm>
          <a:prstGeom prst="roundRect">
            <a:avLst/>
          </a:prstGeom>
          <a:solidFill>
            <a:srgbClr val="F5F7FA"/>
          </a:solidFill>
          <a:ln w="13970">
            <a:solidFill>
              <a:srgbClr val="CF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4546A"/>
                </a:solidFill>
                <a:latin typeface="等线" panose="02010600030101010101" charset="-122"/>
              </a:rPr>
              <a:t>Commit Block持久化后事务才可恢复</a:t>
            </a:r>
            <a:endParaRPr sz="110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145179597" name="TextBox 2145179596"/>
          <p:cNvSpPr txBox="1"/>
          <p:nvPr/>
        </p:nvSpPr>
        <p:spPr>
          <a:xfrm>
            <a:off x="2788919" y="3078029"/>
            <a:ext cx="2743200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ED7D31"/>
                </a:solidFill>
                <a:latin typeface="等线" panose="02010600030101010101" charset="-122"/>
              </a:rPr>
              <a:t>挂载恢复</a:t>
            </a:r>
            <a:endParaRPr b="1" dirty="0">
              <a:solidFill>
                <a:srgbClr val="ED7D31"/>
              </a:solidFill>
              <a:latin typeface="等线" panose="02010600030101010101" charset="-122"/>
            </a:endParaRPr>
          </a:p>
        </p:txBody>
      </p:sp>
      <p:sp>
        <p:nvSpPr>
          <p:cNvPr id="2145179598" name="Rounded Rectangle 2145179597"/>
          <p:cNvSpPr/>
          <p:nvPr/>
        </p:nvSpPr>
        <p:spPr>
          <a:xfrm>
            <a:off x="3310128" y="3616976"/>
            <a:ext cx="1572768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4546A"/>
                </a:solidFill>
                <a:latin typeface="等线" panose="02010600030101010101" charset="-122"/>
              </a:rPr>
              <a:t>PASS_SCAN
识别完整事务</a:t>
            </a:r>
            <a:endParaRPr sz="110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145179599" name="Right Arrow 2145179598"/>
          <p:cNvSpPr/>
          <p:nvPr/>
        </p:nvSpPr>
        <p:spPr>
          <a:xfrm>
            <a:off x="4974336" y="3937015"/>
            <a:ext cx="292608" cy="173736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5179600" name="Rounded Rectangle 2145179599"/>
          <p:cNvSpPr/>
          <p:nvPr/>
        </p:nvSpPr>
        <p:spPr>
          <a:xfrm>
            <a:off x="5367528" y="3616976"/>
            <a:ext cx="1572768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4546A"/>
                </a:solidFill>
                <a:latin typeface="等线" panose="02010600030101010101" charset="-122"/>
              </a:rPr>
              <a:t>PASS_REVOKE
收集撤销记录</a:t>
            </a:r>
            <a:endParaRPr sz="110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145179601" name="Right Arrow 2145179600"/>
          <p:cNvSpPr/>
          <p:nvPr/>
        </p:nvSpPr>
        <p:spPr>
          <a:xfrm>
            <a:off x="7031736" y="3937015"/>
            <a:ext cx="292608" cy="173736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5179602" name="Rounded Rectangle 2145179601"/>
          <p:cNvSpPr/>
          <p:nvPr/>
        </p:nvSpPr>
        <p:spPr>
          <a:xfrm>
            <a:off x="7424928" y="3616976"/>
            <a:ext cx="1572768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4546A"/>
                </a:solidFill>
                <a:latin typeface="等线" panose="02010600030101010101" charset="-122"/>
              </a:rPr>
              <a:t>PASS_REPLAY
重放有效元数据</a:t>
            </a:r>
            <a:endParaRPr sz="110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145179603" name="Right Arrow 2145179602"/>
          <p:cNvSpPr/>
          <p:nvPr/>
        </p:nvSpPr>
        <p:spPr>
          <a:xfrm>
            <a:off x="9089136" y="3937015"/>
            <a:ext cx="292608" cy="173736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5179604" name="Rounded Rectangle 2145179603"/>
          <p:cNvSpPr/>
          <p:nvPr/>
        </p:nvSpPr>
        <p:spPr>
          <a:xfrm>
            <a:off x="9482328" y="3616976"/>
            <a:ext cx="1572768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4546A"/>
                </a:solidFill>
                <a:latin typeface="等线" panose="02010600030101010101" charset="-122"/>
              </a:rPr>
              <a:t>重载状态
启动提交线程</a:t>
            </a:r>
            <a:endParaRPr sz="110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145179605" name="Rounded Rectangle 2145179604"/>
          <p:cNvSpPr/>
          <p:nvPr/>
        </p:nvSpPr>
        <p:spPr>
          <a:xfrm>
            <a:off x="2816352" y="4800600"/>
            <a:ext cx="8394192" cy="621792"/>
          </a:xfrm>
          <a:prstGeom prst="roundRect">
            <a:avLst/>
          </a:prstGeom>
          <a:solidFill>
            <a:srgbClr val="FDEEE5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4546A"/>
                </a:solidFill>
                <a:latin typeface="等线" panose="02010600030101010101" charset="-122"/>
              </a:rPr>
              <a:t>只重放具有完整Commit Block的事务；被Revoke取消的旧元数据版本不得重新写回。</a:t>
            </a:r>
            <a:endParaRPr sz="130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145179606" name="Rounded Rectangle 2145179605"/>
          <p:cNvSpPr/>
          <p:nvPr/>
        </p:nvSpPr>
        <p:spPr>
          <a:xfrm>
            <a:off x="2816352" y="5650992"/>
            <a:ext cx="8394192" cy="475488"/>
          </a:xfrm>
          <a:prstGeom prst="roundRect">
            <a:avLst/>
          </a:prstGeom>
          <a:solidFill>
            <a:srgbClr val="44546A"/>
          </a:solidFill>
          <a:ln w="13970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等线" panose="02010600030101010101" charset="-122"/>
              </a:rPr>
              <a:t>验证结果：标准日志931个崩溃点 + 4 MiB小日志1629个崩溃点，均通过一致性检查。</a:t>
            </a:r>
            <a:endParaRPr sz="1200" b="1">
              <a:solidFill>
                <a:srgbClr val="FFFFFF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5544990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439254478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452619070" name="文本框 10"/>
          <p:cNvSpPr txBox="1"/>
          <p:nvPr/>
        </p:nvSpPr>
        <p:spPr bwMode="auto">
          <a:xfrm>
            <a:off x="86359" y="4061588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959601932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59" y="5943600"/>
            <a:ext cx="914400" cy="914400"/>
          </a:xfrm>
          <a:prstGeom prst="rect">
            <a:avLst/>
          </a:prstGeom>
        </p:spPr>
      </p:pic>
      <p:pic>
        <p:nvPicPr>
          <p:cNvPr id="921970594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7" y="311328"/>
            <a:ext cx="2256183" cy="414148"/>
          </a:xfrm>
          <a:prstGeom prst="rect">
            <a:avLst/>
          </a:prstGeom>
        </p:spPr>
      </p:pic>
      <p:sp>
        <p:nvSpPr>
          <p:cNvPr id="2008348051" name="文本框 29"/>
          <p:cNvSpPr txBox="1"/>
          <p:nvPr/>
        </p:nvSpPr>
        <p:spPr bwMode="auto">
          <a:xfrm>
            <a:off x="86054" y="556014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83961904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195525303" name="组合 19"/>
          <p:cNvGrpSpPr/>
          <p:nvPr/>
        </p:nvGrpSpPr>
        <p:grpSpPr bwMode="auto">
          <a:xfrm>
            <a:off x="0" y="3110994"/>
            <a:ext cx="2737504" cy="761999"/>
            <a:chOff x="0" y="772159"/>
            <a:chExt cx="2737504" cy="761999"/>
          </a:xfrm>
        </p:grpSpPr>
        <p:sp>
          <p:nvSpPr>
            <p:cNvPr id="865200169" name="矩形 14"/>
            <p:cNvSpPr/>
            <p:nvPr/>
          </p:nvSpPr>
          <p:spPr bwMode="auto">
            <a:xfrm>
              <a:off x="0" y="772159"/>
              <a:ext cx="2509520" cy="76199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31751616" name="等腰三角形 16"/>
            <p:cNvSpPr/>
            <p:nvPr/>
          </p:nvSpPr>
          <p:spPr bwMode="auto">
            <a:xfrm rot="5400000">
              <a:off x="2491281" y="1039167"/>
              <a:ext cx="264462" cy="227984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824348148" name="文本框 9"/>
          <p:cNvSpPr txBox="1"/>
          <p:nvPr/>
        </p:nvSpPr>
        <p:spPr bwMode="auto">
          <a:xfrm>
            <a:off x="85724" y="3199937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7000" y="4839335"/>
            <a:ext cx="2195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+mn-lt"/>
                <a:cs typeface="+mn-lt"/>
              </a:rPr>
              <a:t>AI</a:t>
            </a:r>
            <a:r>
              <a:rPr lang="zh-CN" altLang="en-US" sz="2400">
                <a:solidFill>
                  <a:schemeClr val="bg1"/>
                </a:solidFill>
                <a:ea typeface="+mn-lt"/>
                <a:cs typeface="+mn-lt"/>
              </a:rPr>
              <a:t>的使用</a:t>
            </a:r>
            <a:endParaRPr lang="zh-CN" altLang="en-US" sz="240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2015544991" name="TextBox 2015544990"/>
          <p:cNvSpPr txBox="1"/>
          <p:nvPr/>
        </p:nvSpPr>
        <p:spPr>
          <a:xfrm>
            <a:off x="2743200" y="352171"/>
            <a:ext cx="8778240" cy="466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1F1F"/>
                </a:solidFill>
                <a:ea typeface="+mn-lt"/>
                <a:cs typeface="+mn-lt"/>
              </a:rPr>
              <a:t>3.5 崩溃一致性：外部电源保护模式</a:t>
            </a:r>
            <a:endParaRPr sz="2800" b="1">
              <a:solidFill>
                <a:srgbClr val="1F1F1F"/>
              </a:solidFill>
              <a:ea typeface="+mn-lt"/>
              <a:cs typeface="+mn-lt"/>
            </a:endParaRPr>
          </a:p>
        </p:txBody>
      </p:sp>
      <p:sp>
        <p:nvSpPr>
          <p:cNvPr id="2015544994" name="Rounded Rectangle 2015544993"/>
          <p:cNvSpPr/>
          <p:nvPr/>
        </p:nvSpPr>
        <p:spPr>
          <a:xfrm>
            <a:off x="3115873" y="987552"/>
            <a:ext cx="3822191" cy="31821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15544995" name="TextBox 2015544994"/>
          <p:cNvSpPr txBox="1"/>
          <p:nvPr/>
        </p:nvSpPr>
        <p:spPr>
          <a:xfrm>
            <a:off x="3317041" y="1152144"/>
            <a:ext cx="342900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ED7D31"/>
                </a:solidFill>
                <a:latin typeface="等线" panose="02010600030101010101" charset="-122"/>
              </a:rPr>
              <a:t>标准JBD2模式</a:t>
            </a:r>
            <a:endParaRPr sz="1700" b="1">
              <a:solidFill>
                <a:srgbClr val="ED7D31"/>
              </a:solidFill>
              <a:latin typeface="等线" panose="02010600030101010101" charset="-122"/>
            </a:endParaRPr>
          </a:p>
        </p:txBody>
      </p:sp>
      <p:sp>
        <p:nvSpPr>
          <p:cNvPr id="2015544996" name="Rounded Rectangle 2015544995"/>
          <p:cNvSpPr/>
          <p:nvPr/>
        </p:nvSpPr>
        <p:spPr>
          <a:xfrm>
            <a:off x="3957121" y="1700784"/>
            <a:ext cx="2121408" cy="3108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4546A"/>
                </a:solidFill>
                <a:latin typeface="等线" panose="02010600030101010101" charset="-122"/>
              </a:rPr>
              <a:t>数据写回</a:t>
            </a:r>
            <a:endParaRPr sz="100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015544997" name="Down Arrow 2015544996"/>
          <p:cNvSpPr/>
          <p:nvPr/>
        </p:nvSpPr>
        <p:spPr>
          <a:xfrm>
            <a:off x="4889809" y="2020824"/>
            <a:ext cx="201168" cy="118872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5544998" name="Rounded Rectangle 2015544997"/>
          <p:cNvSpPr/>
          <p:nvPr/>
        </p:nvSpPr>
        <p:spPr>
          <a:xfrm>
            <a:off x="3957121" y="2148839"/>
            <a:ext cx="2121408" cy="3108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等线" panose="02010600030101010101" charset="-122"/>
              </a:rPr>
              <a:t>Descriptor</a:t>
            </a:r>
            <a:endParaRPr sz="1000" b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015544999" name="Down Arrow 2015544998"/>
          <p:cNvSpPr/>
          <p:nvPr/>
        </p:nvSpPr>
        <p:spPr>
          <a:xfrm>
            <a:off x="4889809" y="2468879"/>
            <a:ext cx="201168" cy="118872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5545000" name="Rounded Rectangle 2015544999"/>
          <p:cNvSpPr/>
          <p:nvPr/>
        </p:nvSpPr>
        <p:spPr>
          <a:xfrm>
            <a:off x="3957121" y="2596896"/>
            <a:ext cx="2121408" cy="3108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等线" panose="02010600030101010101" charset="-122"/>
              </a:rPr>
              <a:t>Metadata Payload</a:t>
            </a:r>
            <a:endParaRPr sz="1000" b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015545001" name="Down Arrow 2015545000"/>
          <p:cNvSpPr/>
          <p:nvPr/>
        </p:nvSpPr>
        <p:spPr>
          <a:xfrm>
            <a:off x="4889809" y="2916935"/>
            <a:ext cx="201168" cy="118872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5545002" name="Rounded Rectangle 2015545001"/>
          <p:cNvSpPr/>
          <p:nvPr/>
        </p:nvSpPr>
        <p:spPr>
          <a:xfrm>
            <a:off x="3957121" y="3044952"/>
            <a:ext cx="2121408" cy="3108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4546A"/>
                </a:solidFill>
                <a:latin typeface="等线" panose="02010600030101010101" charset="-122"/>
              </a:rPr>
              <a:t>Commit Block</a:t>
            </a:r>
            <a:endParaRPr sz="100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015545003" name="Down Arrow 2015545002"/>
          <p:cNvSpPr/>
          <p:nvPr/>
        </p:nvSpPr>
        <p:spPr>
          <a:xfrm>
            <a:off x="4889809" y="3364992"/>
            <a:ext cx="201168" cy="118872"/>
          </a:xfrm>
          <a:prstGeom prst="down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5545004" name="Rounded Rectangle 2015545003"/>
          <p:cNvSpPr/>
          <p:nvPr/>
        </p:nvSpPr>
        <p:spPr>
          <a:xfrm>
            <a:off x="3957121" y="3493007"/>
            <a:ext cx="2121408" cy="3108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等线" panose="02010600030101010101" charset="-122"/>
              </a:rPr>
              <a:t>Checkpoint</a:t>
            </a:r>
            <a:endParaRPr sz="1000" b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015545005" name="TextBox 2015545004"/>
          <p:cNvSpPr txBox="1"/>
          <p:nvPr/>
        </p:nvSpPr>
        <p:spPr>
          <a:xfrm>
            <a:off x="3371905" y="3877056"/>
            <a:ext cx="3319272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D7D31"/>
                </a:solidFill>
                <a:latin typeface="等线" panose="02010600030101010101" charset="-122"/>
              </a:rPr>
              <a:t>支持突然掉电后的日志恢复</a:t>
            </a:r>
            <a:endParaRPr sz="1000" b="1">
              <a:solidFill>
                <a:srgbClr val="ED7D31"/>
              </a:solidFill>
              <a:latin typeface="等线" panose="02010600030101010101" charset="-122"/>
            </a:endParaRPr>
          </a:p>
        </p:txBody>
      </p:sp>
      <p:sp>
        <p:nvSpPr>
          <p:cNvPr id="2015545006" name="Rounded Rectangle 2015545005"/>
          <p:cNvSpPr/>
          <p:nvPr/>
        </p:nvSpPr>
        <p:spPr>
          <a:xfrm>
            <a:off x="7431841" y="987552"/>
            <a:ext cx="3822191" cy="3182112"/>
          </a:xfrm>
          <a:prstGeom prst="roundRect">
            <a:avLst/>
          </a:prstGeom>
          <a:noFill/>
          <a:ln w="1397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15545007" name="TextBox 2015545006"/>
          <p:cNvSpPr txBox="1"/>
          <p:nvPr/>
        </p:nvSpPr>
        <p:spPr>
          <a:xfrm>
            <a:off x="7413553" y="1152144"/>
            <a:ext cx="3886200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472C4"/>
                </a:solidFill>
                <a:latin typeface="等线" panose="02010600030101010101" charset="-122"/>
              </a:rPr>
              <a:t>外部电源保护模式</a:t>
            </a:r>
            <a:endParaRPr sz="1700" b="1">
              <a:solidFill>
                <a:srgbClr val="4472C4"/>
              </a:solidFill>
              <a:latin typeface="等线" panose="02010600030101010101" charset="-122"/>
            </a:endParaRPr>
          </a:p>
        </p:txBody>
      </p:sp>
      <p:sp>
        <p:nvSpPr>
          <p:cNvPr id="2015545008" name="Rounded Rectangle 2015545007"/>
          <p:cNvSpPr/>
          <p:nvPr/>
        </p:nvSpPr>
        <p:spPr>
          <a:xfrm>
            <a:off x="8117641" y="1700784"/>
            <a:ext cx="2487168" cy="3108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4546A"/>
                </a:solidFill>
                <a:latin typeface="等线" panose="02010600030101010101" charset="-122"/>
              </a:rPr>
              <a:t>数据写回</a:t>
            </a:r>
            <a:endParaRPr sz="100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015545009" name="Down Arrow 2015545008"/>
          <p:cNvSpPr/>
          <p:nvPr/>
        </p:nvSpPr>
        <p:spPr>
          <a:xfrm>
            <a:off x="9251497" y="2020824"/>
            <a:ext cx="201168" cy="118872"/>
          </a:xfrm>
          <a:prstGeom prst="down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5545010" name="Rounded Rectangle 2015545009"/>
          <p:cNvSpPr/>
          <p:nvPr/>
        </p:nvSpPr>
        <p:spPr>
          <a:xfrm>
            <a:off x="8117641" y="2148839"/>
            <a:ext cx="2487168" cy="3108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等线" panose="02010600030101010101" charset="-122"/>
              </a:rPr>
              <a:t>日志与元数据保留在内存</a:t>
            </a:r>
            <a:endParaRPr sz="1000" b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015545011" name="Down Arrow 2015545010"/>
          <p:cNvSpPr/>
          <p:nvPr/>
        </p:nvSpPr>
        <p:spPr>
          <a:xfrm>
            <a:off x="9251497" y="2468879"/>
            <a:ext cx="201168" cy="118872"/>
          </a:xfrm>
          <a:prstGeom prst="down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5545012" name="Rounded Rectangle 2015545011"/>
          <p:cNvSpPr/>
          <p:nvPr/>
        </p:nvSpPr>
        <p:spPr>
          <a:xfrm>
            <a:off x="8117641" y="2596896"/>
            <a:ext cx="2487168" cy="3108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等线" panose="02010600030101010101" charset="-122"/>
              </a:rPr>
              <a:t>继续后续事务</a:t>
            </a:r>
            <a:endParaRPr sz="1000" b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015545013" name="Down Arrow 2015545012"/>
          <p:cNvSpPr/>
          <p:nvPr/>
        </p:nvSpPr>
        <p:spPr>
          <a:xfrm>
            <a:off x="9251497" y="2916935"/>
            <a:ext cx="201168" cy="118872"/>
          </a:xfrm>
          <a:prstGeom prst="down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5545014" name="Rounded Rectangle 2015545013"/>
          <p:cNvSpPr/>
          <p:nvPr/>
        </p:nvSpPr>
        <p:spPr>
          <a:xfrm>
            <a:off x="8117641" y="3044952"/>
            <a:ext cx="2487168" cy="3108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4546A"/>
                </a:solidFill>
                <a:latin typeface="等线" panose="02010600030101010101" charset="-122"/>
              </a:rPr>
              <a:t>受控同步 / 卸载</a:t>
            </a:r>
            <a:endParaRPr sz="100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015545015" name="Down Arrow 2015545014"/>
          <p:cNvSpPr/>
          <p:nvPr/>
        </p:nvSpPr>
        <p:spPr>
          <a:xfrm>
            <a:off x="9251497" y="3364992"/>
            <a:ext cx="201168" cy="118872"/>
          </a:xfrm>
          <a:prstGeom prst="down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5545016" name="Rounded Rectangle 2015545015"/>
          <p:cNvSpPr/>
          <p:nvPr/>
        </p:nvSpPr>
        <p:spPr>
          <a:xfrm>
            <a:off x="8117641" y="3493007"/>
            <a:ext cx="2487168" cy="3108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4546A"/>
                </a:solidFill>
                <a:latin typeface="等线" panose="02010600030101010101" charset="-122"/>
              </a:rPr>
              <a:t>统一写回元数据</a:t>
            </a:r>
            <a:endParaRPr sz="100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015545017" name="TextBox 2015545016"/>
          <p:cNvSpPr txBox="1"/>
          <p:nvPr/>
        </p:nvSpPr>
        <p:spPr>
          <a:xfrm>
            <a:off x="7450129" y="3877056"/>
            <a:ext cx="3803904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472C4"/>
                </a:solidFill>
                <a:latin typeface="等线" panose="02010600030101010101" charset="-122"/>
              </a:rPr>
              <a:t>减少运行期日志写入，受控卸载时完成元数据持久化</a:t>
            </a:r>
            <a:endParaRPr sz="900" b="1">
              <a:solidFill>
                <a:srgbClr val="4472C4"/>
              </a:solidFill>
              <a:latin typeface="等线" panose="02010600030101010101" charset="-122"/>
            </a:endParaRPr>
          </a:p>
        </p:txBody>
      </p:sp>
      <p:sp>
        <p:nvSpPr>
          <p:cNvPr id="2015545018" name="Rounded Rectangle 2015545017"/>
          <p:cNvSpPr/>
          <p:nvPr/>
        </p:nvSpPr>
        <p:spPr>
          <a:xfrm>
            <a:off x="2818359" y="5596127"/>
            <a:ext cx="2743200" cy="722376"/>
          </a:xfrm>
          <a:prstGeom prst="roundRect">
            <a:avLst/>
          </a:prstGeom>
          <a:solidFill>
            <a:srgbClr val="ED7D31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FFFFFF"/>
                </a:solidFill>
                <a:latin typeface="等线" panose="02010600030101010101" charset="-122"/>
              </a:rPr>
              <a:t>高频fsync写性能</a:t>
            </a:r>
            <a:r>
              <a:rPr b="1" dirty="0">
                <a:solidFill>
                  <a:srgbClr val="FFFFFF"/>
                </a:solidFill>
                <a:latin typeface="等线" panose="02010600030101010101" charset="-122"/>
              </a:rPr>
              <a:t>
提升80.59%–154.81%</a:t>
            </a:r>
            <a:endParaRPr b="1" dirty="0">
              <a:solidFill>
                <a:srgbClr val="FFFFFF"/>
              </a:solidFill>
              <a:latin typeface="等线" panose="02010600030101010101" charset="-122"/>
            </a:endParaRPr>
          </a:p>
        </p:txBody>
      </p:sp>
      <p:sp>
        <p:nvSpPr>
          <p:cNvPr id="2015545019" name="TextBox 2015545018"/>
          <p:cNvSpPr txBox="1"/>
          <p:nvPr/>
        </p:nvSpPr>
        <p:spPr>
          <a:xfrm>
            <a:off x="5817591" y="5666421"/>
            <a:ext cx="5376672" cy="59093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dirty="0">
                <a:solidFill>
                  <a:srgbClr val="000000"/>
                </a:solidFill>
                <a:ea typeface="+mn-lt"/>
                <a:cs typeface="+mn-lt"/>
              </a:rPr>
              <a:t>模式默认关闭。未配置可靠供电或不能保证受控卸载时，继续使用标准JBD2持久化语义。</a:t>
            </a:r>
            <a:endParaRPr dirty="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3" name="Rounded Rectangle 2015544992"/>
          <p:cNvSpPr/>
          <p:nvPr/>
        </p:nvSpPr>
        <p:spPr bwMode="auto">
          <a:xfrm>
            <a:off x="2818359" y="4570882"/>
            <a:ext cx="8394192" cy="658368"/>
          </a:xfrm>
          <a:prstGeom prst="roundRect">
            <a:avLst/>
          </a:prstGeom>
          <a:solidFill>
            <a:srgbClr val="FDEEE5"/>
          </a:solidFill>
          <a:ln w="1397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46304" rIns="146304" bIns="146304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44546A"/>
                </a:solidFill>
                <a:latin typeface="等线" panose="02010600030101010101" charset="-122"/>
              </a:rPr>
              <a:t>在具备UPS、机架级电池或设备掉电保护，并能保证受控同步与卸载的环境中，可以减少高频事务中的日志写入</a:t>
            </a:r>
            <a:r>
              <a:rPr b="1" dirty="0">
                <a:solidFill>
                  <a:srgbClr val="44546A"/>
                </a:solidFill>
                <a:latin typeface="等线" panose="02010600030101010101" charset="-122"/>
              </a:rPr>
              <a:t>。</a:t>
            </a:r>
            <a:endParaRPr b="1" dirty="0">
              <a:solidFill>
                <a:srgbClr val="44546A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240808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2112692788" name="文本框 7"/>
          <p:cNvSpPr txBox="1"/>
          <p:nvPr/>
        </p:nvSpPr>
        <p:spPr bwMode="auto">
          <a:xfrm>
            <a:off x="86359" y="1388370"/>
            <a:ext cx="2337158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597852480" name="文本框 10"/>
          <p:cNvSpPr txBox="1"/>
          <p:nvPr/>
        </p:nvSpPr>
        <p:spPr bwMode="auto">
          <a:xfrm>
            <a:off x="86359" y="4061588"/>
            <a:ext cx="2337158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073576419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58" y="5943600"/>
            <a:ext cx="914400" cy="914400"/>
          </a:xfrm>
          <a:prstGeom prst="rect">
            <a:avLst/>
          </a:prstGeom>
        </p:spPr>
      </p:pic>
      <p:pic>
        <p:nvPicPr>
          <p:cNvPr id="1566109520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6" y="311328"/>
            <a:ext cx="2256183" cy="414147"/>
          </a:xfrm>
          <a:prstGeom prst="rect">
            <a:avLst/>
          </a:prstGeom>
        </p:spPr>
      </p:pic>
      <p:sp>
        <p:nvSpPr>
          <p:cNvPr id="1583498255" name="文本框 29"/>
          <p:cNvSpPr txBox="1"/>
          <p:nvPr/>
        </p:nvSpPr>
        <p:spPr bwMode="auto">
          <a:xfrm>
            <a:off x="86054" y="5560146"/>
            <a:ext cx="2337158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21151296" name="文本框 8"/>
          <p:cNvSpPr txBox="1"/>
          <p:nvPr/>
        </p:nvSpPr>
        <p:spPr bwMode="auto">
          <a:xfrm>
            <a:off x="86359" y="2325586"/>
            <a:ext cx="2337158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708513245" name="组合 19"/>
          <p:cNvGrpSpPr/>
          <p:nvPr/>
        </p:nvGrpSpPr>
        <p:grpSpPr bwMode="auto">
          <a:xfrm>
            <a:off x="0" y="3110994"/>
            <a:ext cx="2737502" cy="761998"/>
            <a:chOff x="0" y="772158"/>
            <a:chExt cx="2737502" cy="761998"/>
          </a:xfrm>
        </p:grpSpPr>
        <p:sp>
          <p:nvSpPr>
            <p:cNvPr id="1452730168" name="矩形 14"/>
            <p:cNvSpPr/>
            <p:nvPr/>
          </p:nvSpPr>
          <p:spPr bwMode="auto">
            <a:xfrm>
              <a:off x="0" y="772158"/>
              <a:ext cx="2509520" cy="76199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28989341" name="等腰三角形 16"/>
            <p:cNvSpPr/>
            <p:nvPr/>
          </p:nvSpPr>
          <p:spPr bwMode="auto">
            <a:xfrm rot="5400000">
              <a:off x="2491281" y="1039167"/>
              <a:ext cx="264461" cy="227983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323957009" name="文本框 9"/>
          <p:cNvSpPr txBox="1"/>
          <p:nvPr/>
        </p:nvSpPr>
        <p:spPr bwMode="auto">
          <a:xfrm>
            <a:off x="85724" y="3199937"/>
            <a:ext cx="2337158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7000" y="4839335"/>
            <a:ext cx="2195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+mn-lt"/>
                <a:cs typeface="+mn-lt"/>
              </a:rPr>
              <a:t>AI</a:t>
            </a:r>
            <a:r>
              <a:rPr lang="zh-CN" altLang="en-US" sz="2400">
                <a:solidFill>
                  <a:schemeClr val="bg1"/>
                </a:solidFill>
                <a:ea typeface="+mn-lt"/>
                <a:cs typeface="+mn-lt"/>
              </a:rPr>
              <a:t>的使用</a:t>
            </a:r>
            <a:endParaRPr lang="zh-CN" altLang="en-US" sz="240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2112692789" name="TextBox 2112692788"/>
          <p:cNvSpPr txBox="1"/>
          <p:nvPr/>
        </p:nvSpPr>
        <p:spPr>
          <a:xfrm>
            <a:off x="2743200" y="352171"/>
            <a:ext cx="8778240" cy="466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1F1F"/>
                </a:solidFill>
                <a:ea typeface="+mn-lt"/>
                <a:cs typeface="+mn-lt"/>
              </a:rPr>
              <a:t>3.6 并发一致性：锁与事务协同</a:t>
            </a:r>
            <a:endParaRPr sz="2800" b="1">
              <a:solidFill>
                <a:srgbClr val="1F1F1F"/>
              </a:solidFill>
              <a:ea typeface="+mn-lt"/>
              <a:cs typeface="+mn-lt"/>
            </a:endParaRPr>
          </a:p>
        </p:txBody>
      </p:sp>
      <p:sp>
        <p:nvSpPr>
          <p:cNvPr id="2112692791" name="TextBox 2112692790"/>
          <p:cNvSpPr txBox="1"/>
          <p:nvPr/>
        </p:nvSpPr>
        <p:spPr>
          <a:xfrm>
            <a:off x="2816352" y="960120"/>
            <a:ext cx="3794760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70AD47"/>
                </a:solidFill>
                <a:latin typeface="等线" panose="02010600030101010101" charset="-122"/>
              </a:rPr>
              <a:t>运行时对象保护</a:t>
            </a:r>
            <a:endParaRPr b="1" dirty="0">
              <a:solidFill>
                <a:srgbClr val="70AD47"/>
              </a:solidFill>
              <a:latin typeface="等线" panose="02010600030101010101" charset="-122"/>
            </a:endParaRPr>
          </a:p>
        </p:txBody>
      </p:sp>
      <p:sp>
        <p:nvSpPr>
          <p:cNvPr id="2112692792" name="TextBox 2112692791"/>
          <p:cNvSpPr txBox="1"/>
          <p:nvPr/>
        </p:nvSpPr>
        <p:spPr>
          <a:xfrm>
            <a:off x="7379208" y="960120"/>
            <a:ext cx="3794760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70AD47"/>
                </a:solidFill>
                <a:latin typeface="等线" panose="02010600030101010101" charset="-122"/>
              </a:rPr>
              <a:t>持久化操作边界</a:t>
            </a:r>
            <a:endParaRPr b="1" dirty="0">
              <a:solidFill>
                <a:srgbClr val="70AD47"/>
              </a:solidFill>
              <a:latin typeface="等线" panose="02010600030101010101" charset="-122"/>
            </a:endParaRPr>
          </a:p>
        </p:txBody>
      </p:sp>
      <p:sp>
        <p:nvSpPr>
          <p:cNvPr id="2112692793" name="Rounded Rectangle 2112692792"/>
          <p:cNvSpPr/>
          <p:nvPr/>
        </p:nvSpPr>
        <p:spPr>
          <a:xfrm>
            <a:off x="2816352" y="1444752"/>
            <a:ext cx="3794760" cy="758952"/>
          </a:xfrm>
          <a:prstGeom prst="roundRect">
            <a:avLst/>
          </a:prstGeom>
          <a:solidFill>
            <a:srgbClr val="EBF4E5"/>
          </a:solidFill>
          <a:ln w="1397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4546A"/>
                </a:solidFill>
                <a:latin typeface="等线" panose="02010600030101010101" charset="-122"/>
              </a:rPr>
              <a:t>Namespace
目录 / 多inode稳定顺序加锁</a:t>
            </a:r>
            <a:endParaRPr sz="120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112692794" name="Down Arrow 2112692793"/>
          <p:cNvSpPr/>
          <p:nvPr/>
        </p:nvSpPr>
        <p:spPr>
          <a:xfrm>
            <a:off x="4517136" y="2231136"/>
            <a:ext cx="237744" cy="201168"/>
          </a:xfrm>
          <a:prstGeom prst="downArrow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112692795" name="Rounded Rectangle 2112692794"/>
          <p:cNvSpPr/>
          <p:nvPr/>
        </p:nvSpPr>
        <p:spPr>
          <a:xfrm>
            <a:off x="2816352" y="2523744"/>
            <a:ext cx="3794760" cy="758952"/>
          </a:xfrm>
          <a:prstGeom prst="roundRect">
            <a:avLst/>
          </a:prstGeom>
          <a:solidFill>
            <a:srgbClr val="EBF4E5"/>
          </a:solidFill>
          <a:ln w="1397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4546A"/>
                </a:solidFill>
                <a:latin typeface="等线" panose="02010600030101010101" charset="-122"/>
              </a:rPr>
              <a:t>Inode状态
size / timestamps / mapping</a:t>
            </a:r>
            <a:endParaRPr sz="120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112692796" name="Down Arrow 2112692795"/>
          <p:cNvSpPr/>
          <p:nvPr/>
        </p:nvSpPr>
        <p:spPr>
          <a:xfrm>
            <a:off x="4517136" y="3310127"/>
            <a:ext cx="237744" cy="201168"/>
          </a:xfrm>
          <a:prstGeom prst="downArrow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112692797" name="Rounded Rectangle 2112692796"/>
          <p:cNvSpPr/>
          <p:nvPr/>
        </p:nvSpPr>
        <p:spPr>
          <a:xfrm>
            <a:off x="2816352" y="3602736"/>
            <a:ext cx="3794760" cy="758952"/>
          </a:xfrm>
          <a:prstGeom prst="roundRect">
            <a:avLst/>
          </a:prstGeom>
          <a:solidFill>
            <a:srgbClr val="EBF4E5"/>
          </a:solidFill>
          <a:ln w="1397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4546A"/>
                </a:solidFill>
                <a:latin typeface="等线" panose="02010600030101010101" charset="-122"/>
              </a:rPr>
              <a:t>Extent与空间
ExtentTree / BlockGroup</a:t>
            </a:r>
            <a:endParaRPr sz="120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112692798" name="Rounded Rectangle 2112692797"/>
          <p:cNvSpPr/>
          <p:nvPr/>
        </p:nvSpPr>
        <p:spPr>
          <a:xfrm>
            <a:off x="7379208" y="1444752"/>
            <a:ext cx="3794760" cy="7589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4546A"/>
                </a:solidFill>
                <a:latin typeface="等线" panose="02010600030101010101" charset="-122"/>
              </a:rPr>
              <a:t>begin_op
预约日志空间</a:t>
            </a:r>
            <a:endParaRPr sz="120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112692799" name="Down Arrow 2112692798"/>
          <p:cNvSpPr/>
          <p:nvPr/>
        </p:nvSpPr>
        <p:spPr>
          <a:xfrm>
            <a:off x="9079992" y="2231136"/>
            <a:ext cx="237744" cy="201168"/>
          </a:xfrm>
          <a:prstGeom prst="downArrow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112692800" name="Rounded Rectangle 2112692799"/>
          <p:cNvSpPr/>
          <p:nvPr/>
        </p:nvSpPr>
        <p:spPr>
          <a:xfrm>
            <a:off x="7379208" y="2523744"/>
            <a:ext cx="3794760" cy="7589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4546A"/>
                </a:solidFill>
                <a:latin typeface="等线" panose="02010600030101010101" charset="-122"/>
              </a:rPr>
              <a:t>Handle
捕获元数据修改</a:t>
            </a:r>
            <a:endParaRPr sz="120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112692801" name="Down Arrow 2112692800"/>
          <p:cNvSpPr/>
          <p:nvPr/>
        </p:nvSpPr>
        <p:spPr>
          <a:xfrm>
            <a:off x="9079992" y="3310127"/>
            <a:ext cx="237744" cy="201168"/>
          </a:xfrm>
          <a:prstGeom prst="downArrow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2112692802" name="Rounded Rectangle 2112692801"/>
          <p:cNvSpPr/>
          <p:nvPr/>
        </p:nvSpPr>
        <p:spPr>
          <a:xfrm>
            <a:off x="7379208" y="3602736"/>
            <a:ext cx="3794760" cy="7589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4546A"/>
                </a:solidFill>
                <a:latin typeface="等线" panose="02010600030101010101" charset="-122"/>
              </a:rPr>
              <a:t>Transaction
提交与checkpoint</a:t>
            </a:r>
            <a:endParaRPr sz="120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2112692803" name="Rounded Rectangle 2112692802"/>
          <p:cNvSpPr/>
          <p:nvPr/>
        </p:nvSpPr>
        <p:spPr>
          <a:xfrm>
            <a:off x="2816352" y="4736592"/>
            <a:ext cx="8357616" cy="566928"/>
          </a:xfrm>
          <a:prstGeom prst="roundRect">
            <a:avLst/>
          </a:prstGeom>
          <a:solidFill>
            <a:srgbClr val="70AD47"/>
          </a:solidFill>
          <a:ln w="1397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FFFFFF"/>
                </a:solidFill>
                <a:latin typeface="等线" panose="02010600030101010101" charset="-122"/>
              </a:rPr>
              <a:t>对象锁保证运行时竞争安全，事务保证提交与恢复顺序</a:t>
            </a:r>
            <a:r>
              <a:rPr b="1" dirty="0">
                <a:solidFill>
                  <a:srgbClr val="FFFFFF"/>
                </a:solidFill>
                <a:latin typeface="等线" panose="02010600030101010101" charset="-122"/>
              </a:rPr>
              <a:t>。</a:t>
            </a:r>
            <a:endParaRPr b="1" dirty="0">
              <a:solidFill>
                <a:srgbClr val="FFFFFF"/>
              </a:solidFill>
              <a:latin typeface="等线" panose="02010600030101010101" charset="-122"/>
            </a:endParaRPr>
          </a:p>
        </p:txBody>
      </p:sp>
      <p:sp>
        <p:nvSpPr>
          <p:cNvPr id="2112692804" name="TextBox 2112692803"/>
          <p:cNvSpPr txBox="1"/>
          <p:nvPr/>
        </p:nvSpPr>
        <p:spPr>
          <a:xfrm>
            <a:off x="2926080" y="5468112"/>
            <a:ext cx="8138160" cy="89838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defRPr/>
            </a:pPr>
            <a:r>
              <a:rPr dirty="0">
                <a:solidFill>
                  <a:srgbClr val="000000"/>
                </a:solidFill>
                <a:ea typeface="+mn-lt"/>
                <a:cs typeface="+mn-lt"/>
              </a:rPr>
              <a:t>• </a:t>
            </a:r>
            <a:r>
              <a:rPr dirty="0" err="1">
                <a:solidFill>
                  <a:srgbClr val="000000"/>
                </a:solidFill>
                <a:ea typeface="+mn-lt"/>
                <a:cs typeface="+mn-lt"/>
              </a:rPr>
              <a:t>多inode操作按inode号稳定加锁，避免ABBA死锁</a:t>
            </a:r>
            <a:r>
              <a:rPr dirty="0">
                <a:solidFill>
                  <a:srgbClr val="000000"/>
                </a:solidFill>
                <a:ea typeface="+mn-lt"/>
                <a:cs typeface="+mn-lt"/>
              </a:rPr>
              <a:t>。</a:t>
            </a:r>
            <a:endParaRPr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ct val="105000"/>
              </a:lnSpc>
              <a:defRPr/>
            </a:pPr>
            <a:r>
              <a:rPr dirty="0">
                <a:solidFill>
                  <a:srgbClr val="000000"/>
                </a:solidFill>
                <a:ea typeface="+mn-lt"/>
                <a:cs typeface="+mn-lt"/>
              </a:rPr>
              <a:t>• Journal </a:t>
            </a:r>
            <a:r>
              <a:rPr dirty="0" err="1">
                <a:solidFill>
                  <a:srgbClr val="000000"/>
                </a:solidFill>
                <a:ea typeface="+mn-lt"/>
                <a:cs typeface="+mn-lt"/>
              </a:rPr>
              <a:t>state作为叶锁最后获取；提交线程不反向获取inode锁</a:t>
            </a:r>
            <a:r>
              <a:rPr dirty="0">
                <a:solidFill>
                  <a:srgbClr val="000000"/>
                </a:solidFill>
                <a:ea typeface="+mn-lt"/>
                <a:cs typeface="+mn-lt"/>
              </a:rPr>
              <a:t>。</a:t>
            </a:r>
            <a:endParaRPr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ct val="105000"/>
              </a:lnSpc>
              <a:defRPr/>
            </a:pPr>
            <a:r>
              <a:rPr dirty="0">
                <a:solidFill>
                  <a:srgbClr val="000000"/>
                </a:solidFill>
                <a:ea typeface="+mn-lt"/>
                <a:cs typeface="+mn-lt"/>
              </a:rPr>
              <a:t>• </a:t>
            </a:r>
            <a:r>
              <a:rPr dirty="0" err="1">
                <a:solidFill>
                  <a:srgbClr val="000000"/>
                </a:solidFill>
                <a:ea typeface="+mn-lt"/>
                <a:cs typeface="+mn-lt"/>
              </a:rPr>
              <a:t>EsCache与NodeCache的短临界区不跨设备I</a:t>
            </a:r>
            <a:r>
              <a:rPr dirty="0">
                <a:solidFill>
                  <a:srgbClr val="000000"/>
                </a:solidFill>
                <a:ea typeface="+mn-lt"/>
                <a:cs typeface="+mn-lt"/>
              </a:rPr>
              <a:t>/</a:t>
            </a:r>
            <a:r>
              <a:rPr dirty="0" err="1">
                <a:solidFill>
                  <a:srgbClr val="000000"/>
                </a:solidFill>
                <a:ea typeface="+mn-lt"/>
                <a:cs typeface="+mn-lt"/>
              </a:rPr>
              <a:t>O或日志操作</a:t>
            </a:r>
            <a:r>
              <a:rPr dirty="0">
                <a:solidFill>
                  <a:srgbClr val="000000"/>
                </a:solidFill>
                <a:ea typeface="+mn-lt"/>
                <a:cs typeface="+mn-lt"/>
              </a:rPr>
              <a:t>。</a:t>
            </a:r>
            <a:endParaRPr dirty="0">
              <a:solidFill>
                <a:srgbClr val="000000"/>
              </a:solidFill>
              <a:ea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4874123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355736908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009550999" name="文本框 10"/>
          <p:cNvSpPr txBox="1"/>
          <p:nvPr/>
        </p:nvSpPr>
        <p:spPr bwMode="auto">
          <a:xfrm>
            <a:off x="86359" y="4061588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861163761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59" y="5943600"/>
            <a:ext cx="914400" cy="914400"/>
          </a:xfrm>
          <a:prstGeom prst="rect">
            <a:avLst/>
          </a:prstGeom>
        </p:spPr>
      </p:pic>
      <p:pic>
        <p:nvPicPr>
          <p:cNvPr id="1006479473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7" y="311328"/>
            <a:ext cx="2256183" cy="414148"/>
          </a:xfrm>
          <a:prstGeom prst="rect">
            <a:avLst/>
          </a:prstGeom>
        </p:spPr>
      </p:pic>
      <p:sp>
        <p:nvSpPr>
          <p:cNvPr id="1945208993" name="文本框 29"/>
          <p:cNvSpPr txBox="1"/>
          <p:nvPr/>
        </p:nvSpPr>
        <p:spPr bwMode="auto">
          <a:xfrm>
            <a:off x="86054" y="556014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49822139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888484143" name="组合 19"/>
          <p:cNvGrpSpPr/>
          <p:nvPr/>
        </p:nvGrpSpPr>
        <p:grpSpPr bwMode="auto">
          <a:xfrm>
            <a:off x="0" y="3110994"/>
            <a:ext cx="2737504" cy="761999"/>
            <a:chOff x="0" y="772159"/>
            <a:chExt cx="2737504" cy="761999"/>
          </a:xfrm>
        </p:grpSpPr>
        <p:sp>
          <p:nvSpPr>
            <p:cNvPr id="1837278609" name="矩形 14"/>
            <p:cNvSpPr/>
            <p:nvPr/>
          </p:nvSpPr>
          <p:spPr bwMode="auto">
            <a:xfrm>
              <a:off x="0" y="772159"/>
              <a:ext cx="2509520" cy="76199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33103267" name="等腰三角形 16"/>
            <p:cNvSpPr/>
            <p:nvPr/>
          </p:nvSpPr>
          <p:spPr bwMode="auto">
            <a:xfrm rot="5400000">
              <a:off x="2491281" y="1039167"/>
              <a:ext cx="264462" cy="227984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844125684" name="文本框 9"/>
          <p:cNvSpPr txBox="1"/>
          <p:nvPr/>
        </p:nvSpPr>
        <p:spPr bwMode="auto">
          <a:xfrm>
            <a:off x="85724" y="3199937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7000" y="4839335"/>
            <a:ext cx="2195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+mn-lt"/>
                <a:cs typeface="+mn-lt"/>
              </a:rPr>
              <a:t>AI</a:t>
            </a:r>
            <a:r>
              <a:rPr lang="zh-CN" altLang="en-US" sz="2400">
                <a:solidFill>
                  <a:schemeClr val="bg1"/>
                </a:solidFill>
                <a:ea typeface="+mn-lt"/>
                <a:cs typeface="+mn-lt"/>
              </a:rPr>
              <a:t>的使用</a:t>
            </a:r>
            <a:endParaRPr lang="zh-CN" altLang="en-US" sz="240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1945208994" name="TextBox 1945208993"/>
          <p:cNvSpPr txBox="1"/>
          <p:nvPr/>
        </p:nvSpPr>
        <p:spPr>
          <a:xfrm>
            <a:off x="2743200" y="352171"/>
            <a:ext cx="8778240" cy="466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1F1F"/>
                </a:solidFill>
                <a:ea typeface="+mn-lt"/>
                <a:cs typeface="+mn-lt"/>
              </a:rPr>
              <a:t>3.7 并发一致性：稳定映射与设备I/O解耦</a:t>
            </a:r>
            <a:endParaRPr sz="2800" b="1">
              <a:solidFill>
                <a:srgbClr val="1F1F1F"/>
              </a:solidFill>
              <a:ea typeface="+mn-lt"/>
              <a:cs typeface="+mn-lt"/>
            </a:endParaRPr>
          </a:p>
        </p:txBody>
      </p:sp>
      <p:sp>
        <p:nvSpPr>
          <p:cNvPr id="1945208996" name="Rounded Rectangle 1945208995"/>
          <p:cNvSpPr/>
          <p:nvPr/>
        </p:nvSpPr>
        <p:spPr>
          <a:xfrm>
            <a:off x="2816352" y="941832"/>
            <a:ext cx="9025128" cy="719700"/>
          </a:xfrm>
          <a:prstGeom prst="roundRect">
            <a:avLst/>
          </a:prstGeom>
          <a:solidFill>
            <a:srgbClr val="EBF4E5"/>
          </a:solidFill>
          <a:ln w="1397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44546A"/>
                </a:solidFill>
                <a:latin typeface="等线" panose="02010600030101010101" charset="-122"/>
              </a:rPr>
              <a:t>当前实现保留inode写锁保护结构变化，通过分块、连续BIO和减少重复映射查询缩短关键路径</a:t>
            </a:r>
            <a:r>
              <a:rPr b="1" dirty="0">
                <a:solidFill>
                  <a:srgbClr val="44546A"/>
                </a:solidFill>
                <a:latin typeface="等线" panose="02010600030101010101" charset="-122"/>
              </a:rPr>
              <a:t>。</a:t>
            </a:r>
            <a:endParaRPr b="1" dirty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1945208997" name="Rounded Rectangle 1945208996"/>
          <p:cNvSpPr/>
          <p:nvPr/>
        </p:nvSpPr>
        <p:spPr>
          <a:xfrm>
            <a:off x="2816352" y="1856231"/>
            <a:ext cx="1143000" cy="868680"/>
          </a:xfrm>
          <a:prstGeom prst="roundRect">
            <a:avLst/>
          </a:prstGeom>
          <a:solidFill>
            <a:srgbClr val="ECF5E5"/>
          </a:solidFill>
          <a:ln w="1397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46A"/>
                </a:solidFill>
                <a:latin typeface="等线" panose="02010600030101010101" charset="-122"/>
              </a:rPr>
              <a:t>O_DIRECT写</a:t>
            </a:r>
            <a:endParaRPr sz="1100" b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1945208998" name="Right Arrow 1945208997"/>
          <p:cNvSpPr/>
          <p:nvPr/>
        </p:nvSpPr>
        <p:spPr>
          <a:xfrm>
            <a:off x="4014215" y="2203704"/>
            <a:ext cx="256032" cy="164592"/>
          </a:xfrm>
          <a:prstGeom prst="rightArrow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5208999" name="Rounded Rectangle 1945208998"/>
          <p:cNvSpPr/>
          <p:nvPr/>
        </p:nvSpPr>
        <p:spPr>
          <a:xfrm>
            <a:off x="4315968" y="1856231"/>
            <a:ext cx="1143000" cy="868680"/>
          </a:xfrm>
          <a:prstGeom prst="roundRect">
            <a:avLst/>
          </a:prstGeom>
          <a:solidFill>
            <a:srgbClr val="EBF4E5"/>
          </a:solidFill>
          <a:ln w="1397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4546A"/>
                </a:solidFill>
                <a:latin typeface="等线" panose="02010600030101010101" charset="-122"/>
              </a:rPr>
              <a:t>inode写锁</a:t>
            </a:r>
            <a:endParaRPr sz="110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1945209000" name="Right Arrow 1945208999"/>
          <p:cNvSpPr/>
          <p:nvPr/>
        </p:nvSpPr>
        <p:spPr>
          <a:xfrm>
            <a:off x="5513832" y="2203704"/>
            <a:ext cx="256032" cy="164592"/>
          </a:xfrm>
          <a:prstGeom prst="rightArrow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5209001" name="Rounded Rectangle 1945209000"/>
          <p:cNvSpPr/>
          <p:nvPr/>
        </p:nvSpPr>
        <p:spPr>
          <a:xfrm>
            <a:off x="5815584" y="1856231"/>
            <a:ext cx="1335024" cy="868680"/>
          </a:xfrm>
          <a:prstGeom prst="roundRect">
            <a:avLst/>
          </a:prstGeom>
          <a:solidFill>
            <a:srgbClr val="EBF4E5"/>
          </a:solidFill>
          <a:ln w="1397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46A"/>
                </a:solidFill>
                <a:latin typeface="等线" panose="02010600030101010101" charset="-122"/>
              </a:rPr>
              <a:t>排空并失效
重叠缓存</a:t>
            </a:r>
            <a:endParaRPr sz="1100" b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1945209002" name="Right Arrow 1945209001"/>
          <p:cNvSpPr/>
          <p:nvPr/>
        </p:nvSpPr>
        <p:spPr>
          <a:xfrm>
            <a:off x="7205472" y="2203704"/>
            <a:ext cx="256032" cy="164592"/>
          </a:xfrm>
          <a:prstGeom prst="rightArrow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5209003" name="Rounded Rectangle 1945209002"/>
          <p:cNvSpPr/>
          <p:nvPr/>
        </p:nvSpPr>
        <p:spPr>
          <a:xfrm>
            <a:off x="7507224" y="1856231"/>
            <a:ext cx="1335024" cy="868680"/>
          </a:xfrm>
          <a:prstGeom prst="roundRect">
            <a:avLst/>
          </a:prstGeom>
          <a:solidFill>
            <a:srgbClr val="EBF4E5"/>
          </a:solidFill>
          <a:ln w="1397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46A"/>
                </a:solidFill>
                <a:latin typeface="等线" panose="02010600030101010101" charset="-122"/>
              </a:rPr>
              <a:t>确认 / 建立
Extent映射</a:t>
            </a:r>
            <a:endParaRPr sz="1100" b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1945209004" name="Right Arrow 1945209003"/>
          <p:cNvSpPr/>
          <p:nvPr/>
        </p:nvSpPr>
        <p:spPr>
          <a:xfrm>
            <a:off x="8897112" y="2203704"/>
            <a:ext cx="256032" cy="164592"/>
          </a:xfrm>
          <a:prstGeom prst="rightArrow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5209005" name="Rounded Rectangle 1945209004"/>
          <p:cNvSpPr/>
          <p:nvPr/>
        </p:nvSpPr>
        <p:spPr>
          <a:xfrm>
            <a:off x="9198864" y="1856231"/>
            <a:ext cx="1143000" cy="868680"/>
          </a:xfrm>
          <a:prstGeom prst="roundRect">
            <a:avLst/>
          </a:prstGeom>
          <a:solidFill>
            <a:srgbClr val="ECF5E5"/>
          </a:solidFill>
          <a:ln w="1397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46A"/>
                </a:solidFill>
                <a:latin typeface="等线" panose="02010600030101010101" charset="-122"/>
              </a:rPr>
              <a:t>构造IoBatch</a:t>
            </a:r>
            <a:endParaRPr sz="1100" b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1945209006" name="Right Arrow 1945209005"/>
          <p:cNvSpPr/>
          <p:nvPr/>
        </p:nvSpPr>
        <p:spPr>
          <a:xfrm>
            <a:off x="10396728" y="2203704"/>
            <a:ext cx="256032" cy="164592"/>
          </a:xfrm>
          <a:prstGeom prst="rightArrow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5209007" name="Rounded Rectangle 1945209006"/>
          <p:cNvSpPr/>
          <p:nvPr/>
        </p:nvSpPr>
        <p:spPr>
          <a:xfrm>
            <a:off x="10698480" y="1856231"/>
            <a:ext cx="1143000" cy="868680"/>
          </a:xfrm>
          <a:prstGeom prst="roundRect">
            <a:avLst/>
          </a:prstGeom>
          <a:solidFill>
            <a:srgbClr val="ECF5E5"/>
          </a:solidFill>
          <a:ln w="1397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4546A"/>
                </a:solidFill>
                <a:latin typeface="等线" panose="02010600030101010101" charset="-122"/>
              </a:rPr>
              <a:t>分块提交
连续BIO</a:t>
            </a:r>
            <a:endParaRPr sz="110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1945209008" name="TextBox 1945209007"/>
          <p:cNvSpPr txBox="1"/>
          <p:nvPr/>
        </p:nvSpPr>
        <p:spPr>
          <a:xfrm>
            <a:off x="2905562" y="3218053"/>
            <a:ext cx="3840480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70AD47"/>
                </a:solidFill>
                <a:latin typeface="等线" panose="02010600030101010101" charset="-122"/>
              </a:rPr>
              <a:t>正确性约束</a:t>
            </a:r>
            <a:endParaRPr b="1" dirty="0">
              <a:solidFill>
                <a:srgbClr val="70AD47"/>
              </a:solidFill>
              <a:latin typeface="等线" panose="02010600030101010101" charset="-122"/>
            </a:endParaRPr>
          </a:p>
        </p:txBody>
      </p:sp>
      <p:sp>
        <p:nvSpPr>
          <p:cNvPr id="1945209009" name="TextBox 1945209008"/>
          <p:cNvSpPr txBox="1"/>
          <p:nvPr/>
        </p:nvSpPr>
        <p:spPr>
          <a:xfrm>
            <a:off x="2905562" y="3620389"/>
            <a:ext cx="3840480" cy="13174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/>
            </a:pPr>
            <a:r>
              <a:rPr dirty="0">
                <a:solidFill>
                  <a:srgbClr val="000000"/>
                </a:solidFill>
                <a:ea typeface="+mn-lt"/>
                <a:cs typeface="+mn-lt"/>
              </a:rPr>
              <a:t>• </a:t>
            </a:r>
            <a:r>
              <a:rPr dirty="0" err="1">
                <a:solidFill>
                  <a:srgbClr val="000000"/>
                </a:solidFill>
                <a:ea typeface="+mn-lt"/>
                <a:cs typeface="+mn-lt"/>
              </a:rPr>
              <a:t>缓存排空与Extent变化不能交叉</a:t>
            </a:r>
            <a:r>
              <a:rPr dirty="0">
                <a:solidFill>
                  <a:srgbClr val="000000"/>
                </a:solidFill>
                <a:ea typeface="+mn-lt"/>
                <a:cs typeface="+mn-lt"/>
              </a:rPr>
              <a:t>。</a:t>
            </a:r>
            <a:endParaRPr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ct val="105000"/>
              </a:lnSpc>
              <a:spcAft>
                <a:spcPts val="500"/>
              </a:spcAft>
              <a:defRPr/>
            </a:pPr>
            <a:r>
              <a:rPr dirty="0">
                <a:solidFill>
                  <a:srgbClr val="000000"/>
                </a:solidFill>
                <a:ea typeface="+mn-lt"/>
                <a:cs typeface="+mn-lt"/>
              </a:rPr>
              <a:t>• </a:t>
            </a:r>
            <a:r>
              <a:rPr dirty="0" err="1">
                <a:solidFill>
                  <a:srgbClr val="000000"/>
                </a:solidFill>
                <a:ea typeface="+mn-lt"/>
                <a:cs typeface="+mn-lt"/>
              </a:rPr>
              <a:t>数据I</a:t>
            </a:r>
            <a:r>
              <a:rPr dirty="0">
                <a:solidFill>
                  <a:srgbClr val="000000"/>
                </a:solidFill>
                <a:ea typeface="+mn-lt"/>
                <a:cs typeface="+mn-lt"/>
              </a:rPr>
              <a:t>/</a:t>
            </a:r>
            <a:r>
              <a:rPr dirty="0" err="1">
                <a:solidFill>
                  <a:srgbClr val="000000"/>
                </a:solidFill>
                <a:ea typeface="+mn-lt"/>
                <a:cs typeface="+mn-lt"/>
              </a:rPr>
              <a:t>O成功后才把unwritten转换为written</a:t>
            </a:r>
            <a:r>
              <a:rPr dirty="0">
                <a:solidFill>
                  <a:srgbClr val="000000"/>
                </a:solidFill>
                <a:ea typeface="+mn-lt"/>
                <a:cs typeface="+mn-lt"/>
              </a:rPr>
              <a:t>。</a:t>
            </a:r>
            <a:endParaRPr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ct val="105000"/>
              </a:lnSpc>
              <a:spcAft>
                <a:spcPts val="500"/>
              </a:spcAft>
              <a:defRPr/>
            </a:pPr>
            <a:r>
              <a:rPr dirty="0">
                <a:solidFill>
                  <a:srgbClr val="000000"/>
                </a:solidFill>
                <a:ea typeface="+mn-lt"/>
                <a:cs typeface="+mn-lt"/>
              </a:rPr>
              <a:t>• </a:t>
            </a:r>
            <a:r>
              <a:rPr dirty="0" err="1">
                <a:solidFill>
                  <a:srgbClr val="000000"/>
                </a:solidFill>
                <a:ea typeface="+mn-lt"/>
                <a:cs typeface="+mn-lt"/>
              </a:rPr>
              <a:t>失败分块不被计入已完成写入</a:t>
            </a:r>
            <a:r>
              <a:rPr dirty="0">
                <a:solidFill>
                  <a:srgbClr val="000000"/>
                </a:solidFill>
                <a:ea typeface="+mn-lt"/>
                <a:cs typeface="+mn-lt"/>
              </a:rPr>
              <a:t>。</a:t>
            </a:r>
            <a:endParaRPr dirty="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1945209010" name="TextBox 1945209009"/>
          <p:cNvSpPr txBox="1"/>
          <p:nvPr/>
        </p:nvSpPr>
        <p:spPr>
          <a:xfrm>
            <a:off x="7404410" y="3218053"/>
            <a:ext cx="3840480" cy="3139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70AD47"/>
                </a:solidFill>
                <a:latin typeface="等线" panose="02010600030101010101" charset="-122"/>
              </a:rPr>
              <a:t>性能处理</a:t>
            </a:r>
            <a:endParaRPr b="1" dirty="0">
              <a:solidFill>
                <a:srgbClr val="70AD47"/>
              </a:solidFill>
              <a:latin typeface="等线" panose="02010600030101010101" charset="-122"/>
            </a:endParaRPr>
          </a:p>
        </p:txBody>
      </p:sp>
      <p:sp>
        <p:nvSpPr>
          <p:cNvPr id="1945209011" name="TextBox 1945209010"/>
          <p:cNvSpPr txBox="1"/>
          <p:nvPr/>
        </p:nvSpPr>
        <p:spPr>
          <a:xfrm>
            <a:off x="7404410" y="3620389"/>
            <a:ext cx="3969834" cy="131747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/>
            </a:pPr>
            <a:r>
              <a:rPr dirty="0">
                <a:solidFill>
                  <a:srgbClr val="000000"/>
                </a:solidFill>
                <a:ea typeface="+mn-lt"/>
                <a:cs typeface="+mn-lt"/>
              </a:rPr>
              <a:t>• </a:t>
            </a:r>
            <a:r>
              <a:rPr dirty="0" err="1">
                <a:solidFill>
                  <a:srgbClr val="000000"/>
                </a:solidFill>
                <a:ea typeface="+mn-lt"/>
                <a:cs typeface="+mn-lt"/>
              </a:rPr>
              <a:t>每个分块限制内存和日志credit使用</a:t>
            </a:r>
            <a:r>
              <a:rPr dirty="0">
                <a:solidFill>
                  <a:srgbClr val="000000"/>
                </a:solidFill>
                <a:ea typeface="+mn-lt"/>
                <a:cs typeface="+mn-lt"/>
              </a:rPr>
              <a:t>。</a:t>
            </a:r>
            <a:endParaRPr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ct val="105000"/>
              </a:lnSpc>
              <a:spcAft>
                <a:spcPts val="500"/>
              </a:spcAft>
              <a:defRPr/>
            </a:pPr>
            <a:r>
              <a:rPr dirty="0">
                <a:solidFill>
                  <a:srgbClr val="000000"/>
                </a:solidFill>
                <a:ea typeface="+mn-lt"/>
                <a:cs typeface="+mn-lt"/>
              </a:rPr>
              <a:t>• </a:t>
            </a:r>
            <a:r>
              <a:rPr dirty="0" err="1">
                <a:solidFill>
                  <a:srgbClr val="000000"/>
                </a:solidFill>
                <a:ea typeface="+mn-lt"/>
                <a:cs typeface="+mn-lt"/>
              </a:rPr>
              <a:t>连续区间组合为IoBatch后提交BIO</a:t>
            </a:r>
            <a:r>
              <a:rPr dirty="0">
                <a:solidFill>
                  <a:srgbClr val="000000"/>
                </a:solidFill>
                <a:ea typeface="+mn-lt"/>
                <a:cs typeface="+mn-lt"/>
              </a:rPr>
              <a:t>。</a:t>
            </a:r>
            <a:endParaRPr dirty="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lnSpc>
                <a:spcPct val="105000"/>
              </a:lnSpc>
              <a:spcAft>
                <a:spcPts val="500"/>
              </a:spcAft>
              <a:defRPr/>
            </a:pPr>
            <a:r>
              <a:rPr dirty="0">
                <a:solidFill>
                  <a:srgbClr val="000000"/>
                </a:solidFill>
                <a:ea typeface="+mn-lt"/>
                <a:cs typeface="+mn-lt"/>
              </a:rPr>
              <a:t>• </a:t>
            </a:r>
            <a:r>
              <a:rPr dirty="0" err="1">
                <a:solidFill>
                  <a:srgbClr val="000000"/>
                </a:solidFill>
                <a:ea typeface="+mn-lt"/>
                <a:cs typeface="+mn-lt"/>
              </a:rPr>
              <a:t>映射查询优先利用已经确认的缓存事实</a:t>
            </a:r>
            <a:r>
              <a:rPr dirty="0">
                <a:solidFill>
                  <a:srgbClr val="000000"/>
                </a:solidFill>
                <a:ea typeface="+mn-lt"/>
                <a:cs typeface="+mn-lt"/>
              </a:rPr>
              <a:t>。</a:t>
            </a:r>
            <a:endParaRPr dirty="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1945209012" name="Rounded Rectangle 1945209011"/>
          <p:cNvSpPr/>
          <p:nvPr/>
        </p:nvSpPr>
        <p:spPr>
          <a:xfrm>
            <a:off x="2801632" y="5585329"/>
            <a:ext cx="9025128" cy="6217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44546A"/>
                </a:solidFill>
                <a:latin typeface="等线" panose="02010600030101010101" charset="-122"/>
              </a:rPr>
              <a:t>不放宽结构锁，通过减少锁内重复工作提高同文件并发路径效率</a:t>
            </a:r>
            <a:r>
              <a:rPr b="1" dirty="0">
                <a:solidFill>
                  <a:srgbClr val="44546A"/>
                </a:solidFill>
                <a:latin typeface="等线" panose="02010600030101010101" charset="-122"/>
              </a:rPr>
              <a:t>。</a:t>
            </a:r>
            <a:endParaRPr b="1" dirty="0">
              <a:solidFill>
                <a:srgbClr val="44546A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Rounded Rectangle 1626379809"/>
          <p:cNvSpPr/>
          <p:nvPr/>
        </p:nvSpPr>
        <p:spPr bwMode="auto">
          <a:xfrm>
            <a:off x="8664448" y="2385425"/>
            <a:ext cx="2642889" cy="2560320"/>
          </a:xfrm>
          <a:prstGeom prst="roundRect">
            <a:avLst/>
          </a:prstGeom>
          <a:solidFill>
            <a:srgbClr val="E9F1FA"/>
          </a:solidFill>
          <a:ln w="13970">
            <a:solidFill>
              <a:srgbClr val="CF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63837762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524356471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57307130" name="文本框 10"/>
          <p:cNvSpPr txBox="1"/>
          <p:nvPr/>
        </p:nvSpPr>
        <p:spPr bwMode="auto">
          <a:xfrm>
            <a:off x="86359" y="4061588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626305493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59" y="5943600"/>
            <a:ext cx="914400" cy="914400"/>
          </a:xfrm>
          <a:prstGeom prst="rect">
            <a:avLst/>
          </a:prstGeom>
        </p:spPr>
      </p:pic>
      <p:pic>
        <p:nvPicPr>
          <p:cNvPr id="130311474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7" y="311328"/>
            <a:ext cx="2256183" cy="414148"/>
          </a:xfrm>
          <a:prstGeom prst="rect">
            <a:avLst/>
          </a:prstGeom>
        </p:spPr>
      </p:pic>
      <p:sp>
        <p:nvSpPr>
          <p:cNvPr id="281972800" name="文本框 29"/>
          <p:cNvSpPr txBox="1"/>
          <p:nvPr/>
        </p:nvSpPr>
        <p:spPr bwMode="auto">
          <a:xfrm>
            <a:off x="86054" y="556014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75259860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76486761" name="组合 19"/>
          <p:cNvGrpSpPr/>
          <p:nvPr/>
        </p:nvGrpSpPr>
        <p:grpSpPr bwMode="auto">
          <a:xfrm>
            <a:off x="0" y="3110994"/>
            <a:ext cx="2737504" cy="761999"/>
            <a:chOff x="0" y="772159"/>
            <a:chExt cx="2737504" cy="761999"/>
          </a:xfrm>
        </p:grpSpPr>
        <p:sp>
          <p:nvSpPr>
            <p:cNvPr id="487115468" name="矩形 14"/>
            <p:cNvSpPr/>
            <p:nvPr/>
          </p:nvSpPr>
          <p:spPr bwMode="auto">
            <a:xfrm>
              <a:off x="0" y="772159"/>
              <a:ext cx="2509520" cy="76199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626379798" name="等腰三角形 16"/>
            <p:cNvSpPr/>
            <p:nvPr/>
          </p:nvSpPr>
          <p:spPr bwMode="auto">
            <a:xfrm rot="5400000">
              <a:off x="2491281" y="1039167"/>
              <a:ext cx="264462" cy="227984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874188046" name="文本框 9"/>
          <p:cNvSpPr txBox="1"/>
          <p:nvPr/>
        </p:nvSpPr>
        <p:spPr bwMode="auto">
          <a:xfrm>
            <a:off x="85724" y="3199937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7000" y="4839335"/>
            <a:ext cx="2195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+mn-lt"/>
                <a:cs typeface="+mn-lt"/>
              </a:rPr>
              <a:t>AI</a:t>
            </a:r>
            <a:r>
              <a:rPr lang="zh-CN" altLang="en-US" sz="2400">
                <a:solidFill>
                  <a:schemeClr val="bg1"/>
                </a:solidFill>
                <a:ea typeface="+mn-lt"/>
                <a:cs typeface="+mn-lt"/>
              </a:rPr>
              <a:t>的使用</a:t>
            </a:r>
            <a:endParaRPr lang="zh-CN" altLang="en-US" sz="240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1626379799" name="TextBox 1626379798"/>
          <p:cNvSpPr txBox="1"/>
          <p:nvPr/>
        </p:nvSpPr>
        <p:spPr>
          <a:xfrm>
            <a:off x="2743200" y="352171"/>
            <a:ext cx="8778240" cy="466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1F1F"/>
                </a:solidFill>
                <a:ea typeface="+mn-lt"/>
                <a:cs typeface="+mn-lt"/>
              </a:rPr>
              <a:t>3.8 缓存一致性：三条I/O路径协同</a:t>
            </a:r>
            <a:endParaRPr sz="2800" b="1">
              <a:solidFill>
                <a:srgbClr val="1F1F1F"/>
              </a:solidFill>
              <a:ea typeface="+mn-lt"/>
              <a:cs typeface="+mn-lt"/>
            </a:endParaRPr>
          </a:p>
        </p:txBody>
      </p:sp>
      <p:sp>
        <p:nvSpPr>
          <p:cNvPr id="1626379801" name="Rounded Rectangle 1626379800"/>
          <p:cNvSpPr/>
          <p:nvPr/>
        </p:nvSpPr>
        <p:spPr>
          <a:xfrm>
            <a:off x="5984748" y="1845929"/>
            <a:ext cx="2057400" cy="914400"/>
          </a:xfrm>
          <a:prstGeom prst="roundRect">
            <a:avLst/>
          </a:prstGeom>
          <a:solidFill>
            <a:srgbClr val="E9F0FA"/>
          </a:solidFill>
          <a:ln w="1397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4546A"/>
                </a:solidFill>
                <a:latin typeface="等线" panose="02010600030101010101" charset="-122"/>
              </a:rPr>
              <a:t>PageCache
共享缓存页</a:t>
            </a:r>
            <a:endParaRPr sz="160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1626379802" name="Rounded Rectangle 1626379801"/>
          <p:cNvSpPr/>
          <p:nvPr/>
        </p:nvSpPr>
        <p:spPr>
          <a:xfrm>
            <a:off x="3104388" y="1160129"/>
            <a:ext cx="1627632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4546A"/>
                </a:solidFill>
                <a:latin typeface="等线" panose="02010600030101010101" charset="-122"/>
              </a:rPr>
              <a:t>Buffered I/O</a:t>
            </a:r>
            <a:endParaRPr sz="130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1626379803" name="Rounded Rectangle 1626379802"/>
          <p:cNvSpPr/>
          <p:nvPr/>
        </p:nvSpPr>
        <p:spPr>
          <a:xfrm>
            <a:off x="9267444" y="1160129"/>
            <a:ext cx="1627632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4546A"/>
                </a:solidFill>
                <a:latin typeface="等线" panose="02010600030101010101" charset="-122"/>
              </a:rPr>
              <a:t>mmap / Vmo</a:t>
            </a:r>
            <a:endParaRPr sz="130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cxnSp>
        <p:nvCxnSpPr>
          <p:cNvPr id="1626379804" name="Connector 1626379803"/>
          <p:cNvCxnSpPr/>
          <p:nvPr/>
        </p:nvCxnSpPr>
        <p:spPr>
          <a:xfrm>
            <a:off x="4732020" y="1489313"/>
            <a:ext cx="1252728" cy="676656"/>
          </a:xfrm>
          <a:prstGeom prst="line">
            <a:avLst/>
          </a:prstGeom>
          <a:ln w="2286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6379805" name="Connector 1626379804"/>
          <p:cNvCxnSpPr/>
          <p:nvPr/>
        </p:nvCxnSpPr>
        <p:spPr>
          <a:xfrm flipH="1">
            <a:off x="8042148" y="1489313"/>
            <a:ext cx="1225296" cy="676656"/>
          </a:xfrm>
          <a:prstGeom prst="line">
            <a:avLst/>
          </a:prstGeom>
          <a:ln w="2286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6379806" name="Down Arrow 1626379805"/>
          <p:cNvSpPr/>
          <p:nvPr/>
        </p:nvSpPr>
        <p:spPr>
          <a:xfrm>
            <a:off x="6890004" y="2870057"/>
            <a:ext cx="256032" cy="237744"/>
          </a:xfrm>
          <a:prstGeom prst="down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6379807" name="Rounded Rectangle 1626379806"/>
          <p:cNvSpPr/>
          <p:nvPr/>
        </p:nvSpPr>
        <p:spPr>
          <a:xfrm>
            <a:off x="5984748" y="3208385"/>
            <a:ext cx="205740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4546A"/>
                </a:solidFill>
                <a:latin typeface="等线" panose="02010600030101010101" charset="-122"/>
              </a:rPr>
              <a:t>ExtentManager</a:t>
            </a:r>
            <a:endParaRPr sz="140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1626379808" name="Down Arrow 1626379807"/>
          <p:cNvSpPr/>
          <p:nvPr/>
        </p:nvSpPr>
        <p:spPr>
          <a:xfrm>
            <a:off x="6890004" y="3985625"/>
            <a:ext cx="256032" cy="237744"/>
          </a:xfrm>
          <a:prstGeom prst="down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6379809" name="Rounded Rectangle 1626379808"/>
          <p:cNvSpPr/>
          <p:nvPr/>
        </p:nvSpPr>
        <p:spPr>
          <a:xfrm>
            <a:off x="5984748" y="4333097"/>
            <a:ext cx="205740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4546A"/>
                </a:solidFill>
                <a:latin typeface="等线" panose="02010600030101010101" charset="-122"/>
              </a:rPr>
              <a:t>BIO / Device</a:t>
            </a:r>
            <a:endParaRPr sz="140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1626379810" name="Rounded Rectangle 1626379809"/>
          <p:cNvSpPr/>
          <p:nvPr/>
        </p:nvSpPr>
        <p:spPr>
          <a:xfrm>
            <a:off x="3104387" y="2385425"/>
            <a:ext cx="2450591" cy="2560320"/>
          </a:xfrm>
          <a:prstGeom prst="roundRect">
            <a:avLst/>
          </a:prstGeom>
          <a:solidFill>
            <a:srgbClr val="F5F7FA"/>
          </a:solidFill>
          <a:ln w="13970">
            <a:solidFill>
              <a:srgbClr val="CF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26379811" name="TextBox 1626379810"/>
          <p:cNvSpPr txBox="1"/>
          <p:nvPr/>
        </p:nvSpPr>
        <p:spPr>
          <a:xfrm>
            <a:off x="3396996" y="2588129"/>
            <a:ext cx="1874519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4472C4"/>
                </a:solidFill>
                <a:latin typeface="等线" panose="02010600030101010101" charset="-122"/>
              </a:rPr>
              <a:t>Buffered / </a:t>
            </a:r>
            <a:r>
              <a:rPr b="1" dirty="0" err="1">
                <a:solidFill>
                  <a:srgbClr val="4472C4"/>
                </a:solidFill>
                <a:latin typeface="等线" panose="02010600030101010101" charset="-122"/>
              </a:rPr>
              <a:t>mmap</a:t>
            </a:r>
            <a:endParaRPr b="1" dirty="0">
              <a:solidFill>
                <a:srgbClr val="4472C4"/>
              </a:solidFill>
              <a:latin typeface="等线" panose="02010600030101010101" charset="-122"/>
            </a:endParaRPr>
          </a:p>
        </p:txBody>
      </p:sp>
      <p:sp>
        <p:nvSpPr>
          <p:cNvPr id="1626379812" name="TextBox 1626379811"/>
          <p:cNvSpPr txBox="1"/>
          <p:nvPr/>
        </p:nvSpPr>
        <p:spPr>
          <a:xfrm>
            <a:off x="3332989" y="3271246"/>
            <a:ext cx="1828800" cy="106029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0" dirty="0">
                <a:solidFill>
                  <a:srgbClr val="44546A"/>
                </a:solidFill>
                <a:latin typeface="等线" panose="02010600030101010101" charset="-122"/>
              </a:rPr>
              <a:t>• </a:t>
            </a:r>
            <a:r>
              <a:rPr sz="1400" b="0" dirty="0" err="1">
                <a:solidFill>
                  <a:srgbClr val="44546A"/>
                </a:solidFill>
                <a:latin typeface="等线" panose="02010600030101010101" charset="-122"/>
              </a:rPr>
              <a:t>共享PageCache页面</a:t>
            </a:r>
            <a:endParaRPr sz="1400" b="0" dirty="0">
              <a:solidFill>
                <a:srgbClr val="44546A"/>
              </a:solidFill>
              <a:latin typeface="等线" panose="02010600030101010101" charset="-122"/>
            </a:endParaRP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0" dirty="0">
                <a:solidFill>
                  <a:srgbClr val="44546A"/>
                </a:solidFill>
                <a:latin typeface="等线" panose="02010600030101010101" charset="-122"/>
              </a:rPr>
              <a:t>• </a:t>
            </a:r>
            <a:r>
              <a:rPr sz="1400" b="0" dirty="0" err="1">
                <a:solidFill>
                  <a:srgbClr val="44546A"/>
                </a:solidFill>
                <a:latin typeface="等线" panose="02010600030101010101" charset="-122"/>
              </a:rPr>
              <a:t>修改后进入脏页跟踪</a:t>
            </a:r>
            <a:endParaRPr sz="1400" b="0" dirty="0">
              <a:solidFill>
                <a:srgbClr val="44546A"/>
              </a:solidFill>
              <a:latin typeface="等线" panose="02010600030101010101" charset="-122"/>
            </a:endParaRP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0" dirty="0">
                <a:solidFill>
                  <a:srgbClr val="44546A"/>
                </a:solidFill>
                <a:latin typeface="等线" panose="02010600030101010101" charset="-122"/>
              </a:rPr>
              <a:t>• </a:t>
            </a:r>
            <a:r>
              <a:rPr sz="1400" b="0" dirty="0" err="1">
                <a:solidFill>
                  <a:srgbClr val="44546A"/>
                </a:solidFill>
                <a:latin typeface="等线" panose="02010600030101010101" charset="-122"/>
              </a:rPr>
              <a:t>fsync或写回阶段批量落盘</a:t>
            </a:r>
            <a:endParaRPr sz="1400" b="0" dirty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1626379814" name="TextBox 1626379813"/>
          <p:cNvSpPr txBox="1"/>
          <p:nvPr/>
        </p:nvSpPr>
        <p:spPr>
          <a:xfrm>
            <a:off x="8716588" y="2570454"/>
            <a:ext cx="2450592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4472C4"/>
                </a:solidFill>
                <a:latin typeface="等线" panose="02010600030101010101" charset="-122"/>
              </a:rPr>
              <a:t>O_DIRECT一致性协议</a:t>
            </a:r>
            <a:endParaRPr b="1" dirty="0">
              <a:solidFill>
                <a:srgbClr val="4472C4"/>
              </a:solidFill>
              <a:latin typeface="等线" panose="02010600030101010101" charset="-122"/>
            </a:endParaRPr>
          </a:p>
        </p:txBody>
      </p:sp>
      <p:sp>
        <p:nvSpPr>
          <p:cNvPr id="1626379815" name="TextBox 1626379814"/>
          <p:cNvSpPr txBox="1"/>
          <p:nvPr/>
        </p:nvSpPr>
        <p:spPr>
          <a:xfrm>
            <a:off x="8907831" y="2988929"/>
            <a:ext cx="2068105" cy="176458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400" b="0" dirty="0">
                <a:solidFill>
                  <a:srgbClr val="44546A"/>
                </a:solidFill>
                <a:latin typeface="等线" panose="02010600030101010101" charset="-122"/>
              </a:rPr>
              <a:t>• </a:t>
            </a:r>
            <a:r>
              <a:rPr sz="1400" b="0" dirty="0" err="1">
                <a:solidFill>
                  <a:srgbClr val="44546A"/>
                </a:solidFill>
                <a:latin typeface="等线" panose="02010600030101010101" charset="-122"/>
              </a:rPr>
              <a:t>直接读前写回重叠脏页</a:t>
            </a:r>
            <a:endParaRPr sz="1400" b="0" dirty="0">
              <a:solidFill>
                <a:srgbClr val="44546A"/>
              </a:solidFill>
              <a:latin typeface="等线" panose="02010600030101010101" charset="-122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400" b="0" dirty="0">
                <a:solidFill>
                  <a:srgbClr val="44546A"/>
                </a:solidFill>
                <a:latin typeface="等线" panose="02010600030101010101" charset="-122"/>
              </a:rPr>
              <a:t>• </a:t>
            </a:r>
            <a:r>
              <a:rPr sz="1400" b="0" dirty="0" err="1">
                <a:solidFill>
                  <a:srgbClr val="44546A"/>
                </a:solidFill>
                <a:latin typeface="等线" panose="02010600030101010101" charset="-122"/>
              </a:rPr>
              <a:t>直接写前排空并失效重叠页</a:t>
            </a:r>
            <a:endParaRPr sz="1400" b="0" dirty="0">
              <a:solidFill>
                <a:srgbClr val="44546A"/>
              </a:solidFill>
              <a:latin typeface="等线" panose="02010600030101010101" charset="-122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400" b="0" dirty="0">
                <a:solidFill>
                  <a:srgbClr val="44546A"/>
                </a:solidFill>
                <a:latin typeface="等线" panose="02010600030101010101" charset="-122"/>
              </a:rPr>
              <a:t>• </a:t>
            </a:r>
            <a:r>
              <a:rPr sz="1400" b="0" dirty="0" err="1">
                <a:solidFill>
                  <a:srgbClr val="44546A"/>
                </a:solidFill>
                <a:latin typeface="等线" panose="02010600030101010101" charset="-122"/>
              </a:rPr>
              <a:t>随后通过ExtentManager提交BIO</a:t>
            </a:r>
            <a:endParaRPr sz="1400" b="0" dirty="0">
              <a:solidFill>
                <a:srgbClr val="44546A"/>
              </a:solidFill>
              <a:latin typeface="等线" panose="02010600030101010101" charset="-122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400" b="0" dirty="0">
                <a:solidFill>
                  <a:srgbClr val="44546A"/>
                </a:solidFill>
                <a:latin typeface="等线" panose="02010600030101010101" charset="-122"/>
              </a:rPr>
              <a:t>• </a:t>
            </a:r>
            <a:r>
              <a:rPr sz="1400" b="0" dirty="0" err="1">
                <a:solidFill>
                  <a:srgbClr val="44546A"/>
                </a:solidFill>
                <a:latin typeface="等线" panose="02010600030101010101" charset="-122"/>
              </a:rPr>
              <a:t>不传输PageCache中的数据</a:t>
            </a:r>
            <a:endParaRPr sz="1400" b="0" dirty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1626379816" name="Rounded Rectangle 1626379815"/>
          <p:cNvSpPr/>
          <p:nvPr/>
        </p:nvSpPr>
        <p:spPr>
          <a:xfrm>
            <a:off x="2816352" y="5641848"/>
            <a:ext cx="8394192" cy="603504"/>
          </a:xfrm>
          <a:prstGeom prst="roundRect">
            <a:avLst/>
          </a:prstGeom>
          <a:solidFill>
            <a:srgbClr val="4472C4"/>
          </a:solidFill>
          <a:ln w="1397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 err="1">
                <a:solidFill>
                  <a:srgbClr val="FFFFFF"/>
                </a:solidFill>
                <a:latin typeface="等线" panose="02010600030101010101" charset="-122"/>
              </a:rPr>
              <a:t>三条路径的数据传输方式不同，但共享同一套Extent映射和缓存可见性规则</a:t>
            </a:r>
            <a:r>
              <a:rPr sz="1400" b="1" dirty="0">
                <a:solidFill>
                  <a:srgbClr val="FFFFFF"/>
                </a:solidFill>
                <a:latin typeface="等线" panose="02010600030101010101" charset="-122"/>
              </a:rPr>
              <a:t>。</a:t>
            </a:r>
            <a:endParaRPr sz="1400" b="1" dirty="0">
              <a:solidFill>
                <a:srgbClr val="FFFFFF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7763" name="矩形 11"/>
          <p:cNvSpPr/>
          <p:nvPr/>
        </p:nvSpPr>
        <p:spPr bwMode="auto">
          <a:xfrm>
            <a:off x="-1524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592301375" name="文本框 7"/>
          <p:cNvSpPr txBox="1"/>
          <p:nvPr/>
        </p:nvSpPr>
        <p:spPr bwMode="auto">
          <a:xfrm>
            <a:off x="86359" y="1388370"/>
            <a:ext cx="2337157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443147360" name="组合 19"/>
          <p:cNvGrpSpPr/>
          <p:nvPr/>
        </p:nvGrpSpPr>
        <p:grpSpPr bwMode="auto">
          <a:xfrm>
            <a:off x="0" y="3062808"/>
            <a:ext cx="2737501" cy="761997"/>
            <a:chOff x="0" y="772157"/>
            <a:chExt cx="2737501" cy="761997"/>
          </a:xfrm>
        </p:grpSpPr>
        <p:sp>
          <p:nvSpPr>
            <p:cNvPr id="1732252265" name="矩形 14"/>
            <p:cNvSpPr/>
            <p:nvPr/>
          </p:nvSpPr>
          <p:spPr bwMode="auto">
            <a:xfrm>
              <a:off x="0" y="772157"/>
              <a:ext cx="2509520" cy="761997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934851169" name="等腰三角形 16"/>
            <p:cNvSpPr/>
            <p:nvPr/>
          </p:nvSpPr>
          <p:spPr bwMode="auto">
            <a:xfrm rot="5400000">
              <a:off x="2491281" y="1039167"/>
              <a:ext cx="264460" cy="227982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985448973" name="文本框 9"/>
          <p:cNvSpPr txBox="1"/>
          <p:nvPr/>
        </p:nvSpPr>
        <p:spPr bwMode="auto">
          <a:xfrm>
            <a:off x="85724" y="3199937"/>
            <a:ext cx="2337157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477294970" name="文本框 10"/>
          <p:cNvSpPr txBox="1"/>
          <p:nvPr/>
        </p:nvSpPr>
        <p:spPr bwMode="auto">
          <a:xfrm>
            <a:off x="86359" y="4061588"/>
            <a:ext cx="2337157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934851170" name="Picture 193485116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557" y="5943600"/>
            <a:ext cx="914400" cy="914400"/>
          </a:xfrm>
          <a:prstGeom prst="rect">
            <a:avLst/>
          </a:prstGeom>
        </p:spPr>
      </p:pic>
      <p:pic>
        <p:nvPicPr>
          <p:cNvPr id="1934851171" name="Picture 193485117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66" y="311328"/>
            <a:ext cx="2256183" cy="414146"/>
          </a:xfrm>
          <a:prstGeom prst="rect">
            <a:avLst/>
          </a:prstGeom>
        </p:spPr>
      </p:pic>
      <p:sp>
        <p:nvSpPr>
          <p:cNvPr id="1921854245" name="文本框 29"/>
          <p:cNvSpPr txBox="1"/>
          <p:nvPr/>
        </p:nvSpPr>
        <p:spPr bwMode="auto">
          <a:xfrm>
            <a:off x="86054" y="5560146"/>
            <a:ext cx="2337157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24594420" name="文本框 8"/>
          <p:cNvSpPr txBox="1"/>
          <p:nvPr/>
        </p:nvSpPr>
        <p:spPr bwMode="auto">
          <a:xfrm>
            <a:off x="86359" y="2325586"/>
            <a:ext cx="2337157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7000" y="4839335"/>
            <a:ext cx="2195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+mn-lt"/>
                <a:cs typeface="+mn-lt"/>
              </a:rPr>
              <a:t>AI</a:t>
            </a:r>
            <a:r>
              <a:rPr lang="zh-CN" altLang="en-US" sz="2400">
                <a:solidFill>
                  <a:schemeClr val="bg1"/>
                </a:solidFill>
                <a:ea typeface="+mn-lt"/>
                <a:cs typeface="+mn-lt"/>
              </a:rPr>
              <a:t>的使用</a:t>
            </a:r>
            <a:endParaRPr lang="zh-CN" altLang="en-US" sz="240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1934851172" name="TextBox 1934851171"/>
          <p:cNvSpPr txBox="1"/>
          <p:nvPr/>
        </p:nvSpPr>
        <p:spPr>
          <a:xfrm>
            <a:off x="2743200" y="352171"/>
            <a:ext cx="8778240" cy="4660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F1F1F"/>
                </a:solidFill>
                <a:ea typeface="+mn-lt"/>
                <a:cs typeface="+mn-lt"/>
              </a:rPr>
              <a:t>3.9 缓存一致性：映射缓存更新规则</a:t>
            </a:r>
            <a:endParaRPr sz="2800" b="1">
              <a:solidFill>
                <a:srgbClr val="1F1F1F"/>
              </a:solidFill>
              <a:ea typeface="+mn-lt"/>
              <a:cs typeface="+mn-lt"/>
            </a:endParaRPr>
          </a:p>
        </p:txBody>
      </p:sp>
      <p:sp>
        <p:nvSpPr>
          <p:cNvPr id="1934851174" name="Rounded Rectangle 1934851173"/>
          <p:cNvSpPr/>
          <p:nvPr/>
        </p:nvSpPr>
        <p:spPr>
          <a:xfrm>
            <a:off x="5819598" y="1437514"/>
            <a:ext cx="2194560" cy="841248"/>
          </a:xfrm>
          <a:prstGeom prst="roundRect">
            <a:avLst/>
          </a:prstGeom>
          <a:solidFill>
            <a:srgbClr val="4472C4"/>
          </a:solidFill>
          <a:ln w="1397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等线" panose="02010600030101010101" charset="-122"/>
              </a:rPr>
              <a:t>ExtentTree
权威映射与结构状态</a:t>
            </a:r>
            <a:endParaRPr sz="1500" b="1">
              <a:solidFill>
                <a:srgbClr val="FFFFFF"/>
              </a:solidFill>
              <a:latin typeface="等线" panose="02010600030101010101" charset="-122"/>
            </a:endParaRPr>
          </a:p>
        </p:txBody>
      </p:sp>
      <p:sp>
        <p:nvSpPr>
          <p:cNvPr id="1934851175" name="Rounded Rectangle 1934851174"/>
          <p:cNvSpPr/>
          <p:nvPr/>
        </p:nvSpPr>
        <p:spPr>
          <a:xfrm>
            <a:off x="2984958" y="1784986"/>
            <a:ext cx="2304288" cy="2148840"/>
          </a:xfrm>
          <a:prstGeom prst="roundRect">
            <a:avLst/>
          </a:prstGeom>
          <a:solidFill>
            <a:srgbClr val="E9F0FA"/>
          </a:solidFill>
          <a:ln w="1397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34851176" name="TextBox 1934851175"/>
          <p:cNvSpPr txBox="1"/>
          <p:nvPr/>
        </p:nvSpPr>
        <p:spPr>
          <a:xfrm>
            <a:off x="3186126" y="1975492"/>
            <a:ext cx="1901952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4472C4"/>
                </a:solidFill>
                <a:latin typeface="等线" panose="02010600030101010101" charset="-122"/>
              </a:rPr>
              <a:t>EsCache</a:t>
            </a:r>
            <a:endParaRPr b="1" dirty="0">
              <a:solidFill>
                <a:srgbClr val="4472C4"/>
              </a:solidFill>
              <a:latin typeface="等线" panose="02010600030101010101" charset="-122"/>
            </a:endParaRPr>
          </a:p>
        </p:txBody>
      </p:sp>
      <p:sp>
        <p:nvSpPr>
          <p:cNvPr id="1934851177" name="TextBox 1934851176"/>
          <p:cNvSpPr txBox="1"/>
          <p:nvPr/>
        </p:nvSpPr>
        <p:spPr>
          <a:xfrm>
            <a:off x="3204414" y="2397634"/>
            <a:ext cx="1874519" cy="126893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 b="0" dirty="0">
                <a:solidFill>
                  <a:srgbClr val="44546A"/>
                </a:solidFill>
                <a:latin typeface="等线" panose="02010600030101010101" charset="-122"/>
              </a:rPr>
              <a:t>• </a:t>
            </a:r>
            <a:r>
              <a:rPr sz="1200" b="0" dirty="0" err="1">
                <a:solidFill>
                  <a:srgbClr val="44546A"/>
                </a:solidFill>
                <a:latin typeface="等线" panose="02010600030101010101" charset="-122"/>
              </a:rPr>
              <a:t>缓存映射语义事实</a:t>
            </a:r>
            <a:endParaRPr sz="1200" b="0" dirty="0">
              <a:solidFill>
                <a:srgbClr val="44546A"/>
              </a:solidFill>
              <a:latin typeface="等线" panose="02010600030101010101" charset="-122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 b="0" dirty="0">
                <a:solidFill>
                  <a:srgbClr val="44546A"/>
                </a:solidFill>
                <a:latin typeface="等线" panose="02010600030101010101" charset="-122"/>
              </a:rPr>
              <a:t>• </a:t>
            </a:r>
            <a:r>
              <a:rPr sz="1200" b="0" dirty="0" err="1">
                <a:solidFill>
                  <a:srgbClr val="44546A"/>
                </a:solidFill>
                <a:latin typeface="等线" panose="02010600030101010101" charset="-122"/>
              </a:rPr>
              <a:t>AllWritten</a:t>
            </a:r>
            <a:r>
              <a:rPr sz="1200" b="0" dirty="0">
                <a:solidFill>
                  <a:srgbClr val="44546A"/>
                </a:solidFill>
                <a:latin typeface="等线" panose="02010600030101010101" charset="-122"/>
              </a:rPr>
              <a:t> / </a:t>
            </a:r>
            <a:r>
              <a:rPr sz="1200" b="0" dirty="0" err="1">
                <a:solidFill>
                  <a:srgbClr val="44546A"/>
                </a:solidFill>
                <a:latin typeface="等线" panose="02010600030101010101" charset="-122"/>
              </a:rPr>
              <a:t>AllMapped</a:t>
            </a:r>
            <a:r>
              <a:rPr sz="1200" b="0" dirty="0">
                <a:solidFill>
                  <a:srgbClr val="44546A"/>
                </a:solidFill>
                <a:latin typeface="等线" panose="02010600030101010101" charset="-122"/>
              </a:rPr>
              <a:t> / Unknown</a:t>
            </a:r>
            <a:endParaRPr sz="1200" b="0" dirty="0">
              <a:solidFill>
                <a:srgbClr val="44546A"/>
              </a:solidFill>
              <a:latin typeface="等线" panose="02010600030101010101" charset="-122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 b="0" dirty="0">
                <a:solidFill>
                  <a:srgbClr val="44546A"/>
                </a:solidFill>
                <a:latin typeface="等线" panose="02010600030101010101" charset="-122"/>
              </a:rPr>
              <a:t>• </a:t>
            </a:r>
            <a:r>
              <a:rPr sz="1200" b="0" dirty="0" err="1">
                <a:solidFill>
                  <a:srgbClr val="44546A"/>
                </a:solidFill>
                <a:latin typeface="等线" panose="02010600030101010101" charset="-122"/>
              </a:rPr>
              <a:t>Unknown时重新遍历ExtentTree</a:t>
            </a:r>
            <a:endParaRPr sz="1200" b="0" dirty="0">
              <a:solidFill>
                <a:srgbClr val="44546A"/>
              </a:solidFill>
              <a:latin typeface="等线" panose="02010600030101010101" charset="-122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 b="0" dirty="0">
                <a:solidFill>
                  <a:srgbClr val="44546A"/>
                </a:solidFill>
                <a:latin typeface="等线" panose="02010600030101010101" charset="-122"/>
              </a:rPr>
              <a:t>• </a:t>
            </a:r>
            <a:r>
              <a:rPr sz="1200" b="0" dirty="0" err="1">
                <a:solidFill>
                  <a:srgbClr val="44546A"/>
                </a:solidFill>
                <a:latin typeface="等线" panose="02010600030101010101" charset="-122"/>
              </a:rPr>
              <a:t>不缓存空洞结论</a:t>
            </a:r>
            <a:endParaRPr sz="1200" b="0" dirty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1934851178" name="Rounded Rectangle 1934851177"/>
          <p:cNvSpPr/>
          <p:nvPr/>
        </p:nvSpPr>
        <p:spPr>
          <a:xfrm>
            <a:off x="8530336" y="1784986"/>
            <a:ext cx="2304288" cy="2148840"/>
          </a:xfrm>
          <a:prstGeom prst="roundRect">
            <a:avLst/>
          </a:prstGeom>
          <a:solidFill>
            <a:srgbClr val="E9F0FA"/>
          </a:solidFill>
          <a:ln w="1397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934851179" name="TextBox 1934851178"/>
          <p:cNvSpPr txBox="1"/>
          <p:nvPr/>
        </p:nvSpPr>
        <p:spPr>
          <a:xfrm>
            <a:off x="8484616" y="1975492"/>
            <a:ext cx="2395728" cy="3139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4472C4"/>
                </a:solidFill>
                <a:latin typeface="等线" panose="02010600030101010101" charset="-122"/>
              </a:rPr>
              <a:t>NodeCache</a:t>
            </a:r>
            <a:endParaRPr b="1" dirty="0">
              <a:solidFill>
                <a:srgbClr val="4472C4"/>
              </a:solidFill>
              <a:latin typeface="等线" panose="02010600030101010101" charset="-122"/>
            </a:endParaRPr>
          </a:p>
        </p:txBody>
      </p:sp>
      <p:sp>
        <p:nvSpPr>
          <p:cNvPr id="1934851180" name="TextBox 1934851179"/>
          <p:cNvSpPr txBox="1"/>
          <p:nvPr/>
        </p:nvSpPr>
        <p:spPr>
          <a:xfrm>
            <a:off x="8749792" y="2407713"/>
            <a:ext cx="1975104" cy="1268937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 b="0" dirty="0">
                <a:solidFill>
                  <a:srgbClr val="44546A"/>
                </a:solidFill>
                <a:latin typeface="等线" panose="02010600030101010101" charset="-122"/>
              </a:rPr>
              <a:t>• </a:t>
            </a:r>
            <a:r>
              <a:rPr sz="1200" b="0" dirty="0" err="1">
                <a:solidFill>
                  <a:srgbClr val="44546A"/>
                </a:solidFill>
                <a:latin typeface="等线" panose="02010600030101010101" charset="-122"/>
              </a:rPr>
              <a:t>缓存热点外部Extent节点</a:t>
            </a:r>
            <a:endParaRPr sz="1200" b="0" dirty="0">
              <a:solidFill>
                <a:srgbClr val="44546A"/>
              </a:solidFill>
              <a:latin typeface="等线" panose="02010600030101010101" charset="-122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 b="0" dirty="0">
                <a:solidFill>
                  <a:srgbClr val="44546A"/>
                </a:solidFill>
                <a:latin typeface="等线" panose="02010600030101010101" charset="-122"/>
              </a:rPr>
              <a:t>• </a:t>
            </a:r>
            <a:r>
              <a:rPr sz="1200" b="0" dirty="0" err="1">
                <a:solidFill>
                  <a:srgbClr val="44546A"/>
                </a:solidFill>
                <a:latin typeface="等线" panose="02010600030101010101" charset="-122"/>
              </a:rPr>
              <a:t>节点写回后刷新</a:t>
            </a:r>
            <a:endParaRPr sz="1200" b="0" dirty="0">
              <a:solidFill>
                <a:srgbClr val="44546A"/>
              </a:solidFill>
              <a:latin typeface="等线" panose="02010600030101010101" charset="-122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 b="0" dirty="0">
                <a:solidFill>
                  <a:srgbClr val="44546A"/>
                </a:solidFill>
                <a:latin typeface="等线" panose="02010600030101010101" charset="-122"/>
              </a:rPr>
              <a:t>• </a:t>
            </a:r>
            <a:r>
              <a:rPr sz="1200" b="0" dirty="0" err="1">
                <a:solidFill>
                  <a:srgbClr val="44546A"/>
                </a:solidFill>
                <a:latin typeface="等线" panose="02010600030101010101" charset="-122"/>
              </a:rPr>
              <a:t>释放、复用或整树重建时清空</a:t>
            </a:r>
            <a:endParaRPr sz="1200" b="0" dirty="0">
              <a:solidFill>
                <a:srgbClr val="44546A"/>
              </a:solidFill>
              <a:latin typeface="等线" panose="02010600030101010101" charset="-122"/>
            </a:endParaRPr>
          </a:p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1200" b="0" dirty="0">
                <a:solidFill>
                  <a:srgbClr val="44546A"/>
                </a:solidFill>
                <a:latin typeface="等线" panose="02010600030101010101" charset="-122"/>
              </a:rPr>
              <a:t>• </a:t>
            </a:r>
            <a:r>
              <a:rPr sz="1200" b="0" dirty="0" err="1">
                <a:solidFill>
                  <a:srgbClr val="44546A"/>
                </a:solidFill>
                <a:latin typeface="等线" panose="02010600030101010101" charset="-122"/>
              </a:rPr>
              <a:t>不替代ExtentTree判断映射真值</a:t>
            </a:r>
            <a:endParaRPr sz="1200" b="0" dirty="0">
              <a:solidFill>
                <a:srgbClr val="44546A"/>
              </a:solidFill>
              <a:latin typeface="等线" panose="02010600030101010101" charset="-122"/>
            </a:endParaRPr>
          </a:p>
        </p:txBody>
      </p:sp>
      <p:cxnSp>
        <p:nvCxnSpPr>
          <p:cNvPr id="1934851181" name="Connector 1934851180"/>
          <p:cNvCxnSpPr/>
          <p:nvPr/>
        </p:nvCxnSpPr>
        <p:spPr>
          <a:xfrm flipV="1">
            <a:off x="5289246" y="1867282"/>
            <a:ext cx="530352" cy="731520"/>
          </a:xfrm>
          <a:prstGeom prst="line">
            <a:avLst/>
          </a:prstGeom>
          <a:ln w="2286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4851183" name="Rounded Rectangle 1934851182"/>
          <p:cNvSpPr/>
          <p:nvPr/>
        </p:nvSpPr>
        <p:spPr>
          <a:xfrm>
            <a:off x="2816352" y="4786123"/>
            <a:ext cx="1755648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4546A"/>
                </a:solidFill>
                <a:latin typeface="等线" panose="02010600030101010101" charset="-122"/>
              </a:rPr>
              <a:t>失效对应EsCache范围</a:t>
            </a:r>
            <a:endParaRPr sz="110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1934851184" name="Right Arrow 1934851183"/>
          <p:cNvSpPr/>
          <p:nvPr/>
        </p:nvSpPr>
        <p:spPr>
          <a:xfrm>
            <a:off x="4663440" y="5051299"/>
            <a:ext cx="301752" cy="164592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934851185" name="Rounded Rectangle 1934851184"/>
          <p:cNvSpPr/>
          <p:nvPr/>
        </p:nvSpPr>
        <p:spPr>
          <a:xfrm>
            <a:off x="5029200" y="4786123"/>
            <a:ext cx="1755648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4546A"/>
                </a:solidFill>
                <a:latin typeface="等线" panose="02010600030101010101" charset="-122"/>
              </a:rPr>
              <a:t>原地编辑ExtentTree</a:t>
            </a:r>
            <a:endParaRPr sz="110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1934851186" name="Right Arrow 1934851185"/>
          <p:cNvSpPr/>
          <p:nvPr/>
        </p:nvSpPr>
        <p:spPr>
          <a:xfrm>
            <a:off x="6876288" y="5051299"/>
            <a:ext cx="301752" cy="164592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934851187" name="Rounded Rectangle 1934851186"/>
          <p:cNvSpPr/>
          <p:nvPr/>
        </p:nvSpPr>
        <p:spPr>
          <a:xfrm>
            <a:off x="7242048" y="4786123"/>
            <a:ext cx="1755648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4546A"/>
                </a:solidFill>
                <a:latin typeface="等线" panose="02010600030101010101" charset="-122"/>
              </a:rPr>
              <a:t>记录重新确认的映射事实</a:t>
            </a:r>
            <a:endParaRPr sz="110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1934851188" name="Right Arrow 1934851187"/>
          <p:cNvSpPr/>
          <p:nvPr/>
        </p:nvSpPr>
        <p:spPr>
          <a:xfrm>
            <a:off x="9089136" y="5051299"/>
            <a:ext cx="301752" cy="164592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/>
          </a:p>
        </p:txBody>
      </p:sp>
      <p:sp>
        <p:nvSpPr>
          <p:cNvPr id="1934851189" name="Rounded Rectangle 1934851188"/>
          <p:cNvSpPr/>
          <p:nvPr/>
        </p:nvSpPr>
        <p:spPr>
          <a:xfrm>
            <a:off x="9454896" y="4786123"/>
            <a:ext cx="1755648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4546A"/>
                </a:solidFill>
                <a:latin typeface="等线" panose="02010600030101010101" charset="-122"/>
              </a:rPr>
              <a:t>刷新或清理NodeCache</a:t>
            </a:r>
            <a:endParaRPr sz="1100" b="1">
              <a:solidFill>
                <a:srgbClr val="44546A"/>
              </a:solidFill>
              <a:latin typeface="等线" panose="02010600030101010101" charset="-122"/>
            </a:endParaRPr>
          </a:p>
        </p:txBody>
      </p:sp>
      <p:sp>
        <p:nvSpPr>
          <p:cNvPr id="1934851191" name="TextBox 1934851190"/>
          <p:cNvSpPr txBox="1"/>
          <p:nvPr/>
        </p:nvSpPr>
        <p:spPr>
          <a:xfrm>
            <a:off x="2816352" y="6050431"/>
            <a:ext cx="8394192" cy="31669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  <a:defRPr/>
            </a:pPr>
            <a:r>
              <a:rPr dirty="0" err="1">
                <a:solidFill>
                  <a:srgbClr val="000000"/>
                </a:solidFill>
                <a:ea typeface="+mn-lt"/>
                <a:cs typeface="+mn-lt"/>
              </a:rPr>
              <a:t>过度失效只会退回慢路径；错误命中可能绕过块分配或unwritten转换</a:t>
            </a:r>
            <a:r>
              <a:rPr dirty="0">
                <a:solidFill>
                  <a:srgbClr val="000000"/>
                </a:solidFill>
                <a:ea typeface="+mn-lt"/>
                <a:cs typeface="+mn-lt"/>
              </a:rPr>
              <a:t>。</a:t>
            </a:r>
            <a:endParaRPr dirty="0">
              <a:solidFill>
                <a:srgbClr val="000000"/>
              </a:solidFill>
              <a:ea typeface="+mn-lt"/>
              <a:cs typeface="+mn-lt"/>
            </a:endParaRPr>
          </a:p>
        </p:txBody>
      </p:sp>
      <p:cxnSp>
        <p:nvCxnSpPr>
          <p:cNvPr id="3" name="Connector 1934851180"/>
          <p:cNvCxnSpPr>
            <a:endCxn id="1934851174" idx="3"/>
          </p:cNvCxnSpPr>
          <p:nvPr/>
        </p:nvCxnSpPr>
        <p:spPr>
          <a:xfrm flipH="1" flipV="1">
            <a:off x="8014158" y="1858138"/>
            <a:ext cx="516178" cy="740664"/>
          </a:xfrm>
          <a:prstGeom prst="line">
            <a:avLst/>
          </a:prstGeom>
          <a:ln w="2286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9714870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6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40288066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46091319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60" y="5943600"/>
            <a:ext cx="914400" cy="914400"/>
          </a:xfrm>
          <a:prstGeom prst="rect">
            <a:avLst/>
          </a:prstGeom>
        </p:spPr>
      </p:pic>
      <p:pic>
        <p:nvPicPr>
          <p:cNvPr id="22723069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8" y="311328"/>
            <a:ext cx="2256183" cy="414149"/>
          </a:xfrm>
          <a:prstGeom prst="rect">
            <a:avLst/>
          </a:prstGeom>
        </p:spPr>
      </p:pic>
      <p:sp>
        <p:nvSpPr>
          <p:cNvPr id="328523372" name="文本框 29"/>
          <p:cNvSpPr txBox="1"/>
          <p:nvPr/>
        </p:nvSpPr>
        <p:spPr bwMode="auto">
          <a:xfrm>
            <a:off x="86054" y="556014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718044819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783100674" name="文本框 9"/>
          <p:cNvSpPr txBox="1"/>
          <p:nvPr/>
        </p:nvSpPr>
        <p:spPr bwMode="auto">
          <a:xfrm>
            <a:off x="85724" y="3199937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2033536174" name="组合 19"/>
          <p:cNvGrpSpPr/>
          <p:nvPr/>
        </p:nvGrpSpPr>
        <p:grpSpPr bwMode="auto">
          <a:xfrm>
            <a:off x="0" y="4047533"/>
            <a:ext cx="2737505" cy="762000"/>
            <a:chOff x="0" y="772160"/>
            <a:chExt cx="2737505" cy="762000"/>
          </a:xfrm>
        </p:grpSpPr>
        <p:sp>
          <p:nvSpPr>
            <p:cNvPr id="15" name="矩形 14"/>
            <p:cNvSpPr/>
            <p:nvPr/>
          </p:nvSpPr>
          <p:spPr bwMode="auto">
            <a:xfrm>
              <a:off x="0" y="772160"/>
              <a:ext cx="2509520" cy="76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" name="等腰三角形 16"/>
            <p:cNvSpPr/>
            <p:nvPr/>
          </p:nvSpPr>
          <p:spPr bwMode="auto">
            <a:xfrm rot="5400000">
              <a:off x="2491281" y="1039167"/>
              <a:ext cx="264463" cy="227985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732381386" name="文本框 10"/>
          <p:cNvSpPr txBox="1"/>
          <p:nvPr/>
        </p:nvSpPr>
        <p:spPr bwMode="auto">
          <a:xfrm>
            <a:off x="86359" y="4061588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652933288" name="TextBox 43"/>
          <p:cNvSpPr txBox="1"/>
          <p:nvPr/>
        </p:nvSpPr>
        <p:spPr bwMode="auto">
          <a:xfrm>
            <a:off x="2743200" y="347471"/>
            <a:ext cx="8779679" cy="56515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800" b="1">
                <a:solidFill>
                  <a:schemeClr val="tx1"/>
                </a:solidFill>
                <a:ea typeface="+mn-lt"/>
                <a:cs typeface="+mn-lt"/>
              </a:rPr>
              <a:t>4.1 测试环境</a:t>
            </a:r>
            <a:endParaRPr sz="2800" b="1">
              <a:solidFill>
                <a:schemeClr val="tx1"/>
              </a:solidFill>
              <a:ea typeface="+mn-lt"/>
              <a:cs typeface="+mn-lt"/>
            </a:endParaRPr>
          </a:p>
        </p:txBody>
      </p:sp>
      <p:sp>
        <p:nvSpPr>
          <p:cNvPr id="416082897" name="文本框 1"/>
          <p:cNvSpPr txBox="1"/>
          <p:nvPr/>
        </p:nvSpPr>
        <p:spPr bwMode="auto">
          <a:xfrm>
            <a:off x="2666999" y="979804"/>
            <a:ext cx="4689834" cy="4199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50000"/>
              </a:lnSpc>
              <a:buFont typeface="Arial" panose="020B0604020202020204"/>
              <a:buNone/>
              <a:defRPr/>
            </a:pPr>
            <a:r>
              <a:rPr lang="zh-CN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</a:t>
            </a:r>
            <a:r>
              <a:rPr lang="en-US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环境</a:t>
            </a:r>
            <a:endParaRPr>
              <a:latin typeface="Arial" panose="020B0604020202020204"/>
              <a:cs typeface="Arial" panose="020B0604020202020204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宿主系统</a:t>
            </a: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	Ubuntu 24.04.1</a:t>
            </a: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，</a:t>
            </a: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Linux 6.8.0-41Linux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虚拟化环境</a:t>
            </a: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	QEMU/KVM</a:t>
            </a: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，块设备采用</a:t>
            </a: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 virtio-blk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容器镜像</a:t>
            </a: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         asterinas/asterinas:0.17.0-20260227</a:t>
            </a:r>
            <a:endParaRPr sz="1600">
              <a:latin typeface="Arial" panose="020B0604020202020204"/>
              <a:cs typeface="Arial" panose="020B0604020202020204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虚拟机配置</a:t>
            </a: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	8 GiB </a:t>
            </a: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内存，单处理器</a:t>
            </a:r>
            <a:endParaRPr lang="zh-CN" sz="160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endParaRPr lang="zh-CN" sz="160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对照系统</a:t>
            </a: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r>
              <a:rPr lang="zh-CN" sz="1600">
                <a:latin typeface="Arial" panose="020B0604020202020204"/>
                <a:ea typeface="Arial" panose="020B0604020202020204"/>
                <a:cs typeface="Arial" panose="020B0604020202020204"/>
              </a:rPr>
              <a:t>相同虚拟化与块设备环境下的</a:t>
            </a:r>
            <a:r>
              <a:rPr lang="en-US" sz="1600">
                <a:latin typeface="Arial" panose="020B0604020202020204"/>
                <a:ea typeface="Arial" panose="020B0604020202020204"/>
                <a:cs typeface="Arial" panose="020B0604020202020204"/>
              </a:rPr>
              <a:t> Linux EXT4</a:t>
            </a: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876586069" name="文本框 4"/>
          <p:cNvSpPr txBox="1"/>
          <p:nvPr/>
        </p:nvSpPr>
        <p:spPr bwMode="auto">
          <a:xfrm>
            <a:off x="7426959" y="979804"/>
            <a:ext cx="4689834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50000"/>
              </a:lnSpc>
              <a:buFont typeface="Arial" panose="020B0604020202020204"/>
              <a:buNone/>
              <a:defRPr/>
            </a:pPr>
            <a:r>
              <a:rPr lang="zh-CN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测试体系</a:t>
            </a:r>
            <a:endParaRPr>
              <a:latin typeface="Arial" panose="020B0604020202020204"/>
              <a:cs typeface="Arial" panose="020B0604020202020204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r>
              <a:rPr lang="en-US" altLang="zh-CN">
                <a:latin typeface="Arial" panose="020B0604020202020204"/>
                <a:cs typeface="Arial" panose="020B0604020202020204"/>
              </a:rPr>
              <a:t>xfstests：POSIX</a:t>
            </a:r>
            <a:r>
              <a:rPr lang="zh-CN" altLang="en-US">
                <a:latin typeface="Arial" panose="020B0604020202020204"/>
                <a:cs typeface="Arial" panose="020B0604020202020204"/>
              </a:rPr>
              <a:t>与</a:t>
            </a:r>
            <a:r>
              <a:rPr lang="en-US" altLang="zh-CN">
                <a:latin typeface="Arial" panose="020B0604020202020204"/>
                <a:cs typeface="Arial" panose="020B0604020202020204"/>
              </a:rPr>
              <a:t>EXT4</a:t>
            </a:r>
            <a:r>
              <a:rPr lang="zh-CN" altLang="en-US">
                <a:latin typeface="Arial" panose="020B0604020202020204"/>
                <a:cs typeface="Arial" panose="020B0604020202020204"/>
              </a:rPr>
              <a:t>功能兼容性</a:t>
            </a:r>
            <a:endParaRPr lang="zh-CN" altLang="en-US">
              <a:latin typeface="Arial" panose="020B0604020202020204"/>
              <a:cs typeface="Arial" panose="020B0604020202020204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r>
              <a:rPr lang="zh-CN" altLang="en-US">
                <a:latin typeface="Arial" panose="020B0604020202020204"/>
                <a:cs typeface="Arial" panose="020B0604020202020204"/>
              </a:rPr>
              <a:t>并发正确性测试：多路径运行时一致性</a:t>
            </a:r>
            <a:endParaRPr lang="zh-CN" altLang="en-US">
              <a:latin typeface="Arial" panose="020B0604020202020204"/>
              <a:cs typeface="Arial" panose="020B0604020202020204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r>
              <a:rPr lang="zh-CN" altLang="en-US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崩溃一致性测试：</a:t>
            </a:r>
            <a:r>
              <a:rPr lang="en-US" altLang="zh-CN">
                <a:latin typeface="Arial" panose="020B0604020202020204"/>
                <a:cs typeface="Arial" panose="020B0604020202020204"/>
              </a:rPr>
              <a:t>JBD2</a:t>
            </a:r>
            <a:r>
              <a:rPr lang="zh-CN" altLang="en-US">
                <a:latin typeface="Arial" panose="020B0604020202020204"/>
                <a:cs typeface="Arial" panose="020B0604020202020204"/>
              </a:rPr>
              <a:t>崩溃恢复正确性</a:t>
            </a:r>
            <a:endParaRPr lang="zh-CN" altLang="en-US">
              <a:latin typeface="Arial" panose="020B0604020202020204"/>
              <a:cs typeface="Arial" panose="020B0604020202020204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r>
              <a:rPr lang="en-US" altLang="zh-CN">
                <a:latin typeface="Arial" panose="020B0604020202020204"/>
                <a:cs typeface="Arial" panose="020B0604020202020204"/>
              </a:rPr>
              <a:t>Linux</a:t>
            </a:r>
            <a:r>
              <a:rPr lang="zh-CN" altLang="en-US">
                <a:latin typeface="Arial" panose="020B0604020202020204"/>
                <a:cs typeface="Arial" panose="020B0604020202020204"/>
              </a:rPr>
              <a:t>互操作：标准</a:t>
            </a:r>
            <a:r>
              <a:rPr lang="en-US" altLang="zh-CN">
                <a:latin typeface="Arial" panose="020B0604020202020204"/>
                <a:cs typeface="Arial" panose="020B0604020202020204"/>
              </a:rPr>
              <a:t>EXT4</a:t>
            </a:r>
            <a:r>
              <a:rPr lang="zh-CN" altLang="en-US">
                <a:latin typeface="Arial" panose="020B0604020202020204"/>
                <a:cs typeface="Arial" panose="020B0604020202020204"/>
              </a:rPr>
              <a:t>磁盘格式双向兼容</a:t>
            </a:r>
            <a:endParaRPr lang="en-US" altLang="zh-CN">
              <a:latin typeface="Arial" panose="020B0604020202020204"/>
              <a:cs typeface="Arial" panose="020B0604020202020204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r>
              <a:rPr lang="zh-CN" altLang="en-US">
                <a:latin typeface="Arial" panose="020B0604020202020204"/>
                <a:cs typeface="Arial" panose="020B0604020202020204"/>
              </a:rPr>
              <a:t>性能评估：</a:t>
            </a:r>
            <a:r>
              <a:rPr lang="en-US" altLang="zh-CN">
                <a:latin typeface="Arial" panose="020B0604020202020204"/>
                <a:cs typeface="Arial" panose="020B0604020202020204"/>
              </a:rPr>
              <a:t>fio </a:t>
            </a:r>
            <a:r>
              <a:rPr lang="zh-CN" altLang="en-US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、</a:t>
            </a:r>
            <a:r>
              <a:rPr lang="en-US" altLang="zh-CN">
                <a:latin typeface="Arial" panose="020B0604020202020204"/>
                <a:cs typeface="Arial" panose="020B0604020202020204"/>
              </a:rPr>
              <a:t>SQLite speedtest1</a:t>
            </a:r>
            <a:endParaRPr lang="en-US" altLang="zh-CN">
              <a:latin typeface="Arial" panose="020B0604020202020204"/>
              <a:cs typeface="Arial" panose="020B0604020202020204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r>
              <a:rPr lang="zh-CN" altLang="en-US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性能指标：</a:t>
            </a:r>
            <a:r>
              <a:rPr lang="en-US" altLang="zh-CN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I/O</a:t>
            </a:r>
            <a:r>
              <a:rPr lang="zh-CN" altLang="en-US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总带宽</a:t>
            </a:r>
            <a:r>
              <a:rPr lang="en-US" altLang="zh-CN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(MB/s)</a:t>
            </a:r>
            <a:r>
              <a:rPr lang="zh-CN" altLang="en-US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，用时</a:t>
            </a:r>
            <a:r>
              <a:rPr lang="en-US" altLang="zh-CN"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(s)</a:t>
            </a:r>
            <a:endParaRPr lang="en-US" altLang="zh-CN">
              <a:latin typeface="Arial" panose="020B0604020202020204"/>
              <a:ea typeface="宋体" panose="02010600030101010101" pitchFamily="2" charset="-122"/>
              <a:cs typeface="Arial" panose="020B060402020202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7000" y="4839335"/>
            <a:ext cx="2195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+mn-lt"/>
                <a:cs typeface="+mn-lt"/>
              </a:rPr>
              <a:t>AI</a:t>
            </a:r>
            <a:r>
              <a:rPr lang="zh-CN" altLang="en-US" sz="2400">
                <a:solidFill>
                  <a:schemeClr val="bg1"/>
                </a:solidFill>
                <a:ea typeface="+mn-lt"/>
                <a:cs typeface="+mn-lt"/>
              </a:rPr>
              <a:t>的使用</a:t>
            </a:r>
            <a:endParaRPr lang="zh-CN" altLang="en-US" sz="2400">
              <a:solidFill>
                <a:schemeClr val="bg1"/>
              </a:solidFill>
              <a:ea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211973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207899097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480377735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60" y="5943600"/>
            <a:ext cx="914400" cy="914400"/>
          </a:xfrm>
          <a:prstGeom prst="rect">
            <a:avLst/>
          </a:prstGeom>
        </p:spPr>
      </p:pic>
      <p:pic>
        <p:nvPicPr>
          <p:cNvPr id="750396527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8" y="311328"/>
            <a:ext cx="2256183" cy="414149"/>
          </a:xfrm>
          <a:prstGeom prst="rect">
            <a:avLst/>
          </a:prstGeom>
        </p:spPr>
      </p:pic>
      <p:sp>
        <p:nvSpPr>
          <p:cNvPr id="1983398682" name="文本框 29"/>
          <p:cNvSpPr txBox="1"/>
          <p:nvPr/>
        </p:nvSpPr>
        <p:spPr bwMode="auto">
          <a:xfrm>
            <a:off x="86054" y="556014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574520271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05378757" name="文本框 9"/>
          <p:cNvSpPr txBox="1"/>
          <p:nvPr/>
        </p:nvSpPr>
        <p:spPr bwMode="auto">
          <a:xfrm>
            <a:off x="85724" y="3199937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849114307" name="组合 19"/>
          <p:cNvGrpSpPr/>
          <p:nvPr/>
        </p:nvGrpSpPr>
        <p:grpSpPr bwMode="auto">
          <a:xfrm>
            <a:off x="0" y="4047533"/>
            <a:ext cx="2737505" cy="762000"/>
            <a:chOff x="0" y="772160"/>
            <a:chExt cx="2737505" cy="762000"/>
          </a:xfrm>
        </p:grpSpPr>
        <p:sp>
          <p:nvSpPr>
            <p:cNvPr id="49" name="矩形 14"/>
            <p:cNvSpPr/>
            <p:nvPr/>
          </p:nvSpPr>
          <p:spPr bwMode="auto">
            <a:xfrm>
              <a:off x="0" y="772160"/>
              <a:ext cx="2509520" cy="76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50" name="等腰三角形 16"/>
            <p:cNvSpPr/>
            <p:nvPr/>
          </p:nvSpPr>
          <p:spPr bwMode="auto">
            <a:xfrm rot="5400000">
              <a:off x="2491281" y="1039167"/>
              <a:ext cx="264463" cy="227985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713025736" name="文本框 10"/>
          <p:cNvSpPr txBox="1"/>
          <p:nvPr/>
        </p:nvSpPr>
        <p:spPr bwMode="auto">
          <a:xfrm>
            <a:off x="86359" y="4061588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25440739" name="TextBox 43"/>
          <p:cNvSpPr txBox="1"/>
          <p:nvPr/>
        </p:nvSpPr>
        <p:spPr bwMode="auto">
          <a:xfrm>
            <a:off x="2743200" y="347471"/>
            <a:ext cx="8779319" cy="56515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800" b="1">
                <a:solidFill>
                  <a:schemeClr val="tx1"/>
                </a:solidFill>
                <a:ea typeface="+mn-lt"/>
                <a:cs typeface="+mn-lt"/>
              </a:rPr>
              <a:t>4.2 xfstests 功能与兼容性测试</a:t>
            </a:r>
            <a:endParaRPr sz="2800" b="1">
              <a:solidFill>
                <a:schemeClr val="tx1"/>
              </a:solidFill>
              <a:ea typeface="+mn-lt"/>
              <a:cs typeface="+mn-lt"/>
            </a:endParaRPr>
          </a:p>
        </p:txBody>
      </p:sp>
      <p:sp>
        <p:nvSpPr>
          <p:cNvPr id="1592202232" name="文本框 3"/>
          <p:cNvSpPr txBox="1"/>
          <p:nvPr/>
        </p:nvSpPr>
        <p:spPr bwMode="auto">
          <a:xfrm>
            <a:off x="2736215" y="1060450"/>
            <a:ext cx="9144000" cy="32766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zh-CN">
                <a:solidFill>
                  <a:srgbClr val="000000"/>
                </a:solidFill>
                <a:ea typeface="+mn-lt"/>
                <a:cs typeface="+mn-lt"/>
              </a:rPr>
              <a:t>采用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xfstests</a:t>
            </a:r>
            <a:r>
              <a:rPr lang="zh-CN" altLang="en-US">
                <a:solidFill>
                  <a:srgbClr val="000000"/>
                </a:solidFill>
                <a:ea typeface="+mn-lt"/>
                <a:cs typeface="+mn-lt"/>
              </a:rPr>
              <a:t>测试集</a:t>
            </a:r>
            <a:r>
              <a:rPr lang="zh-CN">
                <a:solidFill>
                  <a:srgbClr val="000000"/>
                </a:solidFill>
                <a:ea typeface="+mn-lt"/>
                <a:cs typeface="+mn-lt"/>
              </a:rPr>
              <a:t>验证</a:t>
            </a:r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 EXT4 </a:t>
            </a:r>
            <a:r>
              <a:rPr lang="zh-CN">
                <a:solidFill>
                  <a:srgbClr val="000000"/>
                </a:solidFill>
                <a:ea typeface="+mn-lt"/>
                <a:cs typeface="+mn-lt"/>
              </a:rPr>
              <a:t>主路径功能，将测试用例归类展示。</a:t>
            </a:r>
            <a:endParaRPr lang="zh-CN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520082928" name="矩形 4"/>
          <p:cNvSpPr/>
          <p:nvPr/>
        </p:nvSpPr>
        <p:spPr bwMode="auto">
          <a:xfrm>
            <a:off x="2742882" y="1625600"/>
            <a:ext cx="1837844" cy="457200"/>
          </a:xfrm>
          <a:prstGeom prst="rect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1602329443" name="文本框 5"/>
          <p:cNvSpPr txBox="1"/>
          <p:nvPr/>
        </p:nvSpPr>
        <p:spPr bwMode="auto">
          <a:xfrm>
            <a:off x="2782620" y="1714500"/>
            <a:ext cx="1758370" cy="281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测试类别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7055143" name="矩形 6"/>
          <p:cNvSpPr/>
          <p:nvPr/>
        </p:nvSpPr>
        <p:spPr bwMode="auto">
          <a:xfrm>
            <a:off x="4580727" y="1625600"/>
            <a:ext cx="1291458" cy="457200"/>
          </a:xfrm>
          <a:prstGeom prst="rect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1628264525" name="文本框 7"/>
          <p:cNvSpPr txBox="1"/>
          <p:nvPr/>
        </p:nvSpPr>
        <p:spPr bwMode="auto">
          <a:xfrm>
            <a:off x="4620464" y="1714500"/>
            <a:ext cx="1211984" cy="281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通过情况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8684870" name="矩形 8"/>
          <p:cNvSpPr/>
          <p:nvPr/>
        </p:nvSpPr>
        <p:spPr bwMode="auto">
          <a:xfrm>
            <a:off x="5865200" y="1625600"/>
            <a:ext cx="6015214" cy="457200"/>
          </a:xfrm>
          <a:prstGeom prst="rect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429004152" name="文本框 9"/>
          <p:cNvSpPr txBox="1"/>
          <p:nvPr/>
        </p:nvSpPr>
        <p:spPr bwMode="auto">
          <a:xfrm>
            <a:off x="5911922" y="1714500"/>
            <a:ext cx="6129457" cy="28130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覆盖能力与代表用例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4735445" name="矩形 10"/>
          <p:cNvSpPr/>
          <p:nvPr/>
        </p:nvSpPr>
        <p:spPr bwMode="auto">
          <a:xfrm>
            <a:off x="2742882" y="2082800"/>
            <a:ext cx="1837844" cy="812800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1060501843" name="文本框 11"/>
          <p:cNvSpPr txBox="1"/>
          <p:nvPr/>
        </p:nvSpPr>
        <p:spPr bwMode="auto">
          <a:xfrm>
            <a:off x="2822357" y="2171700"/>
            <a:ext cx="1678895" cy="234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zh-CN" altLang="en-US"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文件与目录命名空间</a:t>
            </a:r>
            <a:endParaRPr lang="zh-CN" altLang="en-US" sz="12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2434664" name="矩形 12"/>
          <p:cNvSpPr/>
          <p:nvPr/>
        </p:nvSpPr>
        <p:spPr bwMode="auto">
          <a:xfrm>
            <a:off x="4580727" y="2082800"/>
            <a:ext cx="1291458" cy="812800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874662591" name="文本框 13"/>
          <p:cNvSpPr txBox="1"/>
          <p:nvPr/>
        </p:nvSpPr>
        <p:spPr bwMode="auto">
          <a:xfrm>
            <a:off x="4660201" y="2171700"/>
            <a:ext cx="1132509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sz="13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27 PASS</a:t>
            </a:r>
            <a:endParaRPr lang="en-US" sz="13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1765006" name="矩形 14"/>
          <p:cNvSpPr/>
          <p:nvPr/>
        </p:nvSpPr>
        <p:spPr bwMode="auto">
          <a:xfrm>
            <a:off x="5872185" y="2082800"/>
            <a:ext cx="6015214" cy="812800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1552274090" name="文本框 15"/>
          <p:cNvSpPr txBox="1"/>
          <p:nvPr/>
        </p:nvSpPr>
        <p:spPr bwMode="auto">
          <a:xfrm>
            <a:off x="5951659" y="2171700"/>
            <a:ext cx="5918851" cy="481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zh-CN" altLang="en-US" sz="1400">
                <a:solidFill>
                  <a:srgbClr val="000000"/>
                </a:solidFill>
                <a:ea typeface="+mn-lt"/>
                <a:cs typeface="+mn-lt"/>
              </a:rPr>
              <a:t>覆盖创建、删除、重命名、硬/软链接、目录压力、权限、时间戳、</a:t>
            </a:r>
            <a:r>
              <a:rPr lang="en-US" altLang="zh-CN" sz="1400">
                <a:solidFill>
                  <a:srgbClr val="000000"/>
                </a:solidFill>
                <a:ea typeface="+mn-lt"/>
                <a:cs typeface="+mn-lt"/>
              </a:rPr>
              <a:t>statx</a:t>
            </a:r>
            <a:r>
              <a:rPr lang="zh-CN" altLang="en-US" sz="1400">
                <a:solidFill>
                  <a:srgbClr val="000000"/>
                </a:solidFill>
                <a:ea typeface="+mn-lt"/>
                <a:cs typeface="+mn-lt"/>
              </a:rPr>
              <a:t>及</a:t>
            </a:r>
            <a:r>
              <a:rPr lang="en-US" altLang="zh-CN" sz="1400">
                <a:solidFill>
                  <a:srgbClr val="000000"/>
                </a:solidFill>
                <a:ea typeface="+mn-lt"/>
                <a:cs typeface="+mn-lt"/>
              </a:rPr>
              <a:t>Unicode</a:t>
            </a:r>
            <a:r>
              <a:rPr lang="zh-CN" altLang="en-US" sz="1400">
                <a:solidFill>
                  <a:srgbClr val="000000"/>
                </a:solidFill>
                <a:ea typeface="+mn-lt"/>
                <a:cs typeface="+mn-lt"/>
              </a:rPr>
              <a:t>文件名等。代表：</a:t>
            </a:r>
            <a:r>
              <a:rPr lang="en-US" altLang="zh-CN" sz="1400">
                <a:solidFill>
                  <a:srgbClr val="000000"/>
                </a:solidFill>
                <a:ea typeface="+mn-lt"/>
                <a:cs typeface="+mn-lt"/>
              </a:rPr>
              <a:t>generic/002、035、401</a:t>
            </a:r>
            <a:endParaRPr lang="en-US" altLang="zh-CN" sz="14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1811325022" name="矩形 16"/>
          <p:cNvSpPr/>
          <p:nvPr/>
        </p:nvSpPr>
        <p:spPr bwMode="auto">
          <a:xfrm>
            <a:off x="2742882" y="2895600"/>
            <a:ext cx="1837844" cy="812800"/>
          </a:xfrm>
          <a:prstGeom prst="rect">
            <a:avLst/>
          </a:prstGeom>
          <a:solidFill>
            <a:srgbClr val="EAEAEA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789618978" name="文本框 17"/>
          <p:cNvSpPr txBox="1"/>
          <p:nvPr/>
        </p:nvSpPr>
        <p:spPr bwMode="auto">
          <a:xfrm>
            <a:off x="2822357" y="2984500"/>
            <a:ext cx="1678895" cy="234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zh-CN" altLang="en-US"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常规读写与数据完整性</a:t>
            </a:r>
            <a:endParaRPr lang="zh-CN" altLang="en-US" sz="12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9960776" name="矩形 18"/>
          <p:cNvSpPr/>
          <p:nvPr/>
        </p:nvSpPr>
        <p:spPr bwMode="auto">
          <a:xfrm>
            <a:off x="4580727" y="2895600"/>
            <a:ext cx="1291458" cy="812800"/>
          </a:xfrm>
          <a:prstGeom prst="rect">
            <a:avLst/>
          </a:prstGeom>
          <a:solidFill>
            <a:srgbClr val="EAEAEA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582345689" name="文本框 19"/>
          <p:cNvSpPr txBox="1"/>
          <p:nvPr/>
        </p:nvSpPr>
        <p:spPr bwMode="auto">
          <a:xfrm>
            <a:off x="4660201" y="2984500"/>
            <a:ext cx="1132509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sz="13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15 PASS</a:t>
            </a:r>
            <a:endParaRPr lang="en-US" sz="13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2147796" name="矩形 20"/>
          <p:cNvSpPr/>
          <p:nvPr/>
        </p:nvSpPr>
        <p:spPr bwMode="auto">
          <a:xfrm>
            <a:off x="5872185" y="2895600"/>
            <a:ext cx="6015711" cy="812800"/>
          </a:xfrm>
          <a:prstGeom prst="rect">
            <a:avLst/>
          </a:prstGeom>
          <a:solidFill>
            <a:srgbClr val="EAEAEA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1000099947" name="文本框 21"/>
          <p:cNvSpPr txBox="1"/>
          <p:nvPr/>
        </p:nvSpPr>
        <p:spPr bwMode="auto">
          <a:xfrm>
            <a:off x="5951659" y="2984500"/>
            <a:ext cx="5594497" cy="481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zh-CN" altLang="en-US" sz="1400">
                <a:solidFill>
                  <a:srgbClr val="000000"/>
                </a:solidFill>
                <a:ea typeface="+mn-lt"/>
                <a:cs typeface="+mn-lt"/>
              </a:rPr>
              <a:t>覆盖随机读写、截断、追加、洞文件、向量</a:t>
            </a:r>
            <a:r>
              <a:rPr lang="en-US" altLang="zh-CN" sz="1400">
                <a:solidFill>
                  <a:srgbClr val="000000"/>
                </a:solidFill>
                <a:ea typeface="+mn-lt"/>
                <a:cs typeface="+mn-lt"/>
              </a:rPr>
              <a:t>I/O、splice、</a:t>
            </a:r>
            <a:r>
              <a:rPr lang="zh-CN" altLang="en-US" sz="1400">
                <a:solidFill>
                  <a:srgbClr val="000000"/>
                </a:solidFill>
                <a:ea typeface="+mn-lt"/>
                <a:cs typeface="+mn-lt"/>
              </a:rPr>
              <a:t>高偏移访问、</a:t>
            </a:r>
            <a:r>
              <a:rPr lang="en-US" altLang="zh-CN" sz="1400">
                <a:solidFill>
                  <a:srgbClr val="000000"/>
                </a:solidFill>
                <a:ea typeface="+mn-lt"/>
                <a:cs typeface="+mn-lt"/>
              </a:rPr>
              <a:t>orphan</a:t>
            </a:r>
            <a:r>
              <a:rPr lang="zh-CN" altLang="en-US" sz="1400">
                <a:solidFill>
                  <a:srgbClr val="000000"/>
                </a:solidFill>
                <a:ea typeface="+mn-lt"/>
                <a:cs typeface="+mn-lt"/>
              </a:rPr>
              <a:t>及卸载重挂等。代表：</a:t>
            </a:r>
            <a:r>
              <a:rPr lang="en-US" altLang="zh-CN" sz="1400">
                <a:solidFill>
                  <a:srgbClr val="000000"/>
                </a:solidFill>
                <a:ea typeface="+mn-lt"/>
                <a:cs typeface="+mn-lt"/>
              </a:rPr>
              <a:t>generic/001、014、639</a:t>
            </a:r>
            <a:endParaRPr lang="en-US" altLang="zh-CN" sz="14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780746242" name="矩形 22"/>
          <p:cNvSpPr/>
          <p:nvPr/>
        </p:nvSpPr>
        <p:spPr bwMode="auto">
          <a:xfrm>
            <a:off x="2742882" y="3708400"/>
            <a:ext cx="1837844" cy="812800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1052563880" name="文本框 23"/>
          <p:cNvSpPr txBox="1"/>
          <p:nvPr/>
        </p:nvSpPr>
        <p:spPr bwMode="auto">
          <a:xfrm>
            <a:off x="2822575" y="3797300"/>
            <a:ext cx="1678940" cy="6096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en-US" altLang="zh-CN"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Extent</a:t>
            </a:r>
            <a:r>
              <a:rPr lang="zh-CN" altLang="en-US"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与空间管理</a:t>
            </a:r>
            <a:endParaRPr lang="zh-CN" altLang="en-US" sz="12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08764671" name="矩形 24"/>
          <p:cNvSpPr/>
          <p:nvPr/>
        </p:nvSpPr>
        <p:spPr bwMode="auto">
          <a:xfrm>
            <a:off x="4580727" y="3708400"/>
            <a:ext cx="1291458" cy="812800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1249273981" name="文本框 25"/>
          <p:cNvSpPr txBox="1"/>
          <p:nvPr/>
        </p:nvSpPr>
        <p:spPr bwMode="auto">
          <a:xfrm>
            <a:off x="4660201" y="3797300"/>
            <a:ext cx="1132509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sz="13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12 PASS</a:t>
            </a:r>
            <a:endParaRPr lang="en-US" sz="13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5050736" name="矩形 26"/>
          <p:cNvSpPr/>
          <p:nvPr/>
        </p:nvSpPr>
        <p:spPr bwMode="auto">
          <a:xfrm>
            <a:off x="5872185" y="3708400"/>
            <a:ext cx="6015711" cy="812800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2010614682" name="文本框 27"/>
          <p:cNvSpPr txBox="1"/>
          <p:nvPr/>
        </p:nvSpPr>
        <p:spPr bwMode="auto">
          <a:xfrm>
            <a:off x="5951659" y="3797300"/>
            <a:ext cx="5607908" cy="481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zh-CN" altLang="en-US" sz="1400">
                <a:solidFill>
                  <a:srgbClr val="000000"/>
                </a:solidFill>
                <a:ea typeface="+mn-lt"/>
                <a:cs typeface="+mn-lt"/>
              </a:rPr>
              <a:t>覆盖</a:t>
            </a:r>
            <a:r>
              <a:rPr lang="en-US" altLang="zh-CN" sz="1400">
                <a:solidFill>
                  <a:srgbClr val="000000"/>
                </a:solidFill>
                <a:ea typeface="+mn-lt"/>
                <a:cs typeface="+mn-lt"/>
              </a:rPr>
              <a:t>Unwritten Extent、</a:t>
            </a:r>
            <a:r>
              <a:rPr lang="zh-CN" altLang="en-US" sz="1400">
                <a:solidFill>
                  <a:srgbClr val="000000"/>
                </a:solidFill>
                <a:ea typeface="+mn-lt"/>
                <a:cs typeface="+mn-lt"/>
              </a:rPr>
              <a:t>预分配、</a:t>
            </a:r>
            <a:r>
              <a:rPr lang="en-US" altLang="zh-CN" sz="1400">
                <a:solidFill>
                  <a:srgbClr val="000000"/>
                </a:solidFill>
                <a:ea typeface="+mn-lt"/>
                <a:cs typeface="+mn-lt"/>
              </a:rPr>
              <a:t>fallocate、</a:t>
            </a:r>
            <a:r>
              <a:rPr lang="zh-CN" altLang="en-US" sz="1400">
                <a:solidFill>
                  <a:srgbClr val="000000"/>
                </a:solidFill>
                <a:ea typeface="+mn-lt"/>
                <a:cs typeface="+mn-lt"/>
              </a:rPr>
              <a:t>空间预约、满盘重试、并发</a:t>
            </a:r>
            <a:r>
              <a:rPr lang="en-US" altLang="zh-CN" sz="1400">
                <a:solidFill>
                  <a:srgbClr val="000000"/>
                </a:solidFill>
                <a:ea typeface="+mn-lt"/>
                <a:cs typeface="+mn-lt"/>
              </a:rPr>
              <a:t>ENOSPC</a:t>
            </a:r>
            <a:r>
              <a:rPr lang="zh-CN" altLang="en-US" sz="1400">
                <a:solidFill>
                  <a:srgbClr val="000000"/>
                </a:solidFill>
                <a:ea typeface="+mn-lt"/>
                <a:cs typeface="+mn-lt"/>
              </a:rPr>
              <a:t>及块分配一致性等。代表：</a:t>
            </a:r>
            <a:r>
              <a:rPr lang="en-US" altLang="zh-CN" sz="1400">
                <a:solidFill>
                  <a:srgbClr val="000000"/>
                </a:solidFill>
                <a:ea typeface="+mn-lt"/>
                <a:cs typeface="+mn-lt"/>
              </a:rPr>
              <a:t>generic/102、213、619</a:t>
            </a:r>
            <a:r>
              <a:rPr lang="zh-CN" sz="1400">
                <a:solidFill>
                  <a:srgbClr val="000000"/>
                </a:solidFill>
                <a:ea typeface="+mn-lt"/>
                <a:cs typeface="+mn-lt"/>
              </a:rPr>
              <a:t>。</a:t>
            </a:r>
            <a:endParaRPr lang="zh-CN" sz="14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2041030741" name="矩形 28"/>
          <p:cNvSpPr/>
          <p:nvPr/>
        </p:nvSpPr>
        <p:spPr bwMode="auto">
          <a:xfrm>
            <a:off x="2742882" y="4521200"/>
            <a:ext cx="1837844" cy="812800"/>
          </a:xfrm>
          <a:prstGeom prst="rect">
            <a:avLst/>
          </a:prstGeom>
          <a:solidFill>
            <a:srgbClr val="EAEAEA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1717495444" name="文本框 29"/>
          <p:cNvSpPr txBox="1"/>
          <p:nvPr/>
        </p:nvSpPr>
        <p:spPr bwMode="auto">
          <a:xfrm>
            <a:off x="2822357" y="4610100"/>
            <a:ext cx="1678895" cy="234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en-US" altLang="zh-CN"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O_DIRECT</a:t>
            </a:r>
            <a:r>
              <a:rPr lang="zh-CN" altLang="en-US"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与混合</a:t>
            </a:r>
            <a:r>
              <a:rPr lang="en-US" altLang="zh-CN"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I/O</a:t>
            </a:r>
            <a:endParaRPr lang="en-US" altLang="zh-CN" sz="12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38810" name="矩形 30"/>
          <p:cNvSpPr/>
          <p:nvPr/>
        </p:nvSpPr>
        <p:spPr bwMode="auto">
          <a:xfrm>
            <a:off x="4580727" y="4521200"/>
            <a:ext cx="1291458" cy="812800"/>
          </a:xfrm>
          <a:prstGeom prst="rect">
            <a:avLst/>
          </a:prstGeom>
          <a:solidFill>
            <a:srgbClr val="EAEAEA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1221545913" name="文本框 31"/>
          <p:cNvSpPr txBox="1"/>
          <p:nvPr/>
        </p:nvSpPr>
        <p:spPr bwMode="auto">
          <a:xfrm>
            <a:off x="4660201" y="4610100"/>
            <a:ext cx="1132509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sz="13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10 PASS</a:t>
            </a:r>
            <a:endParaRPr lang="en-US" sz="13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6605953" name="矩形 32"/>
          <p:cNvSpPr/>
          <p:nvPr/>
        </p:nvSpPr>
        <p:spPr bwMode="auto">
          <a:xfrm>
            <a:off x="5872185" y="4521200"/>
            <a:ext cx="6008757" cy="812800"/>
          </a:xfrm>
          <a:prstGeom prst="rect">
            <a:avLst/>
          </a:prstGeom>
          <a:solidFill>
            <a:srgbClr val="EAEAEA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1908747979" name="文本框 33"/>
          <p:cNvSpPr txBox="1"/>
          <p:nvPr/>
        </p:nvSpPr>
        <p:spPr bwMode="auto">
          <a:xfrm>
            <a:off x="5951659" y="4610100"/>
            <a:ext cx="5532408" cy="481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zh-CN" altLang="en-US" sz="1400">
                <a:solidFill>
                  <a:srgbClr val="000000"/>
                </a:solidFill>
                <a:ea typeface="+mn-lt"/>
                <a:cs typeface="+mn-lt"/>
              </a:rPr>
              <a:t>覆盖直接读写、同文件并发、大请求分段、</a:t>
            </a:r>
            <a:r>
              <a:rPr lang="en-US" altLang="zh-CN" sz="1400">
                <a:solidFill>
                  <a:srgbClr val="000000"/>
                </a:solidFill>
                <a:ea typeface="+mn-lt"/>
                <a:cs typeface="+mn-lt"/>
              </a:rPr>
              <a:t>direct/buffered</a:t>
            </a:r>
            <a:r>
              <a:rPr lang="zh-CN" altLang="en-US" sz="1400">
                <a:solidFill>
                  <a:srgbClr val="000000"/>
                </a:solidFill>
                <a:ea typeface="+mn-lt"/>
                <a:cs typeface="+mn-lt"/>
              </a:rPr>
              <a:t>混合访问、缓存失效和</a:t>
            </a:r>
            <a:r>
              <a:rPr lang="en-US" altLang="zh-CN" sz="1400">
                <a:solidFill>
                  <a:srgbClr val="000000"/>
                </a:solidFill>
                <a:ea typeface="+mn-lt"/>
                <a:cs typeface="+mn-lt"/>
              </a:rPr>
              <a:t>O_DSYNC</a:t>
            </a:r>
            <a:r>
              <a:rPr lang="zh-CN" altLang="en-US" sz="1400">
                <a:solidFill>
                  <a:srgbClr val="000000"/>
                </a:solidFill>
                <a:ea typeface="+mn-lt"/>
                <a:cs typeface="+mn-lt"/>
              </a:rPr>
              <a:t>等</a:t>
            </a:r>
            <a:r>
              <a:rPr lang="en-US" altLang="zh-CN" sz="1400">
                <a:solidFill>
                  <a:srgbClr val="000000"/>
                </a:solidFill>
                <a:ea typeface="+mn-lt"/>
                <a:cs typeface="+mn-lt"/>
              </a:rPr>
              <a:t>。</a:t>
            </a:r>
            <a:r>
              <a:rPr lang="zh-CN" altLang="en-US" sz="1400">
                <a:solidFill>
                  <a:srgbClr val="000000"/>
                </a:solidFill>
                <a:ea typeface="+mn-lt"/>
                <a:cs typeface="+mn-lt"/>
              </a:rPr>
              <a:t>代表：</a:t>
            </a:r>
            <a:r>
              <a:rPr lang="en-US" altLang="zh-CN" sz="1400">
                <a:solidFill>
                  <a:srgbClr val="000000"/>
                </a:solidFill>
                <a:ea typeface="+mn-lt"/>
                <a:cs typeface="+mn-lt"/>
              </a:rPr>
              <a:t>generic/130、406、615</a:t>
            </a:r>
            <a:endParaRPr lang="en-US" altLang="zh-CN" sz="14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818919848" name="矩形 34"/>
          <p:cNvSpPr/>
          <p:nvPr/>
        </p:nvSpPr>
        <p:spPr bwMode="auto">
          <a:xfrm>
            <a:off x="2742882" y="5334000"/>
            <a:ext cx="1837844" cy="939800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1563786028" name="文本框 35"/>
          <p:cNvSpPr txBox="1"/>
          <p:nvPr/>
        </p:nvSpPr>
        <p:spPr bwMode="auto">
          <a:xfrm>
            <a:off x="2822357" y="5422900"/>
            <a:ext cx="1678895" cy="23495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en-US" altLang="zh-CN"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mmap</a:t>
            </a:r>
            <a:r>
              <a:rPr lang="zh-CN" altLang="en-US" sz="1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与页缓存一致性</a:t>
            </a:r>
            <a:endParaRPr lang="zh-CN" altLang="en-US" sz="12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74381439" name="矩形 36"/>
          <p:cNvSpPr/>
          <p:nvPr/>
        </p:nvSpPr>
        <p:spPr bwMode="auto">
          <a:xfrm>
            <a:off x="4580727" y="5334000"/>
            <a:ext cx="1291458" cy="939800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142287459" name="文本框 37"/>
          <p:cNvSpPr txBox="1"/>
          <p:nvPr/>
        </p:nvSpPr>
        <p:spPr bwMode="auto">
          <a:xfrm>
            <a:off x="4660201" y="5422900"/>
            <a:ext cx="1132509" cy="25082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sz="13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13 PASS</a:t>
            </a:r>
            <a:endParaRPr lang="en-US" sz="13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39676451" name="矩形 38"/>
          <p:cNvSpPr/>
          <p:nvPr/>
        </p:nvSpPr>
        <p:spPr bwMode="auto">
          <a:xfrm>
            <a:off x="5872185" y="5334000"/>
            <a:ext cx="6015214" cy="939800"/>
          </a:xfrm>
          <a:prstGeom prst="rect">
            <a:avLst/>
          </a:prstGeom>
          <a:solidFill>
            <a:srgbClr val="D9D9D9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/>
          </a:p>
        </p:txBody>
      </p:sp>
      <p:sp>
        <p:nvSpPr>
          <p:cNvPr id="1615803275" name="文本框 39"/>
          <p:cNvSpPr txBox="1"/>
          <p:nvPr/>
        </p:nvSpPr>
        <p:spPr bwMode="auto">
          <a:xfrm>
            <a:off x="5951659" y="5422900"/>
            <a:ext cx="5525454" cy="48133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spAutoFit/>
          </a:bodyPr>
          <a:lstStyle/>
          <a:p>
            <a:pPr algn="l">
              <a:spcAft>
                <a:spcPts val="0"/>
              </a:spcAft>
              <a:defRPr/>
            </a:pPr>
            <a:r>
              <a:rPr lang="zh-CN" altLang="en-US" sz="1400">
                <a:solidFill>
                  <a:srgbClr val="000000"/>
                </a:solidFill>
                <a:ea typeface="+mn-lt"/>
                <a:cs typeface="+mn-lt"/>
              </a:rPr>
              <a:t>覆盖映射写、</a:t>
            </a:r>
            <a:r>
              <a:rPr lang="en-US" altLang="zh-CN" sz="1400">
                <a:solidFill>
                  <a:srgbClr val="000000"/>
                </a:solidFill>
                <a:ea typeface="+mn-lt"/>
                <a:cs typeface="+mn-lt"/>
              </a:rPr>
              <a:t>remap/truncate、mmap</a:t>
            </a:r>
            <a:r>
              <a:rPr lang="zh-CN" altLang="en-US" sz="1400">
                <a:solidFill>
                  <a:srgbClr val="000000"/>
                </a:solidFill>
                <a:ea typeface="+mn-lt"/>
                <a:cs typeface="+mn-lt"/>
              </a:rPr>
              <a:t>与</a:t>
            </a:r>
            <a:r>
              <a:rPr lang="en-US" altLang="zh-CN" sz="1400">
                <a:solidFill>
                  <a:srgbClr val="000000"/>
                </a:solidFill>
                <a:ea typeface="+mn-lt"/>
                <a:cs typeface="+mn-lt"/>
              </a:rPr>
              <a:t>pwrite</a:t>
            </a:r>
            <a:r>
              <a:rPr lang="zh-CN" altLang="en-US" sz="1400">
                <a:solidFill>
                  <a:srgbClr val="000000"/>
                </a:solidFill>
                <a:ea typeface="+mn-lt"/>
                <a:cs typeface="+mn-lt"/>
              </a:rPr>
              <a:t>竞争、零填充、</a:t>
            </a:r>
            <a:r>
              <a:rPr lang="en-US" altLang="zh-CN" sz="1400">
                <a:solidFill>
                  <a:srgbClr val="000000"/>
                </a:solidFill>
                <a:ea typeface="+mn-lt"/>
                <a:cs typeface="+mn-lt"/>
              </a:rPr>
              <a:t>stale read</a:t>
            </a:r>
            <a:r>
              <a:rPr lang="zh-CN" altLang="en-US" sz="1400">
                <a:solidFill>
                  <a:srgbClr val="000000"/>
                </a:solidFill>
                <a:ea typeface="+mn-lt"/>
                <a:cs typeface="+mn-lt"/>
              </a:rPr>
              <a:t>及多页重叠复制等。代表：</a:t>
            </a:r>
            <a:r>
              <a:rPr lang="en-US" altLang="zh-CN" sz="1400">
                <a:solidFill>
                  <a:srgbClr val="000000"/>
                </a:solidFill>
                <a:ea typeface="+mn-lt"/>
                <a:cs typeface="+mn-lt"/>
              </a:rPr>
              <a:t>generic/030、346、638</a:t>
            </a:r>
            <a:endParaRPr lang="en-US" altLang="zh-CN" sz="14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7000" y="4839335"/>
            <a:ext cx="2195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+mn-lt"/>
                <a:cs typeface="+mn-lt"/>
              </a:rPr>
              <a:t>AI</a:t>
            </a:r>
            <a:r>
              <a:rPr lang="zh-CN" altLang="en-US" sz="2400">
                <a:solidFill>
                  <a:schemeClr val="bg1"/>
                </a:solidFill>
                <a:ea typeface="+mn-lt"/>
                <a:cs typeface="+mn-lt"/>
              </a:rPr>
              <a:t>的使用</a:t>
            </a:r>
            <a:endParaRPr lang="zh-CN" altLang="en-US" sz="2400">
              <a:solidFill>
                <a:schemeClr val="bg1"/>
              </a:solidFill>
              <a:ea typeface="+mn-lt"/>
              <a:cs typeface="+mn-lt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000329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966915699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520487412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60" y="5943600"/>
            <a:ext cx="914400" cy="914400"/>
          </a:xfrm>
          <a:prstGeom prst="rect">
            <a:avLst/>
          </a:prstGeom>
        </p:spPr>
      </p:pic>
      <p:pic>
        <p:nvPicPr>
          <p:cNvPr id="1725696394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8" y="311328"/>
            <a:ext cx="2256183" cy="414149"/>
          </a:xfrm>
          <a:prstGeom prst="rect">
            <a:avLst/>
          </a:prstGeom>
        </p:spPr>
      </p:pic>
      <p:sp>
        <p:nvSpPr>
          <p:cNvPr id="1131928848" name="文本框 29"/>
          <p:cNvSpPr txBox="1"/>
          <p:nvPr/>
        </p:nvSpPr>
        <p:spPr bwMode="auto">
          <a:xfrm>
            <a:off x="86054" y="556014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683236209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813813064" name="文本框 9"/>
          <p:cNvSpPr txBox="1"/>
          <p:nvPr/>
        </p:nvSpPr>
        <p:spPr bwMode="auto">
          <a:xfrm>
            <a:off x="85724" y="3199937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670036608" name="组合 19"/>
          <p:cNvGrpSpPr/>
          <p:nvPr/>
        </p:nvGrpSpPr>
        <p:grpSpPr bwMode="auto">
          <a:xfrm>
            <a:off x="0" y="4047533"/>
            <a:ext cx="2737505" cy="762000"/>
            <a:chOff x="0" y="772160"/>
            <a:chExt cx="2737505" cy="762000"/>
          </a:xfrm>
        </p:grpSpPr>
        <p:sp>
          <p:nvSpPr>
            <p:cNvPr id="15" name="矩形 14"/>
            <p:cNvSpPr/>
            <p:nvPr/>
          </p:nvSpPr>
          <p:spPr bwMode="auto">
            <a:xfrm>
              <a:off x="0" y="772160"/>
              <a:ext cx="2509520" cy="76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" name="等腰三角形 16"/>
            <p:cNvSpPr/>
            <p:nvPr/>
          </p:nvSpPr>
          <p:spPr bwMode="auto">
            <a:xfrm rot="5400000">
              <a:off x="2491281" y="1039167"/>
              <a:ext cx="264463" cy="227985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759863338" name="文本框 10"/>
          <p:cNvSpPr txBox="1"/>
          <p:nvPr/>
        </p:nvSpPr>
        <p:spPr bwMode="auto">
          <a:xfrm>
            <a:off x="86359" y="4061588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08617116" name="TextBox 43"/>
          <p:cNvSpPr txBox="1"/>
          <p:nvPr/>
        </p:nvSpPr>
        <p:spPr bwMode="auto">
          <a:xfrm>
            <a:off x="2743200" y="347471"/>
            <a:ext cx="8779319" cy="56515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800" b="1">
                <a:solidFill>
                  <a:schemeClr val="tx1"/>
                </a:solidFill>
                <a:ea typeface="+mn-lt"/>
                <a:cs typeface="+mn-lt"/>
              </a:rPr>
              <a:t>4.</a:t>
            </a:r>
            <a:r>
              <a:rPr lang="en-US" sz="2800" b="1">
                <a:solidFill>
                  <a:schemeClr val="tx1"/>
                </a:solidFill>
                <a:ea typeface="+mn-lt"/>
                <a:cs typeface="+mn-lt"/>
              </a:rPr>
              <a:t>3</a:t>
            </a:r>
            <a:r>
              <a:rPr sz="2800" b="1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zh-CN" sz="2800" b="1">
                <a:solidFill>
                  <a:schemeClr val="tx1"/>
                </a:solidFill>
                <a:ea typeface="+mn-lt"/>
                <a:cs typeface="+mn-lt"/>
              </a:rPr>
              <a:t>崩溃一致性</a:t>
            </a:r>
            <a:r>
              <a:rPr sz="2800" b="1">
                <a:solidFill>
                  <a:schemeClr val="tx1"/>
                </a:solidFill>
                <a:ea typeface="+mn-lt"/>
                <a:cs typeface="+mn-lt"/>
              </a:rPr>
              <a:t>测试</a:t>
            </a:r>
            <a:endParaRPr sz="2800" b="1">
              <a:solidFill>
                <a:schemeClr val="tx1"/>
              </a:solidFill>
              <a:ea typeface="+mn-lt"/>
              <a:cs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7000" y="4839335"/>
            <a:ext cx="2195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+mn-lt"/>
                <a:cs typeface="+mn-lt"/>
              </a:rPr>
              <a:t>AI</a:t>
            </a:r>
            <a:r>
              <a:rPr lang="zh-CN" altLang="en-US" sz="2400">
                <a:solidFill>
                  <a:schemeClr val="bg1"/>
                </a:solidFill>
                <a:ea typeface="+mn-lt"/>
                <a:cs typeface="+mn-lt"/>
              </a:rPr>
              <a:t>的使用</a:t>
            </a:r>
            <a:endParaRPr lang="zh-CN" altLang="en-US" sz="2400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5" name="图片 4" descr="ChatGPT Image 2026年8月5日 16_36_19"/>
          <p:cNvPicPr>
            <a:picLocks noChangeAspect="1"/>
          </p:cNvPicPr>
          <p:nvPr/>
        </p:nvPicPr>
        <p:blipFill>
          <a:blip r:embed="rId3"/>
          <a:srcRect l="15774" r="13916"/>
          <a:stretch>
            <a:fillRect/>
          </a:stretch>
        </p:blipFill>
        <p:spPr>
          <a:xfrm>
            <a:off x="2611120" y="1511300"/>
            <a:ext cx="4896485" cy="46437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843530" y="10274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ea typeface="+mn-lt"/>
                <a:cs typeface="+mn-lt"/>
                <a:sym typeface="+mn-ea"/>
              </a:rPr>
              <a:t>■ </a:t>
            </a:r>
            <a:r>
              <a:rPr lang="zh-CN" altLang="en-US" b="1">
                <a:ea typeface="+mn-lt"/>
                <a:cs typeface="+mn-lt"/>
                <a:sym typeface="+mn-ea"/>
              </a:rPr>
              <a:t>测试流程</a:t>
            </a:r>
            <a:endParaRPr lang="zh-CN" altLang="en-US" b="1">
              <a:ea typeface="+mn-lt"/>
              <a:cs typeface="+mn-lt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4260" y="1598930"/>
            <a:ext cx="4341495" cy="235521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327265" y="10274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ea typeface="+mn-lt"/>
                <a:cs typeface="+mn-lt"/>
                <a:sym typeface="+mn-ea"/>
              </a:rPr>
              <a:t>■ </a:t>
            </a:r>
            <a:r>
              <a:rPr lang="zh-CN" altLang="en-US" b="1">
                <a:ea typeface="+mn-lt"/>
                <a:cs typeface="+mn-lt"/>
                <a:sym typeface="+mn-ea"/>
              </a:rPr>
              <a:t>测试结果</a:t>
            </a:r>
            <a:endParaRPr lang="zh-CN" altLang="en-US" b="1">
              <a:ea typeface="+mn-lt"/>
              <a:cs typeface="+mn-lt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58710" y="4157345"/>
            <a:ext cx="46513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ea typeface="+mn-lt"/>
                <a:cs typeface="+mn-lt"/>
              </a:rPr>
              <a:t>测试结果说明系统不仅能在常规提交路径上恢复，也能在日志空间紧张、</a:t>
            </a:r>
            <a:r>
              <a:rPr lang="en-US" altLang="zh-CN">
                <a:ea typeface="+mn-lt"/>
                <a:cs typeface="+mn-lt"/>
              </a:rPr>
              <a:t>checkpoint</a:t>
            </a:r>
            <a:r>
              <a:rPr lang="zh-CN" altLang="en-US">
                <a:ea typeface="+mn-lt"/>
                <a:cs typeface="+mn-lt"/>
              </a:rPr>
              <a:t>频繁的压力场景下保持</a:t>
            </a:r>
            <a:r>
              <a:rPr lang="en-US" altLang="zh-CN">
                <a:ea typeface="+mn-lt"/>
                <a:cs typeface="+mn-lt"/>
              </a:rPr>
              <a:t>JBD2</a:t>
            </a:r>
            <a:r>
              <a:rPr lang="zh-CN" altLang="en-US">
                <a:ea typeface="+mn-lt"/>
                <a:cs typeface="+mn-lt"/>
              </a:rPr>
              <a:t>日志与</a:t>
            </a:r>
            <a:r>
              <a:rPr lang="en-US" altLang="zh-CN">
                <a:ea typeface="+mn-lt"/>
                <a:cs typeface="+mn-lt"/>
              </a:rPr>
              <a:t>home block </a:t>
            </a:r>
            <a:r>
              <a:rPr lang="zh-CN" altLang="en-US">
                <a:ea typeface="+mn-lt"/>
                <a:cs typeface="+mn-lt"/>
              </a:rPr>
              <a:t>状态一致。</a:t>
            </a:r>
            <a:endParaRPr lang="zh-CN" altLang="en-US">
              <a:ea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000329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966915699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520487412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60" y="5943600"/>
            <a:ext cx="914400" cy="914400"/>
          </a:xfrm>
          <a:prstGeom prst="rect">
            <a:avLst/>
          </a:prstGeom>
        </p:spPr>
      </p:pic>
      <p:pic>
        <p:nvPicPr>
          <p:cNvPr id="1725696394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8" y="311328"/>
            <a:ext cx="2256183" cy="414149"/>
          </a:xfrm>
          <a:prstGeom prst="rect">
            <a:avLst/>
          </a:prstGeom>
        </p:spPr>
      </p:pic>
      <p:sp>
        <p:nvSpPr>
          <p:cNvPr id="1131928848" name="文本框 29"/>
          <p:cNvSpPr txBox="1"/>
          <p:nvPr/>
        </p:nvSpPr>
        <p:spPr bwMode="auto">
          <a:xfrm>
            <a:off x="86054" y="556014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683236209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813813064" name="文本框 9"/>
          <p:cNvSpPr txBox="1"/>
          <p:nvPr/>
        </p:nvSpPr>
        <p:spPr bwMode="auto">
          <a:xfrm>
            <a:off x="85724" y="3199937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670036608" name="组合 19"/>
          <p:cNvGrpSpPr/>
          <p:nvPr/>
        </p:nvGrpSpPr>
        <p:grpSpPr bwMode="auto">
          <a:xfrm>
            <a:off x="0" y="4047533"/>
            <a:ext cx="2737505" cy="762000"/>
            <a:chOff x="0" y="772160"/>
            <a:chExt cx="2737505" cy="762000"/>
          </a:xfrm>
        </p:grpSpPr>
        <p:sp>
          <p:nvSpPr>
            <p:cNvPr id="15" name="矩形 14"/>
            <p:cNvSpPr/>
            <p:nvPr/>
          </p:nvSpPr>
          <p:spPr bwMode="auto">
            <a:xfrm>
              <a:off x="0" y="772160"/>
              <a:ext cx="2509520" cy="76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" name="等腰三角形 16"/>
            <p:cNvSpPr/>
            <p:nvPr/>
          </p:nvSpPr>
          <p:spPr bwMode="auto">
            <a:xfrm rot="5400000">
              <a:off x="2491281" y="1039167"/>
              <a:ext cx="264463" cy="227985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759863338" name="文本框 10"/>
          <p:cNvSpPr txBox="1"/>
          <p:nvPr/>
        </p:nvSpPr>
        <p:spPr bwMode="auto">
          <a:xfrm>
            <a:off x="86359" y="4061588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08617116" name="TextBox 43"/>
          <p:cNvSpPr txBox="1"/>
          <p:nvPr/>
        </p:nvSpPr>
        <p:spPr bwMode="auto">
          <a:xfrm>
            <a:off x="2743200" y="347471"/>
            <a:ext cx="8779319" cy="56515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800" b="1">
                <a:solidFill>
                  <a:schemeClr val="tx1"/>
                </a:solidFill>
                <a:ea typeface="+mn-lt"/>
                <a:cs typeface="+mn-lt"/>
              </a:rPr>
              <a:t>4.4 并发正确性</a:t>
            </a:r>
            <a:r>
              <a:rPr lang="zh-CN" sz="2800" b="1">
                <a:solidFill>
                  <a:schemeClr val="tx1"/>
                </a:solidFill>
                <a:ea typeface="+mn-lt"/>
                <a:cs typeface="+mn-lt"/>
              </a:rPr>
              <a:t>与性能优化</a:t>
            </a:r>
            <a:endParaRPr lang="zh-CN" sz="2800" b="1">
              <a:solidFill>
                <a:schemeClr val="tx1"/>
              </a:solidFill>
              <a:ea typeface="+mn-lt"/>
              <a:cs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7000" y="4839335"/>
            <a:ext cx="2195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+mn-lt"/>
                <a:cs typeface="+mn-lt"/>
              </a:rPr>
              <a:t>AI</a:t>
            </a:r>
            <a:r>
              <a:rPr lang="zh-CN" altLang="en-US" sz="2400">
                <a:solidFill>
                  <a:schemeClr val="bg1"/>
                </a:solidFill>
                <a:ea typeface="+mn-lt"/>
                <a:cs typeface="+mn-lt"/>
              </a:rPr>
              <a:t>的使用</a:t>
            </a:r>
            <a:endParaRPr lang="zh-CN" altLang="en-US" sz="2400">
              <a:solidFill>
                <a:schemeClr val="bg1"/>
              </a:solidFill>
              <a:ea typeface="+mn-lt"/>
              <a:cs typeface="+mn-lt"/>
            </a:endParaRPr>
          </a:p>
        </p:txBody>
      </p:sp>
      <p:graphicFrame>
        <p:nvGraphicFramePr>
          <p:cNvPr id="205774833" name="表格 3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2823210" y="1489075"/>
          <a:ext cx="8959215" cy="4728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2545"/>
                <a:gridCol w="3231515"/>
                <a:gridCol w="3145155"/>
              </a:tblGrid>
              <a:tr h="523240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zh-CN" sz="2000"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测试类型</a:t>
                      </a:r>
                      <a:endParaRPr lang="zh-CN" sz="2000">
                        <a:latin typeface="Arial" panose="020B0604020202020204"/>
                        <a:ea typeface="宋体" panose="02010600030101010101" pitchFamily="2" charset="-122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zh-CN" sz="2000"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测试场景</a:t>
                      </a:r>
                      <a:endParaRPr lang="zh-CN" sz="2000">
                        <a:latin typeface="Arial" panose="020B0604020202020204"/>
                        <a:ea typeface="宋体" panose="02010600030101010101" pitchFamily="2" charset="-122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zh-CN" sz="2000">
                          <a:latin typeface="Arial" panose="020B0604020202020204"/>
                          <a:ea typeface="宋体" panose="02010600030101010101" pitchFamily="2" charset="-122"/>
                          <a:cs typeface="Arial" panose="020B0604020202020204"/>
                        </a:rPr>
                        <a:t>验证内容</a:t>
                      </a:r>
                      <a:endParaRPr lang="zh-CN" sz="2000">
                        <a:latin typeface="Arial" panose="020B0604020202020204"/>
                        <a:ea typeface="宋体" panose="02010600030101010101" pitchFamily="2" charset="-122"/>
                        <a:cs typeface="Arial" panose="020B0604020202020204"/>
                      </a:endParaRPr>
                    </a:p>
                  </a:txBody>
                  <a:tcPr/>
                </a:tc>
              </a:tr>
              <a:tr h="1045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600" b="1">
                          <a:ea typeface="+mn-lt"/>
                          <a:cs typeface="Arial" panose="020B0604020202020204"/>
                        </a:rPr>
                        <a:t>多文件并发命名空间与空间管理</a:t>
                      </a:r>
                      <a:endParaRPr lang="zh-CN" altLang="en-US" sz="1600" b="1">
                        <a:ea typeface="+mn-lt"/>
                        <a:cs typeface="Arial" panose="020B0604020202020204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600">
                          <a:ea typeface="+mn-lt"/>
                          <a:cs typeface="+mn-lt"/>
                        </a:rPr>
                        <a:t>4 个进程运行</a:t>
                      </a:r>
                      <a:r>
                        <a:rPr lang="en-US" altLang="zh-CN" sz="1600">
                          <a:ea typeface="+mn-lt"/>
                          <a:cs typeface="+mn-lt"/>
                        </a:rPr>
                        <a:t>fsstress，</a:t>
                      </a:r>
                      <a:r>
                        <a:rPr lang="zh-CN" altLang="en-US" sz="1600">
                          <a:ea typeface="+mn-lt"/>
                          <a:cs typeface="+mn-lt"/>
                        </a:rPr>
                        <a:t>混合 </a:t>
                      </a:r>
                      <a:r>
                        <a:rPr lang="en-US" altLang="zh-CN" sz="1600">
                          <a:ea typeface="+mn-lt"/>
                          <a:cs typeface="+mn-lt"/>
                        </a:rPr>
                        <a:t>rename、unlink、mkdir、rmdir</a:t>
                      </a:r>
                      <a:r>
                        <a:rPr lang="zh-CN" altLang="en-US" sz="1600">
                          <a:ea typeface="+mn-lt"/>
                          <a:cs typeface="+mn-lt"/>
                        </a:rPr>
                        <a:t>等操作</a:t>
                      </a:r>
                      <a:r>
                        <a:rPr lang="en-US" sz="1600">
                          <a:ea typeface="+mn-lt"/>
                          <a:cs typeface="+mn-lt"/>
                        </a:rPr>
                        <a:t>    </a:t>
                      </a:r>
                      <a:endParaRPr sz="1600">
                        <a:ea typeface="+mn-lt"/>
                        <a:cs typeface="+mn-lt"/>
                      </a:endParaRPr>
                    </a:p>
                    <a:p>
                      <a:pPr algn="l">
                        <a:lnSpc>
                          <a:spcPct val="100000"/>
                        </a:lnSpc>
                        <a:defRPr/>
                      </a:pPr>
                      <a:r>
                        <a:rPr lang="en-US" sz="1600">
                          <a:ea typeface="+mn-lt"/>
                          <a:cs typeface="+mn-lt"/>
                        </a:rPr>
                        <a:t>   </a:t>
                      </a:r>
                      <a:endParaRPr sz="1600">
                        <a:ea typeface="+mn-lt"/>
                        <a:cs typeface="+mn-lt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600">
                          <a:ea typeface="+mn-lt"/>
                          <a:cs typeface="+mn-lt"/>
                        </a:rPr>
                        <a:t>目录项更新、</a:t>
                      </a:r>
                      <a:r>
                        <a:rPr lang="en-US" altLang="zh-CN" sz="1600">
                          <a:ea typeface="+mn-lt"/>
                          <a:cs typeface="+mn-lt"/>
                        </a:rPr>
                        <a:t>inode</a:t>
                      </a:r>
                      <a:r>
                        <a:rPr lang="zh-CN" altLang="en-US" sz="1600">
                          <a:ea typeface="+mn-lt"/>
                          <a:cs typeface="+mn-lt"/>
                        </a:rPr>
                        <a:t>生命周期及锁顺序</a:t>
                      </a:r>
                      <a:endParaRPr lang="zh-CN" altLang="en-US" sz="1600">
                        <a:ea typeface="+mn-lt"/>
                        <a:cs typeface="+mn-lt"/>
                      </a:endParaRPr>
                    </a:p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600">
                          <a:solidFill>
                            <a:srgbClr val="FF0000"/>
                          </a:solidFill>
                          <a:ea typeface="+mn-lt"/>
                          <a:cs typeface="+mn-lt"/>
                        </a:rPr>
                        <a:t>PASS</a:t>
                      </a:r>
                      <a:endParaRPr lang="en-US" altLang="zh-CN" sz="1600">
                        <a:solidFill>
                          <a:srgbClr val="FF0000"/>
                        </a:solidFill>
                        <a:ea typeface="+mn-lt"/>
                        <a:cs typeface="+mn-lt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964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600" b="1">
                          <a:ea typeface="+mn-lt"/>
                          <a:cs typeface="Arial" panose="020B0604020202020204"/>
                        </a:rPr>
                        <a:t>同文件读写竞争</a:t>
                      </a:r>
                      <a:endParaRPr lang="zh-CN" altLang="en-US" sz="1600" b="1">
                        <a:ea typeface="+mn-lt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>
                          <a:ea typeface="+mn-lt"/>
                          <a:cs typeface="+mn-lt"/>
                        </a:rPr>
                        <a:t>同一文件上的</a:t>
                      </a:r>
                      <a:r>
                        <a:rPr lang="en-US" altLang="zh-CN" sz="1600">
                          <a:ea typeface="+mn-lt"/>
                          <a:cs typeface="+mn-lt"/>
                        </a:rPr>
                        <a:t>direct writer / buffered reader、buffered writer / direct reader</a:t>
                      </a:r>
                      <a:endParaRPr lang="en-US" altLang="zh-CN" sz="1600">
                        <a:ea typeface="+mn-lt"/>
                        <a:cs typeface="+mn-lt"/>
                      </a:endParaRPr>
                    </a:p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>
                          <a:ea typeface="+mn-lt"/>
                          <a:cs typeface="+mn-lt"/>
                        </a:rPr>
                        <a:t>   </a:t>
                      </a:r>
                      <a:endParaRPr sz="1600">
                        <a:ea typeface="+mn-lt"/>
                        <a:cs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600">
                          <a:ea typeface="+mn-lt"/>
                          <a:cs typeface="+mn-lt"/>
                        </a:rPr>
                        <a:t>direct I/O</a:t>
                      </a:r>
                      <a:r>
                        <a:rPr lang="zh-CN" altLang="en-US" sz="1600">
                          <a:ea typeface="+mn-lt"/>
                          <a:cs typeface="+mn-lt"/>
                        </a:rPr>
                        <a:t>与</a:t>
                      </a:r>
                      <a:r>
                        <a:rPr lang="en-US" altLang="zh-CN" sz="1600">
                          <a:ea typeface="+mn-lt"/>
                          <a:cs typeface="+mn-lt"/>
                        </a:rPr>
                        <a:t>PageCache</a:t>
                      </a:r>
                      <a:r>
                        <a:rPr lang="zh-CN" altLang="en-US" sz="1600">
                          <a:ea typeface="+mn-lt"/>
                          <a:cs typeface="+mn-lt"/>
                        </a:rPr>
                        <a:t>协同，避免读到旧数据</a:t>
                      </a:r>
                      <a:endParaRPr lang="zh-CN" altLang="en-US" sz="1600">
                        <a:ea typeface="+mn-lt"/>
                        <a:cs typeface="+mn-lt"/>
                      </a:endParaRPr>
                    </a:p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600">
                          <a:solidFill>
                            <a:srgbClr val="FF0000"/>
                          </a:solidFill>
                          <a:ea typeface="+mn-lt"/>
                          <a:cs typeface="+mn-lt"/>
                        </a:rPr>
                        <a:t>PASS</a:t>
                      </a:r>
                      <a:endParaRPr lang="en-US" altLang="zh-CN" sz="1600">
                        <a:solidFill>
                          <a:srgbClr val="FF0000"/>
                        </a:solidFill>
                        <a:ea typeface="+mn-lt"/>
                        <a:cs typeface="+mn-lt"/>
                      </a:endParaRPr>
                    </a:p>
                  </a:txBody>
                  <a:tcPr/>
                </a:tc>
              </a:tr>
              <a:tr h="11061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600" b="1">
                          <a:ea typeface="+mn-lt"/>
                          <a:cs typeface="Arial" panose="020B0604020202020204"/>
                        </a:rPr>
                        <a:t>同文件死锁压力</a:t>
                      </a:r>
                      <a:endParaRPr lang="zh-CN" altLang="en-US" sz="1600" b="1">
                        <a:ea typeface="+mn-lt"/>
                        <a:cs typeface="Arial" panose="020B0604020202020204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>
                          <a:ea typeface="+mn-lt"/>
                          <a:cs typeface="+mn-lt"/>
                        </a:rPr>
                        <a:t>同一文件上的并发</a:t>
                      </a:r>
                      <a:r>
                        <a:rPr lang="en-US" altLang="zh-CN" sz="1600">
                          <a:ea typeface="+mn-lt"/>
                          <a:cs typeface="+mn-lt"/>
                        </a:rPr>
                        <a:t>direct、sync、async I/O</a:t>
                      </a:r>
                      <a:endParaRPr lang="en-US" altLang="zh-CN" sz="1600">
                        <a:ea typeface="+mn-lt"/>
                        <a:cs typeface="+mn-lt"/>
                      </a:endParaRPr>
                    </a:p>
                    <a:p>
                      <a:pPr marL="0" marR="0" lvl="0" indent="0" algn="ctr" defTabSz="914400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>
                          <a:ea typeface="+mn-lt"/>
                          <a:cs typeface="+mn-lt"/>
                        </a:rPr>
                        <a:t>    </a:t>
                      </a:r>
                      <a:endParaRPr sz="1600">
                        <a:ea typeface="+mn-lt"/>
                        <a:cs typeface="+mn-lt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600">
                          <a:ea typeface="+mn-lt"/>
                          <a:cs typeface="+mn-lt"/>
                        </a:rPr>
                        <a:t>多</a:t>
                      </a:r>
                      <a:r>
                        <a:rPr lang="en-US" altLang="zh-CN" sz="1600">
                          <a:ea typeface="+mn-lt"/>
                          <a:cs typeface="+mn-lt"/>
                        </a:rPr>
                        <a:t>I/O</a:t>
                      </a:r>
                      <a:r>
                        <a:rPr lang="zh-CN" altLang="en-US" sz="1600">
                          <a:ea typeface="+mn-lt"/>
                          <a:cs typeface="+mn-lt"/>
                        </a:rPr>
                        <a:t>路径交错时不发生死锁</a:t>
                      </a:r>
                      <a:r>
                        <a:rPr lang="en-US" altLang="zh-CN" sz="1600">
                          <a:solidFill>
                            <a:srgbClr val="FF0000"/>
                          </a:solidFill>
                          <a:ea typeface="+mn-lt"/>
                          <a:cs typeface="+mn-lt"/>
                        </a:rPr>
                        <a:t>PASS</a:t>
                      </a:r>
                      <a:endParaRPr lang="en-US" altLang="zh-CN" sz="1600">
                        <a:solidFill>
                          <a:srgbClr val="FF0000"/>
                        </a:solidFill>
                        <a:ea typeface="+mn-lt"/>
                        <a:cs typeface="+mn-lt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965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1600" b="1">
                          <a:ea typeface="+mn-lt"/>
                          <a:cs typeface="Arial" panose="020B0604020202020204"/>
                        </a:rPr>
                        <a:t>并发状态观察</a:t>
                      </a:r>
                      <a:endParaRPr lang="zh-CN" altLang="en-US" sz="1600" b="1">
                        <a:ea typeface="+mn-lt"/>
                        <a:cs typeface="Arial" panose="020B0604020202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>
                          <a:ea typeface="+mn-lt"/>
                          <a:cs typeface="+mn-lt"/>
                        </a:rPr>
                        <a:t>一个进程持续覆盖写，另一个进程持续执行</a:t>
                      </a:r>
                      <a:r>
                        <a:rPr lang="en-US" altLang="zh-CN" sz="1600">
                          <a:ea typeface="+mn-lt"/>
                          <a:cs typeface="+mn-lt"/>
                        </a:rPr>
                        <a:t>stat</a:t>
                      </a:r>
                      <a:endParaRPr lang="en-US" altLang="zh-CN" sz="1600">
                        <a:ea typeface="+mn-lt"/>
                        <a:cs typeface="+mn-lt"/>
                      </a:endParaRPr>
                    </a:p>
                    <a:p>
                      <a:pPr marL="0" marR="0" lvl="0" indent="0" algn="ctr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>
                          <a:ea typeface="+mn-lt"/>
                          <a:cs typeface="+mn-lt"/>
                        </a:rPr>
                        <a:t>   </a:t>
                      </a:r>
                      <a:endParaRPr sz="1600">
                        <a:ea typeface="+mn-lt"/>
                        <a:cs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600" b="0">
                          <a:ea typeface="+mn-lt"/>
                          <a:cs typeface="+mn-lt"/>
                        </a:rPr>
                        <a:t>write back</a:t>
                      </a:r>
                      <a:r>
                        <a:rPr lang="zh-CN" altLang="en-US" sz="1600" b="0">
                          <a:ea typeface="+mn-lt"/>
                          <a:cs typeface="+mn-lt"/>
                        </a:rPr>
                        <a:t>期间</a:t>
                      </a:r>
                      <a:r>
                        <a:rPr lang="en-US" altLang="zh-CN" sz="1600" b="0">
                          <a:ea typeface="+mn-lt"/>
                          <a:cs typeface="+mn-lt"/>
                        </a:rPr>
                        <a:t>st_blocks</a:t>
                      </a:r>
                      <a:r>
                        <a:rPr lang="zh-CN" altLang="en-US" sz="1600" b="0">
                          <a:ea typeface="+mn-lt"/>
                          <a:cs typeface="+mn-lt"/>
                        </a:rPr>
                        <a:t>等元数据状态正确</a:t>
                      </a:r>
                      <a:endParaRPr lang="zh-CN" altLang="en-US" sz="1600" b="0">
                        <a:ea typeface="+mn-lt"/>
                        <a:cs typeface="+mn-lt"/>
                      </a:endParaRPr>
                    </a:p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1600" b="0">
                          <a:solidFill>
                            <a:srgbClr val="FF0000"/>
                          </a:solidFill>
                          <a:ea typeface="+mn-lt"/>
                          <a:cs typeface="+mn-lt"/>
                        </a:rPr>
                        <a:t>PASS</a:t>
                      </a:r>
                      <a:endParaRPr lang="en-US" altLang="zh-CN" sz="1600" b="0">
                        <a:solidFill>
                          <a:srgbClr val="FF0000"/>
                        </a:solidFill>
                        <a:ea typeface="+mn-lt"/>
                        <a:cs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823210" y="10166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ea typeface="+mn-lt"/>
                <a:cs typeface="+mn-lt"/>
                <a:sym typeface="+mn-ea"/>
              </a:rPr>
              <a:t>■ </a:t>
            </a:r>
            <a:r>
              <a:rPr lang="zh-CN" altLang="en-US" b="1">
                <a:ea typeface="+mn-lt"/>
                <a:cs typeface="+mn-lt"/>
                <a:sym typeface="+mn-ea"/>
              </a:rPr>
              <a:t>正确性测试</a:t>
            </a:r>
            <a:endParaRPr lang="zh-CN" altLang="en-US" b="1">
              <a:ea typeface="+mn-lt"/>
              <a:cs typeface="+mn-lt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000329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966915699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520487412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60" y="5943600"/>
            <a:ext cx="914400" cy="914400"/>
          </a:xfrm>
          <a:prstGeom prst="rect">
            <a:avLst/>
          </a:prstGeom>
        </p:spPr>
      </p:pic>
      <p:pic>
        <p:nvPicPr>
          <p:cNvPr id="1725696394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8" y="311328"/>
            <a:ext cx="2256183" cy="414149"/>
          </a:xfrm>
          <a:prstGeom prst="rect">
            <a:avLst/>
          </a:prstGeom>
        </p:spPr>
      </p:pic>
      <p:sp>
        <p:nvSpPr>
          <p:cNvPr id="1131928848" name="文本框 29"/>
          <p:cNvSpPr txBox="1"/>
          <p:nvPr/>
        </p:nvSpPr>
        <p:spPr bwMode="auto">
          <a:xfrm>
            <a:off x="86054" y="556014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683236209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813813064" name="文本框 9"/>
          <p:cNvSpPr txBox="1"/>
          <p:nvPr/>
        </p:nvSpPr>
        <p:spPr bwMode="auto">
          <a:xfrm>
            <a:off x="85724" y="3199937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670036608" name="组合 19"/>
          <p:cNvGrpSpPr/>
          <p:nvPr/>
        </p:nvGrpSpPr>
        <p:grpSpPr bwMode="auto">
          <a:xfrm>
            <a:off x="0" y="4047533"/>
            <a:ext cx="2737505" cy="762000"/>
            <a:chOff x="0" y="772160"/>
            <a:chExt cx="2737505" cy="762000"/>
          </a:xfrm>
        </p:grpSpPr>
        <p:sp>
          <p:nvSpPr>
            <p:cNvPr id="15" name="矩形 14"/>
            <p:cNvSpPr/>
            <p:nvPr/>
          </p:nvSpPr>
          <p:spPr bwMode="auto">
            <a:xfrm>
              <a:off x="0" y="772160"/>
              <a:ext cx="2509520" cy="76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" name="等腰三角形 16"/>
            <p:cNvSpPr/>
            <p:nvPr/>
          </p:nvSpPr>
          <p:spPr bwMode="auto">
            <a:xfrm rot="5400000">
              <a:off x="2491281" y="1039167"/>
              <a:ext cx="264463" cy="227985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759863338" name="文本框 10"/>
          <p:cNvSpPr txBox="1"/>
          <p:nvPr/>
        </p:nvSpPr>
        <p:spPr bwMode="auto">
          <a:xfrm>
            <a:off x="86359" y="4061588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08617116" name="TextBox 43"/>
          <p:cNvSpPr txBox="1"/>
          <p:nvPr/>
        </p:nvSpPr>
        <p:spPr bwMode="auto">
          <a:xfrm>
            <a:off x="2743200" y="347471"/>
            <a:ext cx="8779319" cy="56515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800" b="1">
                <a:solidFill>
                  <a:schemeClr val="tx1"/>
                </a:solidFill>
                <a:ea typeface="+mn-lt"/>
                <a:cs typeface="+mn-lt"/>
              </a:rPr>
              <a:t>4.4 并发正确性</a:t>
            </a:r>
            <a:r>
              <a:rPr lang="zh-CN" sz="2800" b="1">
                <a:solidFill>
                  <a:schemeClr val="tx1"/>
                </a:solidFill>
                <a:ea typeface="+mn-lt"/>
                <a:cs typeface="+mn-lt"/>
              </a:rPr>
              <a:t>与性能优化</a:t>
            </a:r>
            <a:endParaRPr lang="zh-CN" sz="2800" b="1">
              <a:solidFill>
                <a:schemeClr val="tx1"/>
              </a:solidFill>
              <a:ea typeface="+mn-lt"/>
              <a:cs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7000" y="4839335"/>
            <a:ext cx="2195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+mn-lt"/>
                <a:cs typeface="+mn-lt"/>
              </a:rPr>
              <a:t>AI</a:t>
            </a:r>
            <a:r>
              <a:rPr lang="zh-CN" altLang="en-US" sz="2400">
                <a:solidFill>
                  <a:schemeClr val="bg1"/>
                </a:solidFill>
                <a:ea typeface="+mn-lt"/>
                <a:cs typeface="+mn-lt"/>
              </a:rPr>
              <a:t>的使用</a:t>
            </a:r>
            <a:endParaRPr lang="zh-CN" altLang="en-US" sz="240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23210" y="892810"/>
            <a:ext cx="852868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ea typeface="+mn-lt"/>
                <a:cs typeface="+mn-lt"/>
                <a:sym typeface="+mn-ea"/>
              </a:rPr>
              <a:t>■ </a:t>
            </a:r>
            <a:r>
              <a:rPr lang="zh-CN" altLang="en-US">
                <a:ea typeface="+mn-lt"/>
                <a:cs typeface="+mn-lt"/>
                <a:sym typeface="+mn-ea"/>
              </a:rPr>
              <a:t>性能优化</a:t>
            </a:r>
            <a:endParaRPr lang="en-US" altLang="zh-CN">
              <a:ea typeface="+mn-lt"/>
              <a:cs typeface="+mn-lt"/>
              <a:sym typeface="+mn-ea"/>
            </a:endParaRPr>
          </a:p>
          <a:p>
            <a:r>
              <a:rPr lang="en-US" altLang="zh-CN" b="1">
                <a:ea typeface="+mn-lt"/>
                <a:cs typeface="+mn-lt"/>
                <a:sym typeface="+mn-ea"/>
              </a:rPr>
              <a:t>1.</a:t>
            </a:r>
            <a:r>
              <a:rPr lang="zh-CN" altLang="en-US" b="1">
                <a:ea typeface="+mn-lt"/>
                <a:cs typeface="+mn-lt"/>
                <a:sym typeface="+mn-ea"/>
              </a:rPr>
              <a:t>路径优化</a:t>
            </a:r>
            <a:r>
              <a:rPr lang="zh-CN" altLang="en-US">
                <a:ea typeface="+mn-lt"/>
                <a:cs typeface="+mn-lt"/>
                <a:sym typeface="+mn-ea"/>
              </a:rPr>
              <a:t>：减少同文件写入路径中的串行等待</a:t>
            </a:r>
            <a:endParaRPr lang="en-US" altLang="zh-CN">
              <a:ea typeface="+mn-lt"/>
              <a:cs typeface="+mn-lt"/>
              <a:sym typeface="+mn-ea"/>
            </a:endParaRPr>
          </a:p>
          <a:p>
            <a:r>
              <a:rPr lang="en-US" altLang="zh-CN" b="1">
                <a:ea typeface="+mn-lt"/>
                <a:cs typeface="+mn-lt"/>
                <a:sym typeface="+mn-ea"/>
              </a:rPr>
              <a:t>2.</a:t>
            </a:r>
            <a:r>
              <a:rPr lang="zh-CN" altLang="en-US" b="1">
                <a:ea typeface="+mn-lt"/>
                <a:cs typeface="+mn-lt"/>
                <a:sym typeface="+mn-ea"/>
              </a:rPr>
              <a:t>映射查询加速</a:t>
            </a:r>
            <a:r>
              <a:rPr lang="zh-CN" altLang="en-US">
                <a:ea typeface="+mn-lt"/>
                <a:cs typeface="+mn-lt"/>
                <a:sym typeface="+mn-ea"/>
              </a:rPr>
              <a:t>：</a:t>
            </a:r>
            <a:r>
              <a:rPr lang="en-US" altLang="zh-CN">
                <a:ea typeface="+mn-lt"/>
                <a:cs typeface="+mn-lt"/>
                <a:sym typeface="+mn-ea"/>
              </a:rPr>
              <a:t>EsCache </a:t>
            </a:r>
            <a:r>
              <a:rPr lang="zh-CN" altLang="en-US">
                <a:ea typeface="+mn-lt"/>
                <a:cs typeface="+mn-lt"/>
                <a:sym typeface="+mn-ea"/>
              </a:rPr>
              <a:t>与 </a:t>
            </a:r>
            <a:r>
              <a:rPr lang="en-US" altLang="zh-CN">
                <a:ea typeface="+mn-lt"/>
                <a:cs typeface="+mn-lt"/>
                <a:sym typeface="+mn-ea"/>
              </a:rPr>
              <a:t>NodeCache </a:t>
            </a:r>
            <a:r>
              <a:rPr lang="zh-CN" altLang="en-US">
                <a:ea typeface="+mn-lt"/>
                <a:cs typeface="+mn-lt"/>
                <a:sym typeface="+mn-ea"/>
              </a:rPr>
              <a:t>避免重复遍历 </a:t>
            </a:r>
            <a:r>
              <a:rPr lang="en-US" altLang="zh-CN">
                <a:ea typeface="+mn-lt"/>
                <a:cs typeface="+mn-lt"/>
                <a:sym typeface="+mn-ea"/>
              </a:rPr>
              <a:t>Extent </a:t>
            </a:r>
            <a:r>
              <a:rPr lang="zh-CN" altLang="en-US">
                <a:ea typeface="+mn-lt"/>
                <a:cs typeface="+mn-lt"/>
                <a:sym typeface="+mn-ea"/>
              </a:rPr>
              <a:t>树</a:t>
            </a:r>
            <a:endParaRPr lang="zh-CN" altLang="en-US">
              <a:ea typeface="+mn-lt"/>
              <a:cs typeface="+mn-lt"/>
              <a:sym typeface="+mn-ea"/>
            </a:endParaRPr>
          </a:p>
          <a:p>
            <a:r>
              <a:rPr lang="en-US" altLang="zh-CN" b="1">
                <a:ea typeface="+mn-lt"/>
                <a:cs typeface="+mn-lt"/>
                <a:sym typeface="+mn-ea"/>
              </a:rPr>
              <a:t>3.Extent </a:t>
            </a:r>
            <a:r>
              <a:rPr lang="zh-CN" altLang="en-US" b="1">
                <a:ea typeface="+mn-lt"/>
                <a:cs typeface="+mn-lt"/>
                <a:sym typeface="+mn-ea"/>
              </a:rPr>
              <a:t>更新优化</a:t>
            </a:r>
            <a:r>
              <a:rPr lang="zh-CN" altLang="en-US">
                <a:ea typeface="+mn-lt"/>
                <a:cs typeface="+mn-lt"/>
                <a:sym typeface="+mn-ea"/>
              </a:rPr>
              <a:t>：缩短结构修改和事务持有时间</a:t>
            </a:r>
            <a:endParaRPr lang="en-US" altLang="zh-CN">
              <a:ea typeface="+mn-lt"/>
              <a:cs typeface="+mn-lt"/>
              <a:sym typeface="+mn-ea"/>
            </a:endParaRPr>
          </a:p>
          <a:p>
            <a:r>
              <a:rPr lang="en-US" altLang="zh-CN" b="1">
                <a:ea typeface="+mn-lt"/>
                <a:cs typeface="+mn-lt"/>
                <a:sym typeface="+mn-ea"/>
              </a:rPr>
              <a:t>4.</a:t>
            </a:r>
            <a:r>
              <a:rPr lang="zh-CN" altLang="en-US" b="1">
                <a:ea typeface="+mn-lt"/>
                <a:cs typeface="+mn-lt"/>
                <a:sym typeface="+mn-ea"/>
              </a:rPr>
              <a:t>批量 </a:t>
            </a:r>
            <a:r>
              <a:rPr lang="en-US" altLang="zh-CN" b="1">
                <a:ea typeface="+mn-lt"/>
                <a:cs typeface="+mn-lt"/>
                <a:sym typeface="+mn-ea"/>
              </a:rPr>
              <a:t>I/O </a:t>
            </a:r>
            <a:r>
              <a:rPr lang="zh-CN" altLang="en-US" b="1">
                <a:ea typeface="+mn-lt"/>
                <a:cs typeface="+mn-lt"/>
                <a:sym typeface="+mn-ea"/>
              </a:rPr>
              <a:t>提交：</a:t>
            </a:r>
            <a:r>
              <a:rPr lang="zh-CN" altLang="en-US">
                <a:ea typeface="+mn-lt"/>
                <a:cs typeface="+mn-lt"/>
                <a:sym typeface="+mn-ea"/>
              </a:rPr>
              <a:t>提高设备队列利用率</a:t>
            </a:r>
            <a:br>
              <a:rPr lang="zh-CN" altLang="en-US">
                <a:ea typeface="+mn-lt"/>
                <a:cs typeface="+mn-lt"/>
                <a:sym typeface="+mn-ea"/>
              </a:rPr>
            </a:br>
            <a:endParaRPr lang="zh-CN" altLang="en-US" b="1">
              <a:ea typeface="+mn-lt"/>
              <a:cs typeface="+mn-lt"/>
              <a:sym typeface="+mn-ea"/>
            </a:endParaRPr>
          </a:p>
        </p:txBody>
      </p:sp>
      <p:pic>
        <p:nvPicPr>
          <p:cNvPr id="3" name="图片 2" descr="并发数据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570" y="2646045"/>
            <a:ext cx="4322445" cy="3242310"/>
          </a:xfrm>
          <a:prstGeom prst="rect">
            <a:avLst/>
          </a:prstGeom>
        </p:spPr>
      </p:pic>
      <p:pic>
        <p:nvPicPr>
          <p:cNvPr id="4" name="图片 3" descr="并发比例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2065" y="2774950"/>
            <a:ext cx="4323080" cy="324294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130550" y="6017895"/>
            <a:ext cx="7456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该结果表明，项目在并发写场景下已经具备较好的扩展能力。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562765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259175989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45886194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60" y="5943600"/>
            <a:ext cx="914400" cy="914400"/>
          </a:xfrm>
          <a:prstGeom prst="rect">
            <a:avLst/>
          </a:prstGeom>
        </p:spPr>
      </p:pic>
      <p:pic>
        <p:nvPicPr>
          <p:cNvPr id="237009296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8" y="311328"/>
            <a:ext cx="2256183" cy="414149"/>
          </a:xfrm>
          <a:prstGeom prst="rect">
            <a:avLst/>
          </a:prstGeom>
        </p:spPr>
      </p:pic>
      <p:sp>
        <p:nvSpPr>
          <p:cNvPr id="827388824" name="文本框 29"/>
          <p:cNvSpPr txBox="1"/>
          <p:nvPr/>
        </p:nvSpPr>
        <p:spPr bwMode="auto">
          <a:xfrm>
            <a:off x="86054" y="556014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179035066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750867949" name="文本框 9"/>
          <p:cNvSpPr txBox="1"/>
          <p:nvPr/>
        </p:nvSpPr>
        <p:spPr bwMode="auto">
          <a:xfrm>
            <a:off x="85724" y="3199937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56657150" name="组合 19"/>
          <p:cNvGrpSpPr/>
          <p:nvPr/>
        </p:nvGrpSpPr>
        <p:grpSpPr bwMode="auto">
          <a:xfrm>
            <a:off x="0" y="4047533"/>
            <a:ext cx="2737505" cy="762000"/>
            <a:chOff x="0" y="772160"/>
            <a:chExt cx="2737505" cy="762000"/>
          </a:xfrm>
        </p:grpSpPr>
        <p:sp>
          <p:nvSpPr>
            <p:cNvPr id="15" name="矩形 14"/>
            <p:cNvSpPr/>
            <p:nvPr/>
          </p:nvSpPr>
          <p:spPr bwMode="auto">
            <a:xfrm>
              <a:off x="0" y="772160"/>
              <a:ext cx="2509520" cy="76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" name="等腰三角形 16"/>
            <p:cNvSpPr/>
            <p:nvPr/>
          </p:nvSpPr>
          <p:spPr bwMode="auto">
            <a:xfrm rot="5400000">
              <a:off x="2491281" y="1039167"/>
              <a:ext cx="264463" cy="227985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14207696" name="文本框 10"/>
          <p:cNvSpPr txBox="1"/>
          <p:nvPr/>
        </p:nvSpPr>
        <p:spPr bwMode="auto">
          <a:xfrm>
            <a:off x="86359" y="4061588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02191198" name="TextBox 43"/>
          <p:cNvSpPr txBox="1"/>
          <p:nvPr/>
        </p:nvSpPr>
        <p:spPr bwMode="auto">
          <a:xfrm>
            <a:off x="2743200" y="347471"/>
            <a:ext cx="8779319" cy="56515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800" b="1" dirty="0">
                <a:solidFill>
                  <a:schemeClr val="tx1"/>
                </a:solidFill>
                <a:ea typeface="+mn-lt"/>
                <a:cs typeface="+mn-lt"/>
              </a:rPr>
              <a:t>4.5 </a:t>
            </a:r>
            <a:r>
              <a:rPr sz="2800" b="1" dirty="0" err="1">
                <a:solidFill>
                  <a:schemeClr val="tx1"/>
                </a:solidFill>
                <a:ea typeface="+mn-lt"/>
                <a:cs typeface="+mn-lt"/>
              </a:rPr>
              <a:t>fio</a:t>
            </a:r>
            <a:r>
              <a:rPr sz="2800" b="1" dirty="0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zh-CN" sz="2800" b="1" dirty="0">
                <a:solidFill>
                  <a:schemeClr val="tx1"/>
                </a:solidFill>
                <a:ea typeface="+mn-lt"/>
                <a:cs typeface="+mn-lt"/>
              </a:rPr>
              <a:t>读写</a:t>
            </a:r>
            <a:r>
              <a:rPr sz="2800" b="1" dirty="0" err="1">
                <a:solidFill>
                  <a:schemeClr val="tx1"/>
                </a:solidFill>
                <a:ea typeface="+mn-lt"/>
                <a:cs typeface="+mn-lt"/>
              </a:rPr>
              <a:t>性能测试</a:t>
            </a:r>
            <a:endParaRPr sz="2800" b="1" dirty="0">
              <a:solidFill>
                <a:schemeClr val="tx1"/>
              </a:solidFill>
              <a:ea typeface="+mn-lt"/>
              <a:cs typeface="+mn-lt"/>
            </a:endParaRPr>
          </a:p>
        </p:txBody>
      </p:sp>
      <p:sp>
        <p:nvSpPr>
          <p:cNvPr id="804497276" name="TextBox 46"/>
          <p:cNvSpPr txBox="1"/>
          <p:nvPr/>
        </p:nvSpPr>
        <p:spPr bwMode="auto">
          <a:xfrm>
            <a:off x="8675370" y="1600834"/>
            <a:ext cx="3130274" cy="67183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  <a:defRPr/>
            </a:pPr>
            <a:br>
              <a:rPr sz="1600" b="0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br>
            <a:endParaRPr sz="1600" b="0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3781111" name="文本框 4"/>
          <p:cNvSpPr txBox="1"/>
          <p:nvPr/>
        </p:nvSpPr>
        <p:spPr bwMode="auto">
          <a:xfrm>
            <a:off x="2861945" y="5287644"/>
            <a:ext cx="8101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zh-CN">
              <a:latin typeface="+mn-ea"/>
              <a:cs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7000" y="4839335"/>
            <a:ext cx="2195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+mn-lt"/>
                <a:cs typeface="+mn-lt"/>
              </a:rPr>
              <a:t>AI</a:t>
            </a:r>
            <a:r>
              <a:rPr lang="zh-CN" altLang="en-US" sz="2400">
                <a:solidFill>
                  <a:schemeClr val="bg1"/>
                </a:solidFill>
                <a:ea typeface="+mn-lt"/>
                <a:cs typeface="+mn-lt"/>
              </a:rPr>
              <a:t>的使用</a:t>
            </a:r>
            <a:endParaRPr lang="zh-CN" altLang="en-US" sz="2400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7" name="图片 6" descr="01_write_rati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7485" y="3658235"/>
            <a:ext cx="4575810" cy="2109470"/>
          </a:xfrm>
          <a:prstGeom prst="rect">
            <a:avLst/>
          </a:prstGeom>
        </p:spPr>
      </p:pic>
      <p:pic>
        <p:nvPicPr>
          <p:cNvPr id="8" name="图片 7" descr="02_read_rati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0625" y="3658235"/>
            <a:ext cx="4433570" cy="2044700"/>
          </a:xfrm>
          <a:prstGeom prst="rect">
            <a:avLst/>
          </a:prstGeom>
        </p:spPr>
      </p:pic>
      <p:pic>
        <p:nvPicPr>
          <p:cNvPr id="9" name="图片 8" descr="03_write_throughpu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1945" y="1200150"/>
            <a:ext cx="4297680" cy="1999615"/>
          </a:xfrm>
          <a:prstGeom prst="rect">
            <a:avLst/>
          </a:prstGeom>
        </p:spPr>
      </p:pic>
      <p:pic>
        <p:nvPicPr>
          <p:cNvPr id="13" name="图片 12" descr="ChatGPT Image 2026年8月5日 15_47_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7950" y="1165860"/>
            <a:ext cx="4337685" cy="203390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915920" y="5836920"/>
            <a:ext cx="8322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测试结果说明当前系统在 </a:t>
            </a:r>
            <a:r>
              <a:rPr lang="en-US" altLang="zh-CN">
                <a:solidFill>
                  <a:srgbClr val="FF0000"/>
                </a:solidFill>
              </a:rPr>
              <a:t>I/O </a:t>
            </a:r>
            <a:r>
              <a:rPr lang="zh-CN" altLang="en-US">
                <a:solidFill>
                  <a:srgbClr val="FF0000"/>
                </a:solidFill>
              </a:rPr>
              <a:t>主路径上的性能已与 </a:t>
            </a:r>
            <a:r>
              <a:rPr lang="en-US" altLang="zh-CN">
                <a:solidFill>
                  <a:srgbClr val="FF0000"/>
                </a:solidFill>
              </a:rPr>
              <a:t>Linux EXT4 </a:t>
            </a:r>
            <a:r>
              <a:rPr lang="zh-CN" altLang="en-US">
                <a:solidFill>
                  <a:srgbClr val="FF0000"/>
                </a:solidFill>
              </a:rPr>
              <a:t>持平并略有领先。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8194647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742072346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964510727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60" y="5943600"/>
            <a:ext cx="914400" cy="914400"/>
          </a:xfrm>
          <a:prstGeom prst="rect">
            <a:avLst/>
          </a:prstGeom>
        </p:spPr>
      </p:pic>
      <p:pic>
        <p:nvPicPr>
          <p:cNvPr id="174560226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8" y="311328"/>
            <a:ext cx="2256183" cy="414149"/>
          </a:xfrm>
          <a:prstGeom prst="rect">
            <a:avLst/>
          </a:prstGeom>
        </p:spPr>
      </p:pic>
      <p:sp>
        <p:nvSpPr>
          <p:cNvPr id="1512825519" name="文本框 29"/>
          <p:cNvSpPr txBox="1"/>
          <p:nvPr/>
        </p:nvSpPr>
        <p:spPr bwMode="auto">
          <a:xfrm>
            <a:off x="86054" y="556014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856483331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907906788" name="文本框 9"/>
          <p:cNvSpPr txBox="1"/>
          <p:nvPr/>
        </p:nvSpPr>
        <p:spPr bwMode="auto">
          <a:xfrm>
            <a:off x="85724" y="3199937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715423068" name="组合 19"/>
          <p:cNvGrpSpPr/>
          <p:nvPr/>
        </p:nvGrpSpPr>
        <p:grpSpPr bwMode="auto">
          <a:xfrm>
            <a:off x="0" y="4047533"/>
            <a:ext cx="2737505" cy="762000"/>
            <a:chOff x="0" y="772160"/>
            <a:chExt cx="2737505" cy="762000"/>
          </a:xfrm>
        </p:grpSpPr>
        <p:sp>
          <p:nvSpPr>
            <p:cNvPr id="15" name="矩形 14"/>
            <p:cNvSpPr/>
            <p:nvPr/>
          </p:nvSpPr>
          <p:spPr bwMode="auto">
            <a:xfrm>
              <a:off x="0" y="772160"/>
              <a:ext cx="2509520" cy="76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" name="等腰三角形 16"/>
            <p:cNvSpPr/>
            <p:nvPr/>
          </p:nvSpPr>
          <p:spPr bwMode="auto">
            <a:xfrm rot="5400000">
              <a:off x="2491281" y="1039167"/>
              <a:ext cx="264463" cy="227985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329855681" name="文本框 10"/>
          <p:cNvSpPr txBox="1"/>
          <p:nvPr/>
        </p:nvSpPr>
        <p:spPr bwMode="auto">
          <a:xfrm>
            <a:off x="86359" y="4061588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37576072" name="TextBox 43"/>
          <p:cNvSpPr txBox="1"/>
          <p:nvPr/>
        </p:nvSpPr>
        <p:spPr bwMode="auto">
          <a:xfrm>
            <a:off x="2743200" y="311276"/>
            <a:ext cx="8779319" cy="56515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800" b="1">
                <a:solidFill>
                  <a:schemeClr val="tx1"/>
                </a:solidFill>
                <a:ea typeface="+mn-lt"/>
                <a:cs typeface="+mn-lt"/>
              </a:rPr>
              <a:t>4.</a:t>
            </a:r>
            <a:r>
              <a:rPr lang="en-US" sz="2800" b="1">
                <a:solidFill>
                  <a:schemeClr val="tx1"/>
                </a:solidFill>
                <a:ea typeface="+mn-lt"/>
                <a:cs typeface="+mn-lt"/>
              </a:rPr>
              <a:t>6 </a:t>
            </a:r>
            <a:r>
              <a:rPr lang="zh-CN" altLang="en-US" sz="2800" b="1">
                <a:solidFill>
                  <a:schemeClr val="tx1"/>
                </a:solidFill>
                <a:ea typeface="+mn-lt"/>
                <a:cs typeface="+mn-lt"/>
              </a:rPr>
              <a:t>掉电保护创新优化</a:t>
            </a:r>
            <a:endParaRPr lang="zh-CN" altLang="en-US" sz="2800" b="1">
              <a:solidFill>
                <a:schemeClr val="tx1"/>
              </a:solidFill>
              <a:ea typeface="+mn-lt"/>
              <a:cs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7000" y="4839335"/>
            <a:ext cx="2195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+mn-lt"/>
                <a:cs typeface="+mn-lt"/>
              </a:rPr>
              <a:t>AI</a:t>
            </a:r>
            <a:r>
              <a:rPr lang="zh-CN" altLang="en-US" sz="2400">
                <a:solidFill>
                  <a:schemeClr val="bg1"/>
                </a:solidFill>
                <a:ea typeface="+mn-lt"/>
                <a:cs typeface="+mn-lt"/>
              </a:rPr>
              <a:t>的使用</a:t>
            </a:r>
            <a:endParaRPr lang="zh-CN" altLang="en-US" sz="240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99715" y="950595"/>
            <a:ext cx="893318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ea typeface="+mn-lt"/>
                <a:cs typeface="+mn-lt"/>
              </a:rPr>
              <a:t>研究背景：</a:t>
            </a:r>
            <a:r>
              <a:rPr lang="zh-CN" altLang="en-US">
                <a:solidFill>
                  <a:srgbClr val="FF0000"/>
                </a:solidFill>
                <a:ea typeface="+mn-lt"/>
                <a:cs typeface="+mn-lt"/>
              </a:rPr>
              <a:t>供电保护</a:t>
            </a:r>
            <a:r>
              <a:rPr lang="zh-CN" altLang="en-US">
                <a:ea typeface="+mn-lt"/>
                <a:cs typeface="+mn-lt"/>
              </a:rPr>
              <a:t>已经广泛进入现代计算设备，但</a:t>
            </a:r>
            <a:r>
              <a:rPr lang="zh-CN" altLang="en-US">
                <a:solidFill>
                  <a:srgbClr val="FF0000"/>
                </a:solidFill>
                <a:ea typeface="+mn-lt"/>
                <a:cs typeface="+mn-lt"/>
              </a:rPr>
              <a:t>传统文件系统</a:t>
            </a:r>
            <a:r>
              <a:rPr lang="zh-CN" altLang="en-US">
                <a:ea typeface="+mn-lt"/>
                <a:cs typeface="+mn-lt"/>
              </a:rPr>
              <a:t>仍会频繁将数据、日志和元数据写入磁盘，以保证极端断电情况下的恢复能力，但这也带来了额外的磁盘写入和性能开销。因此，本项目探索可选的掉电保护优化</a:t>
            </a:r>
            <a:r>
              <a:rPr lang="en-US" altLang="zh-CN">
                <a:ea typeface="+mn-lt"/>
                <a:cs typeface="+mn-lt"/>
              </a:rPr>
              <a:t>——</a:t>
            </a:r>
            <a:r>
              <a:rPr lang="zh-CN" altLang="en-US">
                <a:ea typeface="+mn-lt"/>
                <a:cs typeface="+mn-lt"/>
              </a:rPr>
              <a:t>运行时优先保证文件数据落盘，日志和部分元数据暂存内存，在正常卸载或关机时统一写回，以减少写入次数并提升性能。</a:t>
            </a:r>
            <a:endParaRPr lang="zh-CN" altLang="en-US">
              <a:ea typeface="+mn-lt"/>
              <a:cs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169920" y="2651125"/>
            <a:ext cx="2926080" cy="128651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169920" y="5097780"/>
            <a:ext cx="2926080" cy="1221740"/>
          </a:xfrm>
          <a:prstGeom prst="rect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614420" y="2731135"/>
            <a:ext cx="1558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传统写入路径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291840" y="3199765"/>
            <a:ext cx="26822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数据写入</a:t>
            </a:r>
            <a:r>
              <a:rPr lang="en-US" altLang="zh-CN" sz="1400"/>
              <a:t>-&gt;</a:t>
            </a:r>
            <a:r>
              <a:rPr lang="zh-CN" altLang="en-US" sz="1400">
                <a:ea typeface="宋体" panose="02010600030101010101" pitchFamily="2" charset="-122"/>
              </a:rPr>
              <a:t>日志提交</a:t>
            </a:r>
            <a:r>
              <a:rPr lang="en-US" altLang="zh-CN" sz="1400">
                <a:ea typeface="宋体" panose="02010600030101010101" pitchFamily="2" charset="-122"/>
              </a:rPr>
              <a:t>-&gt;</a:t>
            </a:r>
            <a:r>
              <a:rPr lang="zh-CN" altLang="en-US" sz="1400">
                <a:ea typeface="宋体" panose="02010600030101010101" pitchFamily="2" charset="-122"/>
              </a:rPr>
              <a:t>元数据落盘</a:t>
            </a:r>
            <a:r>
              <a:rPr lang="en-US" altLang="zh-CN" sz="1400">
                <a:ea typeface="宋体" panose="02010600030101010101" pitchFamily="2" charset="-122"/>
              </a:rPr>
              <a:t>-&gt;flush</a:t>
            </a:r>
            <a:r>
              <a:rPr lang="zh-CN" altLang="en-US" sz="1400">
                <a:ea typeface="宋体" panose="02010600030101010101" pitchFamily="2" charset="-122"/>
              </a:rPr>
              <a:t>等待</a:t>
            </a:r>
            <a:endParaRPr lang="zh-CN" altLang="en-US" sz="1400">
              <a:ea typeface="宋体" panose="02010600030101010101" pitchFamily="2" charset="-122"/>
            </a:endParaRPr>
          </a:p>
        </p:txBody>
      </p:sp>
      <p:sp>
        <p:nvSpPr>
          <p:cNvPr id="13" name="下箭头 12"/>
          <p:cNvSpPr/>
          <p:nvPr/>
        </p:nvSpPr>
        <p:spPr>
          <a:xfrm>
            <a:off x="4263390" y="4057650"/>
            <a:ext cx="485775" cy="97091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736340" y="5190490"/>
            <a:ext cx="2294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优化写入路径</a:t>
            </a:r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395" y="4702175"/>
            <a:ext cx="4076700" cy="165290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3291840" y="5584825"/>
            <a:ext cx="26650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数据写入</a:t>
            </a:r>
            <a:r>
              <a:rPr lang="en-US" altLang="zh-CN" sz="1400"/>
              <a:t>-&gt;</a:t>
            </a:r>
            <a:r>
              <a:rPr lang="zh-CN" altLang="en-US" sz="1400">
                <a:ea typeface="宋体" panose="02010600030101010101" pitchFamily="2" charset="-122"/>
              </a:rPr>
              <a:t>元数据留在内存</a:t>
            </a:r>
            <a:r>
              <a:rPr lang="en-US" altLang="zh-CN" sz="1400">
                <a:ea typeface="宋体" panose="02010600030101010101" pitchFamily="2" charset="-122"/>
              </a:rPr>
              <a:t>-&gt;</a:t>
            </a:r>
            <a:r>
              <a:rPr lang="zh-CN" altLang="en-US" sz="1400">
                <a:ea typeface="宋体" panose="02010600030101010101" pitchFamily="2" charset="-122"/>
              </a:rPr>
              <a:t>正常卸载时写回</a:t>
            </a:r>
            <a:endParaRPr lang="zh-CN" altLang="en-US" sz="1400">
              <a:ea typeface="宋体" panose="02010600030101010101" pitchFamily="2" charset="-122"/>
            </a:endParaRPr>
          </a:p>
        </p:txBody>
      </p:sp>
      <p:pic>
        <p:nvPicPr>
          <p:cNvPr id="21" name="图片 20" descr="ChatGPT Image 2026年8月5日 19_39_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6400" y="2382520"/>
            <a:ext cx="3869690" cy="217805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0781030" y="2992755"/>
            <a:ext cx="125793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在明确安全边界的前提下，性能大幅提升，体现了较好的工程应用价值。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8615251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07250525" name="文本框 7"/>
          <p:cNvSpPr txBox="1"/>
          <p:nvPr/>
        </p:nvSpPr>
        <p:spPr bwMode="auto">
          <a:xfrm>
            <a:off x="86359" y="1388370"/>
            <a:ext cx="233823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25331894" name="文本框 8"/>
          <p:cNvSpPr txBox="1"/>
          <p:nvPr/>
        </p:nvSpPr>
        <p:spPr bwMode="auto">
          <a:xfrm>
            <a:off x="86359" y="2325586"/>
            <a:ext cx="233787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463287041" name="文本框 9"/>
          <p:cNvSpPr txBox="1"/>
          <p:nvPr/>
        </p:nvSpPr>
        <p:spPr bwMode="auto">
          <a:xfrm>
            <a:off x="85724" y="3199937"/>
            <a:ext cx="233787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413679697" name="组合 19"/>
          <p:cNvGrpSpPr/>
          <p:nvPr/>
        </p:nvGrpSpPr>
        <p:grpSpPr bwMode="auto">
          <a:xfrm>
            <a:off x="0" y="4045553"/>
            <a:ext cx="2737505" cy="762000"/>
            <a:chOff x="0" y="772160"/>
            <a:chExt cx="2737505" cy="762000"/>
          </a:xfrm>
        </p:grpSpPr>
        <p:sp>
          <p:nvSpPr>
            <p:cNvPr id="15" name="矩形 14"/>
            <p:cNvSpPr/>
            <p:nvPr/>
          </p:nvSpPr>
          <p:spPr bwMode="auto">
            <a:xfrm>
              <a:off x="0" y="772160"/>
              <a:ext cx="2509520" cy="76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" name="等腰三角形 16"/>
            <p:cNvSpPr/>
            <p:nvPr/>
          </p:nvSpPr>
          <p:spPr bwMode="auto">
            <a:xfrm rot="5400000">
              <a:off x="2491281" y="1039167"/>
              <a:ext cx="264463" cy="227985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97029284" name="文本框 10"/>
          <p:cNvSpPr txBox="1"/>
          <p:nvPr/>
        </p:nvSpPr>
        <p:spPr bwMode="auto">
          <a:xfrm>
            <a:off x="86359" y="4061588"/>
            <a:ext cx="233787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912962963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60" y="5943600"/>
            <a:ext cx="914400" cy="914400"/>
          </a:xfrm>
          <a:prstGeom prst="rect">
            <a:avLst/>
          </a:prstGeom>
        </p:spPr>
      </p:pic>
      <p:pic>
        <p:nvPicPr>
          <p:cNvPr id="526890501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8" y="311328"/>
            <a:ext cx="2256183" cy="414149"/>
          </a:xfrm>
          <a:prstGeom prst="rect">
            <a:avLst/>
          </a:prstGeom>
        </p:spPr>
      </p:pic>
      <p:sp>
        <p:nvSpPr>
          <p:cNvPr id="261194986" name="文本框 29"/>
          <p:cNvSpPr txBox="1"/>
          <p:nvPr/>
        </p:nvSpPr>
        <p:spPr bwMode="auto">
          <a:xfrm>
            <a:off x="86054" y="5560146"/>
            <a:ext cx="233787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88657329" name="TextBox 21"/>
          <p:cNvSpPr txBox="1"/>
          <p:nvPr/>
        </p:nvSpPr>
        <p:spPr bwMode="auto">
          <a:xfrm>
            <a:off x="2743200" y="347471"/>
            <a:ext cx="8780039" cy="56515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800" b="1">
                <a:solidFill>
                  <a:schemeClr val="tx1"/>
                </a:solidFill>
                <a:ea typeface="+mn-lt"/>
                <a:cs typeface="+mn-lt"/>
              </a:rPr>
              <a:t>4.</a:t>
            </a:r>
            <a:r>
              <a:rPr lang="en-US" sz="2800" b="1">
                <a:solidFill>
                  <a:schemeClr val="tx1"/>
                </a:solidFill>
                <a:ea typeface="+mn-lt"/>
                <a:cs typeface="+mn-lt"/>
              </a:rPr>
              <a:t>7</a:t>
            </a:r>
            <a:r>
              <a:rPr sz="2800" b="1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zh-CN" sz="2800" b="1">
                <a:solidFill>
                  <a:schemeClr val="tx1"/>
                </a:solidFill>
                <a:ea typeface="+mn-lt"/>
                <a:cs typeface="+mn-lt"/>
              </a:rPr>
              <a:t>真实工作环境下的性能表现</a:t>
            </a:r>
            <a:endParaRPr lang="zh-CN" sz="2800" b="1">
              <a:solidFill>
                <a:schemeClr val="tx1"/>
              </a:solidFill>
              <a:ea typeface="+mn-lt"/>
              <a:cs typeface="+mn-lt"/>
            </a:endParaRPr>
          </a:p>
        </p:txBody>
      </p:sp>
      <p:sp>
        <p:nvSpPr>
          <p:cNvPr id="619853495" name="Rounded Rectangle 24"/>
          <p:cNvSpPr/>
          <p:nvPr>
            <p:custDataLst>
              <p:tags r:id="rId3"/>
            </p:custDataLst>
          </p:nvPr>
        </p:nvSpPr>
        <p:spPr bwMode="auto">
          <a:xfrm>
            <a:off x="3108960" y="1885950"/>
            <a:ext cx="182880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D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n>
                <a:solidFill>
                  <a:sysClr val="windowText" lastClr="000000"/>
                </a:solidFill>
              </a:ln>
              <a:latin typeface="Arial" panose="020B0604020202020204"/>
              <a:cs typeface="Arial" panose="020B0604020202020204"/>
            </a:endParaRPr>
          </a:p>
        </p:txBody>
      </p:sp>
      <p:sp>
        <p:nvSpPr>
          <p:cNvPr id="1948882897" name="TextBox 25"/>
          <p:cNvSpPr txBox="1"/>
          <p:nvPr>
            <p:custDataLst>
              <p:tags r:id="rId4"/>
            </p:custDataLst>
          </p:nvPr>
        </p:nvSpPr>
        <p:spPr bwMode="auto">
          <a:xfrm>
            <a:off x="3200397" y="1959100"/>
            <a:ext cx="1740598" cy="429895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2000" b="1">
                <a:solidFill>
                  <a:srgbClr val="BD4040"/>
                </a:solidFill>
                <a:latin typeface="Arial" panose="020B0604020202020204"/>
                <a:cs typeface="Arial" panose="020B0604020202020204"/>
              </a:rPr>
              <a:t>234.9s</a:t>
            </a:r>
            <a:endParaRPr lang="en-US" sz="2000" b="1">
              <a:solidFill>
                <a:srgbClr val="BD404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397484331" name="TextBox 26"/>
          <p:cNvSpPr txBox="1"/>
          <p:nvPr>
            <p:custDataLst>
              <p:tags r:id="rId5"/>
            </p:custDataLst>
          </p:nvPr>
        </p:nvSpPr>
        <p:spPr bwMode="auto">
          <a:xfrm>
            <a:off x="3200526" y="2336292"/>
            <a:ext cx="1683575" cy="260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25400" rIns="25400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zh-CN" sz="1000" b="1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初始版本</a:t>
            </a:r>
            <a:endParaRPr lang="zh-CN" sz="1000" b="1">
              <a:solidFill>
                <a:schemeClr val="tx1"/>
              </a:solidFill>
              <a:latin typeface="Arial" panose="020B0604020202020204"/>
              <a:ea typeface="宋体" panose="02010600030101010101" pitchFamily="2" charset="-122"/>
              <a:cs typeface="Arial" panose="020B0604020202020204"/>
            </a:endParaRPr>
          </a:p>
        </p:txBody>
      </p:sp>
      <p:sp>
        <p:nvSpPr>
          <p:cNvPr id="1952101624" name="Rounded Rectangle 27"/>
          <p:cNvSpPr/>
          <p:nvPr>
            <p:custDataLst>
              <p:tags r:id="rId6"/>
            </p:custDataLst>
          </p:nvPr>
        </p:nvSpPr>
        <p:spPr bwMode="auto">
          <a:xfrm>
            <a:off x="6134100" y="1885950"/>
            <a:ext cx="182880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389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103391597" name="TextBox 28"/>
          <p:cNvSpPr txBox="1"/>
          <p:nvPr>
            <p:custDataLst>
              <p:tags r:id="rId7"/>
            </p:custDataLst>
          </p:nvPr>
        </p:nvSpPr>
        <p:spPr bwMode="auto">
          <a:xfrm>
            <a:off x="6225539" y="1959101"/>
            <a:ext cx="1738439" cy="429895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2000" b="1">
                <a:solidFill>
                  <a:srgbClr val="389253"/>
                </a:solidFill>
                <a:latin typeface="Arial" panose="020B0604020202020204"/>
                <a:cs typeface="Arial" panose="020B0604020202020204"/>
              </a:rPr>
              <a:t>86.2s</a:t>
            </a:r>
            <a:endParaRPr lang="en-US" sz="2000" b="1">
              <a:solidFill>
                <a:srgbClr val="389253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050859283" name="TextBox 29"/>
          <p:cNvSpPr txBox="1"/>
          <p:nvPr>
            <p:custDataLst>
              <p:tags r:id="rId8"/>
            </p:custDataLst>
          </p:nvPr>
        </p:nvSpPr>
        <p:spPr bwMode="auto">
          <a:xfrm>
            <a:off x="6207251" y="2324862"/>
            <a:ext cx="1683575" cy="26035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zh-CN" sz="1000" b="1">
                <a:solidFill>
                  <a:schemeClr val="tx1"/>
                </a:solidFill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最终</a:t>
            </a:r>
            <a:r>
              <a:rPr sz="10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版本</a:t>
            </a:r>
            <a:endParaRPr sz="100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742032908" name="Rounded Rectangle 30"/>
          <p:cNvSpPr/>
          <p:nvPr>
            <p:custDataLst>
              <p:tags r:id="rId9"/>
            </p:custDataLst>
          </p:nvPr>
        </p:nvSpPr>
        <p:spPr bwMode="auto">
          <a:xfrm>
            <a:off x="8900160" y="1876425"/>
            <a:ext cx="182880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E89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6003132" name="TextBox 31"/>
          <p:cNvSpPr txBox="1"/>
          <p:nvPr>
            <p:custDataLst>
              <p:tags r:id="rId10"/>
            </p:custDataLst>
          </p:nvPr>
        </p:nvSpPr>
        <p:spPr bwMode="auto">
          <a:xfrm>
            <a:off x="8991599" y="1959101"/>
            <a:ext cx="1738439" cy="429895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en-US" sz="2000" b="1">
                <a:solidFill>
                  <a:srgbClr val="EE8926"/>
                </a:solidFill>
                <a:latin typeface="Arial" panose="020B0604020202020204"/>
                <a:cs typeface="Arial" panose="020B0604020202020204"/>
              </a:rPr>
              <a:t>2.73</a:t>
            </a:r>
            <a:r>
              <a:rPr lang="zh-CN" altLang="en-US" sz="2000" b="1">
                <a:solidFill>
                  <a:srgbClr val="EE8926"/>
                </a:solidFill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倍</a:t>
            </a:r>
            <a:endParaRPr lang="zh-CN" altLang="en-US" sz="2000" b="1">
              <a:solidFill>
                <a:srgbClr val="EE8926"/>
              </a:solidFill>
              <a:latin typeface="Arial" panose="020B0604020202020204"/>
              <a:ea typeface="宋体" panose="02010600030101010101" pitchFamily="2" charset="-122"/>
              <a:cs typeface="Arial" panose="020B0604020202020204"/>
            </a:endParaRPr>
          </a:p>
        </p:txBody>
      </p:sp>
      <p:sp>
        <p:nvSpPr>
          <p:cNvPr id="922797351" name="TextBox 32"/>
          <p:cNvSpPr txBox="1"/>
          <p:nvPr>
            <p:custDataLst>
              <p:tags r:id="rId11"/>
            </p:custDataLst>
          </p:nvPr>
        </p:nvSpPr>
        <p:spPr bwMode="auto">
          <a:xfrm>
            <a:off x="8991726" y="2335656"/>
            <a:ext cx="1683575" cy="26035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sz="1000" b="1">
                <a:solidFill>
                  <a:schemeClr val="tx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整体性能提升</a:t>
            </a:r>
            <a:endParaRPr sz="1000" b="1">
              <a:solidFill>
                <a:schemeClr val="tx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7000" y="4839335"/>
            <a:ext cx="2195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+mn-lt"/>
                <a:cs typeface="+mn-lt"/>
              </a:rPr>
              <a:t>AI</a:t>
            </a:r>
            <a:r>
              <a:rPr lang="zh-CN" altLang="en-US" sz="2400">
                <a:solidFill>
                  <a:schemeClr val="bg1"/>
                </a:solidFill>
                <a:ea typeface="+mn-lt"/>
                <a:cs typeface="+mn-lt"/>
              </a:rPr>
              <a:t>的使用</a:t>
            </a:r>
            <a:endParaRPr lang="zh-CN" altLang="en-US" sz="2400">
              <a:solidFill>
                <a:schemeClr val="bg1"/>
              </a:solidFill>
              <a:ea typeface="+mn-lt"/>
              <a:cs typeface="+mn-lt"/>
            </a:endParaRPr>
          </a:p>
        </p:txBody>
      </p:sp>
      <p:pic>
        <p:nvPicPr>
          <p:cNvPr id="3" name="图片 2" descr="ChatGPT Image 2026年8月5日 15_55_3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0025" y="3119755"/>
            <a:ext cx="5516245" cy="31051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991600" y="2325370"/>
            <a:ext cx="2750820" cy="3029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486775" y="3435350"/>
            <a:ext cx="352869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ea typeface="+mn-lt"/>
                <a:cs typeface="+mn-lt"/>
              </a:rPr>
              <a:t>在</a:t>
            </a:r>
            <a:r>
              <a:rPr lang="en-US" altLang="zh-CN">
                <a:ea typeface="+mn-lt"/>
                <a:cs typeface="+mn-lt"/>
              </a:rPr>
              <a:t>Asterinas</a:t>
            </a:r>
            <a:r>
              <a:rPr lang="zh-CN" altLang="en-US">
                <a:ea typeface="+mn-lt"/>
                <a:cs typeface="+mn-lt"/>
              </a:rPr>
              <a:t>的</a:t>
            </a:r>
            <a:r>
              <a:rPr lang="en-US" altLang="zh-CN">
                <a:ea typeface="+mn-lt"/>
                <a:cs typeface="+mn-lt"/>
              </a:rPr>
              <a:t>Rust framekernel</a:t>
            </a:r>
            <a:r>
              <a:rPr lang="zh-CN" altLang="en-US">
                <a:ea typeface="+mn-lt"/>
                <a:cs typeface="+mn-lt"/>
              </a:rPr>
              <a:t>架构上，测试需要完成 </a:t>
            </a:r>
            <a:r>
              <a:rPr lang="en-US" altLang="zh-CN">
                <a:ea typeface="+mn-lt"/>
                <a:cs typeface="+mn-lt"/>
              </a:rPr>
              <a:t>VFS、</a:t>
            </a:r>
            <a:r>
              <a:rPr lang="zh-CN" altLang="en-US">
                <a:ea typeface="+mn-lt"/>
                <a:cs typeface="+mn-lt"/>
              </a:rPr>
              <a:t>缓存、块设备与日志子系统的协同。</a:t>
            </a:r>
            <a:br>
              <a:rPr lang="zh-CN" altLang="en-US">
                <a:ea typeface="+mn-lt"/>
                <a:cs typeface="+mn-lt"/>
              </a:rPr>
            </a:br>
            <a:r>
              <a:rPr lang="zh-CN" altLang="en-US">
                <a:ea typeface="+mn-lt"/>
                <a:cs typeface="+mn-lt"/>
              </a:rPr>
              <a:t>  </a:t>
            </a:r>
            <a:endParaRPr lang="zh-CN" altLang="en-US">
              <a:ea typeface="+mn-lt"/>
              <a:cs typeface="+mn-lt"/>
            </a:endParaRPr>
          </a:p>
          <a:p>
            <a:r>
              <a:rPr lang="zh-CN" altLang="en-US">
                <a:solidFill>
                  <a:srgbClr val="FF0000"/>
                </a:solidFill>
                <a:ea typeface="+mn-lt"/>
                <a:cs typeface="+mn-lt"/>
              </a:rPr>
              <a:t>对于仍在持续完善的 </a:t>
            </a:r>
            <a:r>
              <a:rPr lang="en-US" altLang="zh-CN">
                <a:solidFill>
                  <a:srgbClr val="FF0000"/>
                </a:solidFill>
                <a:ea typeface="+mn-lt"/>
                <a:cs typeface="+mn-lt"/>
              </a:rPr>
              <a:t>Asterinas </a:t>
            </a:r>
            <a:r>
              <a:rPr lang="zh-CN" altLang="en-US">
                <a:solidFill>
                  <a:srgbClr val="FF0000"/>
                </a:solidFill>
                <a:ea typeface="+mn-lt"/>
                <a:cs typeface="+mn-lt"/>
              </a:rPr>
              <a:t>系统基础架构而言，当前</a:t>
            </a:r>
            <a:r>
              <a:rPr lang="en-US" altLang="zh-CN">
                <a:solidFill>
                  <a:srgbClr val="FF0000"/>
                </a:solidFill>
                <a:ea typeface="+mn-lt"/>
                <a:cs typeface="+mn-lt"/>
              </a:rPr>
              <a:t>EXT4</a:t>
            </a:r>
            <a:r>
              <a:rPr lang="zh-CN" altLang="en-US">
                <a:solidFill>
                  <a:srgbClr val="FF0000"/>
                </a:solidFill>
                <a:ea typeface="+mn-lt"/>
                <a:cs typeface="+mn-lt"/>
              </a:rPr>
              <a:t>已具备较好的实际应用处理能力</a:t>
            </a:r>
            <a:r>
              <a:rPr lang="zh-CN" altLang="en-US">
                <a:solidFill>
                  <a:srgbClr val="FF0000"/>
                </a:solidFill>
              </a:rPr>
              <a:t>。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108960" y="868045"/>
            <a:ext cx="79584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ym typeface="+mn-ea"/>
              </a:rPr>
              <a:t>SQLite</a:t>
            </a:r>
            <a:r>
              <a:rPr lang="zh-CN" altLang="en-US" b="1">
                <a:sym typeface="+mn-ea"/>
              </a:rPr>
              <a:t>不同于</a:t>
            </a:r>
            <a:r>
              <a:rPr lang="en-US" altLang="zh-CN" b="1">
                <a:sym typeface="+mn-ea"/>
              </a:rPr>
              <a:t>fio</a:t>
            </a:r>
            <a:r>
              <a:rPr lang="zh-CN" altLang="en-US" b="1">
                <a:sym typeface="+mn-ea"/>
              </a:rPr>
              <a:t>的单一 </a:t>
            </a:r>
            <a:r>
              <a:rPr lang="en-US" altLang="zh-CN" b="1">
                <a:sym typeface="+mn-ea"/>
              </a:rPr>
              <a:t>I/O </a:t>
            </a:r>
            <a:r>
              <a:rPr lang="zh-CN" altLang="en-US" b="1">
                <a:sym typeface="+mn-ea"/>
              </a:rPr>
              <a:t>场景，会持续触发数据库文件增长、索引更新、元数据修改和事务提交，对</a:t>
            </a:r>
            <a:r>
              <a:rPr lang="en-US" altLang="zh-CN" b="1">
                <a:sym typeface="+mn-ea"/>
              </a:rPr>
              <a:t>Extent</a:t>
            </a:r>
            <a:r>
              <a:rPr lang="zh-CN" altLang="en-US" b="1">
                <a:sym typeface="+mn-ea"/>
              </a:rPr>
              <a:t>映射、</a:t>
            </a:r>
            <a:r>
              <a:rPr lang="en-US" altLang="zh-CN" b="1">
                <a:sym typeface="+mn-ea"/>
              </a:rPr>
              <a:t>PageCache</a:t>
            </a:r>
            <a:r>
              <a:rPr lang="zh-CN" altLang="en-US" b="1">
                <a:sym typeface="+mn-ea"/>
              </a:rPr>
              <a:t>写回和</a:t>
            </a:r>
            <a:r>
              <a:rPr lang="en-US" altLang="zh-CN" b="1">
                <a:sym typeface="+mn-ea"/>
              </a:rPr>
              <a:t>JBD2</a:t>
            </a:r>
            <a:r>
              <a:rPr lang="zh-CN" altLang="en-US" b="1">
                <a:sym typeface="+mn-ea"/>
              </a:rPr>
              <a:t>日志路径形成组合压力。</a:t>
            </a:r>
            <a:endParaRPr lang="zh-CN" altLang="en-US" b="1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8615251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07250525" name="文本框 7"/>
          <p:cNvSpPr txBox="1"/>
          <p:nvPr/>
        </p:nvSpPr>
        <p:spPr bwMode="auto">
          <a:xfrm>
            <a:off x="86359" y="1388370"/>
            <a:ext cx="233823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25331894" name="文本框 8"/>
          <p:cNvSpPr txBox="1"/>
          <p:nvPr/>
        </p:nvSpPr>
        <p:spPr bwMode="auto">
          <a:xfrm>
            <a:off x="86359" y="2325586"/>
            <a:ext cx="233787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463287041" name="文本框 9"/>
          <p:cNvSpPr txBox="1"/>
          <p:nvPr/>
        </p:nvSpPr>
        <p:spPr bwMode="auto">
          <a:xfrm>
            <a:off x="85724" y="3199937"/>
            <a:ext cx="233787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7029284" name="文本框 10"/>
          <p:cNvSpPr txBox="1"/>
          <p:nvPr/>
        </p:nvSpPr>
        <p:spPr bwMode="auto">
          <a:xfrm>
            <a:off x="86359" y="4061588"/>
            <a:ext cx="233787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912962963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60" y="5943600"/>
            <a:ext cx="914400" cy="914400"/>
          </a:xfrm>
          <a:prstGeom prst="rect">
            <a:avLst/>
          </a:prstGeom>
        </p:spPr>
      </p:pic>
      <p:pic>
        <p:nvPicPr>
          <p:cNvPr id="526890501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8" y="311328"/>
            <a:ext cx="2256183" cy="414149"/>
          </a:xfrm>
          <a:prstGeom prst="rect">
            <a:avLst/>
          </a:prstGeom>
        </p:spPr>
      </p:pic>
      <p:sp>
        <p:nvSpPr>
          <p:cNvPr id="261194986" name="文本框 29"/>
          <p:cNvSpPr txBox="1"/>
          <p:nvPr/>
        </p:nvSpPr>
        <p:spPr bwMode="auto">
          <a:xfrm>
            <a:off x="86054" y="5560146"/>
            <a:ext cx="233787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37485" y="37528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>
                <a:solidFill>
                  <a:schemeClr val="tx1"/>
                </a:solidFill>
                <a:effectLst/>
                <a:ea typeface="+mn-lt"/>
                <a:cs typeface="+mn-lt"/>
              </a:rPr>
              <a:t>5.1 AI</a:t>
            </a:r>
            <a:r>
              <a:rPr lang="zh-CN" altLang="en-US" sz="2800" b="1">
                <a:solidFill>
                  <a:schemeClr val="tx1"/>
                </a:solidFill>
                <a:effectLst/>
                <a:ea typeface="+mn-lt"/>
                <a:cs typeface="+mn-lt"/>
              </a:rPr>
              <a:t>使用情况说明</a:t>
            </a:r>
            <a:endParaRPr lang="zh-CN" altLang="en-US" sz="2800" b="1">
              <a:solidFill>
                <a:schemeClr val="tx1"/>
              </a:solidFill>
              <a:effectLst/>
              <a:ea typeface="+mn-lt"/>
              <a:cs typeface="+mn-lt"/>
            </a:endParaRPr>
          </a:p>
        </p:txBody>
      </p:sp>
      <p:sp>
        <p:nvSpPr>
          <p:cNvPr id="416082897" name="文本框 1"/>
          <p:cNvSpPr txBox="1"/>
          <p:nvPr/>
        </p:nvSpPr>
        <p:spPr bwMode="auto">
          <a:xfrm>
            <a:off x="2907665" y="1901825"/>
            <a:ext cx="6638925" cy="1660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50000"/>
              </a:lnSpc>
              <a:buFont typeface="Arial" panose="020B0604020202020204"/>
              <a:buNone/>
              <a:defRPr/>
            </a:pPr>
            <a:r>
              <a:rPr lang="zh-CN" b="1">
                <a:solidFill>
                  <a:schemeClr val="tx1"/>
                </a:solidFill>
                <a:effectLst/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使用工具：</a:t>
            </a:r>
            <a:endParaRPr b="1">
              <a:solidFill>
                <a:schemeClr val="tx1"/>
              </a:solidFill>
              <a:effectLst/>
              <a:latin typeface="Arial" panose="020B0604020202020204"/>
              <a:cs typeface="Arial" panose="020B0604020202020204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r>
              <a:rPr lang="zh-CN" altLang="en-US" sz="1600">
                <a:ea typeface="+mn-lt"/>
                <a:cs typeface="+mn-lt"/>
              </a:rPr>
              <a:t>交互与执行工具</a:t>
            </a:r>
            <a:r>
              <a:rPr lang="en-US" sz="1600">
                <a:ea typeface="+mn-lt"/>
                <a:cs typeface="+mn-lt"/>
              </a:rPr>
              <a:t>	   </a:t>
            </a:r>
            <a:r>
              <a:rPr lang="en-US" altLang="zh-CN" sz="1600">
                <a:ea typeface="+mn-lt"/>
                <a:cs typeface="+mn-lt"/>
              </a:rPr>
              <a:t>Claude Code</a:t>
            </a:r>
            <a:r>
              <a:rPr lang="zh-CN" altLang="en-US" sz="1600">
                <a:ea typeface="+mn-lt"/>
                <a:cs typeface="+mn-lt"/>
              </a:rPr>
              <a:t>（命令行交互与执行</a:t>
            </a:r>
            <a:r>
              <a:rPr lang="en-US" altLang="zh-CN" sz="1600">
                <a:ea typeface="+mn-lt"/>
                <a:cs typeface="+mn-lt"/>
              </a:rPr>
              <a:t>harness</a:t>
            </a:r>
            <a:r>
              <a:rPr lang="zh-CN" altLang="en-US" sz="1600">
                <a:ea typeface="+mn-lt"/>
                <a:cs typeface="+mn-lt"/>
              </a:rPr>
              <a:t>）</a:t>
            </a:r>
            <a:r>
              <a:rPr lang="en-US" sz="1600">
                <a:ea typeface="+mn-lt"/>
                <a:cs typeface="+mn-lt"/>
              </a:rPr>
              <a:t>	</a:t>
            </a:r>
            <a:endParaRPr lang="en-US" sz="1600"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r>
              <a:rPr lang="zh-CN" altLang="en-US" sz="1600">
                <a:ea typeface="+mn-lt"/>
                <a:cs typeface="+mn-lt"/>
              </a:rPr>
              <a:t>使用的大模型</a:t>
            </a:r>
            <a:r>
              <a:rPr lang="en-US" sz="1600">
                <a:ea typeface="+mn-lt"/>
                <a:cs typeface="+mn-lt"/>
              </a:rPr>
              <a:t>        </a:t>
            </a:r>
            <a:r>
              <a:rPr lang="en-US" altLang="zh-CN" sz="1600">
                <a:ea typeface="+mn-lt"/>
                <a:cs typeface="+mn-lt"/>
              </a:rPr>
              <a:t>DeepSeek V4 Pro</a:t>
            </a:r>
            <a:endParaRPr lang="en-US" altLang="zh-CN" sz="1600"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r>
              <a:rPr lang="zh-CN" altLang="en-US" sz="1600">
                <a:ea typeface="+mn-lt"/>
                <a:cs typeface="+mn-lt"/>
              </a:rPr>
              <a:t>使用方式</a:t>
            </a:r>
            <a:r>
              <a:rPr lang="en-US" sz="1600">
                <a:ea typeface="+mn-lt"/>
                <a:cs typeface="+mn-lt"/>
              </a:rPr>
              <a:t>	   </a:t>
            </a:r>
            <a:r>
              <a:rPr lang="zh-CN" altLang="en-US">
                <a:ea typeface="+mn-lt"/>
                <a:cs typeface="+mn-lt"/>
              </a:rPr>
              <a:t>本地终端交互</a:t>
            </a:r>
            <a:endParaRPr lang="zh-CN" altLang="en-US">
              <a:ea typeface="+mn-lt"/>
              <a:cs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37180" y="979805"/>
            <a:ext cx="87985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ea typeface="+mn-lt"/>
                <a:cs typeface="+mn-lt"/>
              </a:rPr>
              <a:t>本项目使用</a:t>
            </a:r>
            <a:r>
              <a:rPr lang="en-US" altLang="zh-CN">
                <a:ea typeface="+mn-lt"/>
                <a:cs typeface="+mn-lt"/>
              </a:rPr>
              <a:t>AI</a:t>
            </a:r>
            <a:r>
              <a:rPr lang="zh-CN" altLang="en-US">
                <a:ea typeface="+mn-lt"/>
                <a:cs typeface="+mn-lt"/>
              </a:rPr>
              <a:t>的基本方式是：参赛队负责需求拆分、功能代码实现、代码修改、测试取舍、结果验收和最终提交；</a:t>
            </a:r>
            <a:r>
              <a:rPr lang="en-US" altLang="zh-CN">
                <a:ea typeface="+mn-lt"/>
                <a:cs typeface="+mn-lt"/>
              </a:rPr>
              <a:t>AI</a:t>
            </a:r>
            <a:r>
              <a:rPr lang="zh-CN" altLang="en-US">
                <a:ea typeface="+mn-lt"/>
                <a:cs typeface="+mn-lt"/>
              </a:rPr>
              <a:t>工具主要用于沟通实现思路、检查代码风险、排查运行</a:t>
            </a:r>
            <a:r>
              <a:rPr lang="en-US" altLang="zh-CN">
                <a:ea typeface="+mn-lt"/>
                <a:cs typeface="+mn-lt"/>
              </a:rPr>
              <a:t> bug</a:t>
            </a:r>
            <a:r>
              <a:rPr lang="zh-CN" altLang="en-US">
                <a:ea typeface="+mn-lt"/>
                <a:cs typeface="+mn-lt"/>
              </a:rPr>
              <a:t>、生成自动化测试脚本、整理测试数据表格，以及总结阶段状态供队内讨论。</a:t>
            </a:r>
            <a:endParaRPr lang="zh-CN" altLang="en-US">
              <a:ea typeface="+mn-lt"/>
              <a:cs typeface="+mn-lt"/>
            </a:endParaRPr>
          </a:p>
        </p:txBody>
      </p:sp>
      <p:sp>
        <p:nvSpPr>
          <p:cNvPr id="5" name="文本框 1"/>
          <p:cNvSpPr txBox="1"/>
          <p:nvPr/>
        </p:nvSpPr>
        <p:spPr bwMode="auto">
          <a:xfrm>
            <a:off x="2907665" y="3766185"/>
            <a:ext cx="8981440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50000"/>
              </a:lnSpc>
              <a:buFont typeface="Arial" panose="020B0604020202020204"/>
              <a:buNone/>
              <a:defRPr/>
            </a:pPr>
            <a:r>
              <a:rPr lang="zh-CN" b="1">
                <a:solidFill>
                  <a:schemeClr val="tx1"/>
                </a:solidFill>
                <a:effectLst/>
                <a:latin typeface="Arial" panose="020B0604020202020204"/>
                <a:ea typeface="宋体" panose="02010600030101010101" pitchFamily="2" charset="-122"/>
                <a:cs typeface="Arial" panose="020B0604020202020204"/>
              </a:rPr>
              <a:t>使用场景：</a:t>
            </a:r>
            <a:endParaRPr b="1">
              <a:solidFill>
                <a:schemeClr val="tx1"/>
              </a:solidFill>
              <a:effectLst/>
              <a:latin typeface="Arial" panose="020B0604020202020204"/>
              <a:cs typeface="Arial" panose="020B0604020202020204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r>
              <a:rPr lang="zh-CN" altLang="en-US" sz="1400" b="1">
                <a:solidFill>
                  <a:schemeClr val="tx1"/>
                </a:solidFill>
                <a:effectLst/>
                <a:ea typeface="+mn-lt"/>
                <a:cs typeface="+mn-lt"/>
              </a:rPr>
              <a:t>思路沟通与代码检查</a:t>
            </a:r>
            <a:r>
              <a:rPr lang="zh-CN" altLang="en-US" sz="1400">
                <a:ea typeface="+mn-lt"/>
                <a:cs typeface="+mn-lt"/>
              </a:rPr>
              <a:t>：围绕参赛队已经实现或准备实现的功能，讨论可能影响的模块、边界条件和风险点。</a:t>
            </a:r>
            <a:endParaRPr lang="en-US" sz="1400"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r>
              <a:rPr lang="zh-CN" altLang="en-US" sz="1400" b="1">
                <a:ea typeface="+mn-lt"/>
                <a:cs typeface="+mn-lt"/>
              </a:rPr>
              <a:t>运行问题排查</a:t>
            </a:r>
            <a:r>
              <a:rPr lang="zh-CN" altLang="en-US" sz="1400">
                <a:ea typeface="+mn-lt"/>
                <a:cs typeface="+mn-lt"/>
              </a:rPr>
              <a:t>：当功能运行不正确、测试失败或出现</a:t>
            </a:r>
            <a:r>
              <a:rPr lang="en-US" altLang="zh-CN" sz="1400">
                <a:ea typeface="+mn-lt"/>
                <a:cs typeface="+mn-lt"/>
              </a:rPr>
              <a:t>panic/timeout</a:t>
            </a:r>
            <a:r>
              <a:rPr lang="zh-CN" altLang="en-US" sz="1400">
                <a:ea typeface="+mn-lt"/>
                <a:cs typeface="+mn-lt"/>
              </a:rPr>
              <a:t>时，辅助分析日志和报错信息。</a:t>
            </a:r>
            <a:endParaRPr lang="zh-CN" altLang="en-US" sz="1400"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r>
              <a:rPr lang="zh-CN" altLang="en-US" sz="1400" b="1">
                <a:ea typeface="+mn-lt"/>
                <a:cs typeface="+mn-lt"/>
              </a:rPr>
              <a:t>自动化测试辅助</a:t>
            </a:r>
            <a:r>
              <a:rPr lang="zh-CN" altLang="en-US" sz="1400">
                <a:ea typeface="+mn-lt"/>
                <a:cs typeface="+mn-lt"/>
              </a:rPr>
              <a:t>：由于</a:t>
            </a:r>
            <a:r>
              <a:rPr lang="en-US" altLang="zh-CN" sz="1400">
                <a:ea typeface="+mn-lt"/>
                <a:cs typeface="+mn-lt"/>
              </a:rPr>
              <a:t>xfstests</a:t>
            </a:r>
            <a:r>
              <a:rPr lang="zh-CN" altLang="en-US" sz="1400">
                <a:ea typeface="+mn-lt"/>
                <a:cs typeface="+mn-lt"/>
              </a:rPr>
              <a:t>、</a:t>
            </a:r>
            <a:r>
              <a:rPr lang="en-US" altLang="zh-CN" sz="1400">
                <a:ea typeface="+mn-lt"/>
                <a:cs typeface="+mn-lt"/>
              </a:rPr>
              <a:t>fio</a:t>
            </a:r>
            <a:r>
              <a:rPr lang="zh-CN" altLang="en-US" sz="1400">
                <a:ea typeface="+mn-lt"/>
                <a:cs typeface="+mn-lt"/>
              </a:rPr>
              <a:t>等测试耗时较长，</a:t>
            </a:r>
            <a:r>
              <a:rPr lang="en-US" altLang="zh-CN" sz="1400">
                <a:ea typeface="+mn-lt"/>
                <a:cs typeface="+mn-lt"/>
              </a:rPr>
              <a:t>AI</a:t>
            </a:r>
            <a:r>
              <a:rPr lang="zh-CN" altLang="en-US" sz="1400">
                <a:ea typeface="+mn-lt"/>
                <a:cs typeface="+mn-lt"/>
              </a:rPr>
              <a:t>辅助编写测试脚本、整理运行命令，并按参赛队要求执行重复测试。</a:t>
            </a:r>
            <a:endParaRPr lang="zh-CN" altLang="en-US" sz="1400"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/>
              <a:buChar char="n"/>
              <a:defRPr/>
            </a:pPr>
            <a:r>
              <a:rPr lang="zh-CN" altLang="en-US" sz="1400" b="1">
                <a:ea typeface="+mn-lt"/>
                <a:cs typeface="+mn-lt"/>
              </a:rPr>
              <a:t>测试数据整理</a:t>
            </a:r>
            <a:r>
              <a:rPr lang="zh-CN" altLang="en-US" sz="1400">
                <a:ea typeface="+mn-lt"/>
                <a:cs typeface="+mn-lt"/>
              </a:rPr>
              <a:t>：将多轮</a:t>
            </a:r>
            <a:r>
              <a:rPr lang="en-US" altLang="zh-CN" sz="1400">
                <a:ea typeface="+mn-lt"/>
                <a:cs typeface="+mn-lt"/>
              </a:rPr>
              <a:t>benchmark</a:t>
            </a:r>
            <a:r>
              <a:rPr lang="zh-CN" altLang="en-US" sz="1400">
                <a:ea typeface="+mn-lt"/>
                <a:cs typeface="+mn-lt"/>
              </a:rPr>
              <a:t>、</a:t>
            </a:r>
            <a:r>
              <a:rPr lang="en-US" altLang="zh-CN" sz="1400">
                <a:ea typeface="+mn-lt"/>
                <a:cs typeface="+mn-lt"/>
              </a:rPr>
              <a:t>PASS/FAIL</a:t>
            </a:r>
            <a:r>
              <a:rPr lang="zh-CN" altLang="en-US" sz="1400">
                <a:ea typeface="+mn-lt"/>
                <a:cs typeface="+mn-lt"/>
              </a:rPr>
              <a:t>结果整理为表格，便于比较不同阶段的性能变化和正确性状态。</a:t>
            </a:r>
            <a:endParaRPr lang="zh-CN" altLang="en-US" sz="1400">
              <a:latin typeface="Arial" panose="020B0604020202020204"/>
              <a:ea typeface="宋体" panose="02010600030101010101" pitchFamily="2" charset="-122"/>
              <a:cs typeface="Arial" panose="020B0604020202020204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0740" y="1984375"/>
            <a:ext cx="2234565" cy="1966595"/>
          </a:xfrm>
          <a:prstGeom prst="rect">
            <a:avLst/>
          </a:prstGeom>
        </p:spPr>
      </p:pic>
      <p:grpSp>
        <p:nvGrpSpPr>
          <p:cNvPr id="1413679697" name="组合 19"/>
          <p:cNvGrpSpPr/>
          <p:nvPr/>
        </p:nvGrpSpPr>
        <p:grpSpPr bwMode="auto">
          <a:xfrm>
            <a:off x="0" y="4609433"/>
            <a:ext cx="2737505" cy="762000"/>
            <a:chOff x="0" y="772160"/>
            <a:chExt cx="2737505" cy="762000"/>
          </a:xfrm>
        </p:grpSpPr>
        <p:sp>
          <p:nvSpPr>
            <p:cNvPr id="15" name="矩形 14"/>
            <p:cNvSpPr/>
            <p:nvPr/>
          </p:nvSpPr>
          <p:spPr bwMode="auto">
            <a:xfrm>
              <a:off x="0" y="772160"/>
              <a:ext cx="2509520" cy="76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" name="等腰三角形 16"/>
            <p:cNvSpPr/>
            <p:nvPr/>
          </p:nvSpPr>
          <p:spPr bwMode="auto">
            <a:xfrm rot="5400000">
              <a:off x="2491281" y="1039167"/>
              <a:ext cx="264463" cy="227985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27000" y="4839335"/>
            <a:ext cx="2195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+mn-lt"/>
                <a:cs typeface="+mn-lt"/>
              </a:rPr>
              <a:t>AI</a:t>
            </a:r>
            <a:r>
              <a:rPr lang="zh-CN" altLang="en-US" sz="2400">
                <a:solidFill>
                  <a:schemeClr val="bg1"/>
                </a:solidFill>
                <a:ea typeface="+mn-lt"/>
                <a:cs typeface="+mn-lt"/>
              </a:rPr>
              <a:t>的使用</a:t>
            </a:r>
            <a:endParaRPr lang="zh-CN" altLang="en-US" sz="2400">
              <a:solidFill>
                <a:schemeClr val="bg1"/>
              </a:solidFill>
              <a:ea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450987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1185693537" name="文本框 7"/>
          <p:cNvSpPr txBox="1"/>
          <p:nvPr/>
        </p:nvSpPr>
        <p:spPr bwMode="auto">
          <a:xfrm>
            <a:off x="86359" y="1388370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86379121" name="文本框 8"/>
          <p:cNvSpPr txBox="1"/>
          <p:nvPr/>
        </p:nvSpPr>
        <p:spPr bwMode="auto">
          <a:xfrm>
            <a:off x="86359" y="232558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334316267" name="文本框 9"/>
          <p:cNvSpPr txBox="1"/>
          <p:nvPr/>
        </p:nvSpPr>
        <p:spPr bwMode="auto">
          <a:xfrm>
            <a:off x="85724" y="3199937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37234001" name="文本框 10"/>
          <p:cNvSpPr txBox="1"/>
          <p:nvPr/>
        </p:nvSpPr>
        <p:spPr bwMode="auto">
          <a:xfrm>
            <a:off x="86359" y="4061588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786638455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60" y="5943600"/>
            <a:ext cx="914400" cy="914400"/>
          </a:xfrm>
          <a:prstGeom prst="rect">
            <a:avLst/>
          </a:prstGeom>
        </p:spPr>
      </p:pic>
      <p:pic>
        <p:nvPicPr>
          <p:cNvPr id="1342631083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8" y="311328"/>
            <a:ext cx="2256183" cy="414149"/>
          </a:xfrm>
          <a:prstGeom prst="rect">
            <a:avLst/>
          </a:prstGeom>
        </p:spPr>
      </p:pic>
      <p:grpSp>
        <p:nvGrpSpPr>
          <p:cNvPr id="1157652546" name="组合 19"/>
          <p:cNvGrpSpPr/>
          <p:nvPr/>
        </p:nvGrpSpPr>
        <p:grpSpPr bwMode="auto">
          <a:xfrm>
            <a:off x="0" y="5292058"/>
            <a:ext cx="2737505" cy="762000"/>
            <a:chOff x="0" y="772160"/>
            <a:chExt cx="2737505" cy="762000"/>
          </a:xfrm>
        </p:grpSpPr>
        <p:sp>
          <p:nvSpPr>
            <p:cNvPr id="35" name="矩形 14"/>
            <p:cNvSpPr/>
            <p:nvPr/>
          </p:nvSpPr>
          <p:spPr bwMode="auto">
            <a:xfrm>
              <a:off x="0" y="772160"/>
              <a:ext cx="2509520" cy="76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6" name="等腰三角形 16"/>
            <p:cNvSpPr/>
            <p:nvPr/>
          </p:nvSpPr>
          <p:spPr bwMode="auto">
            <a:xfrm rot="5400000">
              <a:off x="2491281" y="1039167"/>
              <a:ext cx="264463" cy="227985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173196294" name="文本框 29"/>
          <p:cNvSpPr txBox="1"/>
          <p:nvPr/>
        </p:nvSpPr>
        <p:spPr bwMode="auto">
          <a:xfrm>
            <a:off x="86054" y="5560146"/>
            <a:ext cx="233715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948747734" name="TextBox 37"/>
          <p:cNvSpPr txBox="1"/>
          <p:nvPr/>
        </p:nvSpPr>
        <p:spPr bwMode="auto">
          <a:xfrm>
            <a:off x="2743200" y="347471"/>
            <a:ext cx="8779319" cy="56515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lang="en-US" sz="2800" b="1">
                <a:solidFill>
                  <a:schemeClr val="tx1"/>
                </a:solidFill>
                <a:ea typeface="+mn-lt"/>
                <a:cs typeface="+mn-lt"/>
              </a:rPr>
              <a:t>6</a:t>
            </a:r>
            <a:r>
              <a:rPr sz="2800" b="1">
                <a:solidFill>
                  <a:schemeClr val="tx1"/>
                </a:solidFill>
                <a:ea typeface="+mn-lt"/>
                <a:cs typeface="+mn-lt"/>
              </a:rPr>
              <a:t>.1 </a:t>
            </a:r>
            <a:r>
              <a:rPr lang="zh-CN" sz="2800" b="1">
                <a:solidFill>
                  <a:schemeClr val="tx1"/>
                </a:solidFill>
                <a:ea typeface="+mn-lt"/>
                <a:cs typeface="+mn-lt"/>
              </a:rPr>
              <a:t>项目总结</a:t>
            </a:r>
            <a:endParaRPr sz="2800" b="1">
              <a:solidFill>
                <a:schemeClr val="tx1"/>
              </a:solidFill>
              <a:ea typeface="+mn-lt"/>
              <a:cs typeface="+mn-lt"/>
            </a:endParaRPr>
          </a:p>
        </p:txBody>
      </p:sp>
      <p:sp>
        <p:nvSpPr>
          <p:cNvPr id="1901329429" name="文本框 2"/>
          <p:cNvSpPr txBox="1"/>
          <p:nvPr/>
        </p:nvSpPr>
        <p:spPr bwMode="auto">
          <a:xfrm>
            <a:off x="2824480" y="1786890"/>
            <a:ext cx="4064000" cy="36372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defRPr/>
            </a:pPr>
            <a:endParaRPr>
              <a:latin typeface="Arial" panose="020B0604020202020204"/>
              <a:cs typeface="Arial" panose="020B0604020202020204"/>
            </a:endParaRPr>
          </a:p>
          <a:p>
            <a:pPr>
              <a:defRPr/>
            </a:pPr>
            <a:r>
              <a:rPr lang="en-US">
                <a:ea typeface="+mn-lt"/>
                <a:cs typeface="+mn-lt"/>
              </a:rPr>
              <a:t>■ </a:t>
            </a:r>
            <a:r>
              <a:rPr lang="zh-CN" b="1">
                <a:ea typeface="+mn-lt"/>
                <a:cs typeface="+mn-lt"/>
              </a:rPr>
              <a:t>主体功能完整</a:t>
            </a:r>
            <a:r>
              <a:rPr lang="zh-CN">
                <a:ea typeface="+mn-lt"/>
                <a:cs typeface="+mn-lt"/>
              </a:rPr>
              <a:t>：</a:t>
            </a:r>
            <a:r>
              <a:rPr lang="zh-CN" altLang="en-US">
                <a:ea typeface="+mn-lt"/>
                <a:cs typeface="+mn-lt"/>
              </a:rPr>
              <a:t>实现</a:t>
            </a:r>
            <a:r>
              <a:rPr lang="en-US" altLang="zh-CN">
                <a:ea typeface="+mn-lt"/>
                <a:cs typeface="+mn-lt"/>
              </a:rPr>
              <a:t>POSIX</a:t>
            </a:r>
            <a:r>
              <a:rPr lang="zh-CN" altLang="en-US">
                <a:ea typeface="+mn-lt"/>
                <a:cs typeface="+mn-lt"/>
              </a:rPr>
              <a:t>接口、目录操作、</a:t>
            </a:r>
            <a:r>
              <a:rPr lang="en-US" altLang="zh-CN">
                <a:ea typeface="+mn-lt"/>
                <a:cs typeface="+mn-lt"/>
              </a:rPr>
              <a:t>Extent</a:t>
            </a:r>
            <a:r>
              <a:rPr lang="zh-CN" altLang="en-US">
                <a:ea typeface="+mn-lt"/>
                <a:cs typeface="+mn-lt"/>
              </a:rPr>
              <a:t>管理、</a:t>
            </a:r>
            <a:r>
              <a:rPr lang="en-US" altLang="zh-CN">
                <a:ea typeface="+mn-lt"/>
                <a:cs typeface="+mn-lt"/>
              </a:rPr>
              <a:t>inode/</a:t>
            </a:r>
            <a:r>
              <a:rPr lang="zh-CN" altLang="en-US">
                <a:ea typeface="+mn-lt"/>
                <a:cs typeface="+mn-lt"/>
              </a:rPr>
              <a:t>块分配等，并完成与</a:t>
            </a:r>
            <a:r>
              <a:rPr lang="en-US" altLang="zh-CN">
                <a:ea typeface="+mn-lt"/>
                <a:cs typeface="+mn-lt"/>
              </a:rPr>
              <a:t>Asterinas VFS</a:t>
            </a:r>
            <a:r>
              <a:rPr lang="zh-CN" altLang="en-US">
                <a:ea typeface="+mn-lt"/>
                <a:cs typeface="+mn-lt"/>
              </a:rPr>
              <a:t>集成。</a:t>
            </a:r>
            <a:endParaRPr>
              <a:ea typeface="+mn-lt"/>
              <a:cs typeface="+mn-lt"/>
            </a:endParaRPr>
          </a:p>
          <a:p>
            <a:pPr>
              <a:defRPr/>
            </a:pPr>
            <a:endParaRPr>
              <a:ea typeface="+mn-lt"/>
              <a:cs typeface="+mn-lt"/>
            </a:endParaRPr>
          </a:p>
          <a:p>
            <a:pPr>
              <a:defRPr/>
            </a:pPr>
            <a:r>
              <a:rPr lang="en-US">
                <a:ea typeface="+mn-lt"/>
                <a:cs typeface="+mn-lt"/>
              </a:rPr>
              <a:t>■ </a:t>
            </a:r>
            <a:r>
              <a:rPr lang="zh-CN" altLang="en-US" b="1">
                <a:ea typeface="+mn-lt"/>
                <a:cs typeface="+mn-lt"/>
              </a:rPr>
              <a:t>崩溃恢复一致性</a:t>
            </a:r>
            <a:r>
              <a:rPr lang="zh-CN">
                <a:ea typeface="+mn-lt"/>
                <a:cs typeface="+mn-lt"/>
              </a:rPr>
              <a:t>：</a:t>
            </a:r>
            <a:r>
              <a:rPr lang="zh-CN" altLang="en-US">
                <a:ea typeface="+mn-lt"/>
                <a:cs typeface="+mn-lt"/>
              </a:rPr>
              <a:t>实现事务提交、</a:t>
            </a:r>
            <a:r>
              <a:rPr lang="en-US" altLang="zh-CN">
                <a:ea typeface="+mn-lt"/>
                <a:cs typeface="+mn-lt"/>
              </a:rPr>
              <a:t>revoke、checkpoint</a:t>
            </a:r>
            <a:r>
              <a:rPr lang="zh-CN" altLang="en-US">
                <a:ea typeface="+mn-lt"/>
                <a:cs typeface="+mn-lt"/>
              </a:rPr>
              <a:t>与挂载恢复。</a:t>
            </a:r>
            <a:endParaRPr lang="zh-CN" altLang="en-US">
              <a:ea typeface="+mn-lt"/>
              <a:cs typeface="+mn-lt"/>
            </a:endParaRPr>
          </a:p>
          <a:p>
            <a:pPr>
              <a:defRPr/>
            </a:pPr>
            <a:endParaRPr lang="zh-CN" altLang="en-US">
              <a:ea typeface="+mn-lt"/>
              <a:cs typeface="+mn-lt"/>
            </a:endParaRPr>
          </a:p>
          <a:p>
            <a:pPr>
              <a:defRPr/>
            </a:pPr>
            <a:r>
              <a:rPr lang="en-US">
                <a:ea typeface="+mn-lt"/>
                <a:cs typeface="+mn-lt"/>
              </a:rPr>
              <a:t>■ </a:t>
            </a:r>
            <a:r>
              <a:rPr lang="zh-CN" altLang="en-US" b="1">
                <a:ea typeface="+mn-lt"/>
                <a:cs typeface="+mn-lt"/>
              </a:rPr>
              <a:t>多路径数据一致性</a:t>
            </a:r>
            <a:r>
              <a:rPr lang="zh-CN">
                <a:ea typeface="+mn-lt"/>
                <a:cs typeface="+mn-lt"/>
              </a:rPr>
              <a:t>：统一各种</a:t>
            </a:r>
            <a:r>
              <a:rPr lang="zh-CN" altLang="en-US">
                <a:ea typeface="+mn-lt"/>
                <a:cs typeface="+mn-lt"/>
              </a:rPr>
              <a:t>数据路径，避免缓存数据与磁盘数据出现新旧不一致。</a:t>
            </a:r>
            <a:endParaRPr lang="zh-CN" altLang="en-US">
              <a:ea typeface="+mn-lt"/>
              <a:cs typeface="+mn-lt"/>
            </a:endParaRPr>
          </a:p>
        </p:txBody>
      </p:sp>
      <p:sp>
        <p:nvSpPr>
          <p:cNvPr id="5894082" name="文本框 4"/>
          <p:cNvSpPr txBox="1"/>
          <p:nvPr/>
        </p:nvSpPr>
        <p:spPr bwMode="auto">
          <a:xfrm>
            <a:off x="7203439" y="2007869"/>
            <a:ext cx="4481554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>
                <a:ea typeface="+mn-lt"/>
                <a:cs typeface="+mn-lt"/>
              </a:rPr>
              <a:t>■ </a:t>
            </a:r>
            <a:r>
              <a:rPr lang="zh-CN" b="1">
                <a:ea typeface="+mn-lt"/>
                <a:cs typeface="+mn-lt"/>
              </a:rPr>
              <a:t>系统化测试验证</a:t>
            </a:r>
            <a:r>
              <a:rPr lang="zh-CN">
                <a:ea typeface="+mn-lt"/>
                <a:cs typeface="+mn-lt"/>
              </a:rPr>
              <a:t>：</a:t>
            </a:r>
            <a:r>
              <a:rPr lang="zh-CN" altLang="en-US">
                <a:ea typeface="+mn-lt"/>
                <a:cs typeface="+mn-lt"/>
              </a:rPr>
              <a:t>通过</a:t>
            </a:r>
            <a:r>
              <a:rPr lang="en-US" altLang="zh-CN">
                <a:ea typeface="+mn-lt"/>
                <a:cs typeface="+mn-lt"/>
              </a:rPr>
              <a:t>xfstests、</a:t>
            </a:r>
            <a:r>
              <a:rPr lang="zh-CN" altLang="en-US">
                <a:ea typeface="+mn-lt"/>
                <a:cs typeface="+mn-lt"/>
              </a:rPr>
              <a:t>崩溃恢复测试、并发读写测试以及与</a:t>
            </a:r>
            <a:r>
              <a:rPr lang="en-US" altLang="zh-CN">
                <a:ea typeface="+mn-lt"/>
                <a:cs typeface="+mn-lt"/>
              </a:rPr>
              <a:t>Linux</a:t>
            </a:r>
            <a:r>
              <a:rPr lang="zh-CN" altLang="en-US">
                <a:ea typeface="+mn-lt"/>
                <a:cs typeface="+mn-lt"/>
              </a:rPr>
              <a:t>双向互操作进行功能上的验证。</a:t>
            </a:r>
            <a:endParaRPr lang="zh-CN" altLang="en-US">
              <a:ea typeface="+mn-lt"/>
              <a:cs typeface="+mn-lt"/>
            </a:endParaRPr>
          </a:p>
          <a:p>
            <a:pPr>
              <a:defRPr/>
            </a:pPr>
            <a:endParaRPr lang="zh-CN" altLang="en-US">
              <a:ea typeface="+mn-lt"/>
              <a:cs typeface="+mn-lt"/>
            </a:endParaRPr>
          </a:p>
          <a:p>
            <a:pPr>
              <a:defRPr/>
            </a:pPr>
            <a:r>
              <a:rPr lang="en-US">
                <a:ea typeface="+mn-lt"/>
                <a:cs typeface="+mn-lt"/>
              </a:rPr>
              <a:t>■ </a:t>
            </a:r>
            <a:r>
              <a:rPr lang="zh-CN" altLang="en-US" b="1">
                <a:ea typeface="+mn-lt"/>
                <a:cs typeface="+mn-lt"/>
              </a:rPr>
              <a:t>高</a:t>
            </a:r>
            <a:r>
              <a:rPr lang="zh-CN" b="1">
                <a:ea typeface="+mn-lt"/>
                <a:cs typeface="+mn-lt"/>
              </a:rPr>
              <a:t>性能</a:t>
            </a:r>
            <a:r>
              <a:rPr lang="zh-CN">
                <a:ea typeface="+mn-lt"/>
                <a:cs typeface="+mn-lt"/>
              </a:rPr>
              <a:t>：</a:t>
            </a:r>
            <a:r>
              <a:rPr lang="en-US" altLang="zh-CN">
                <a:ea typeface="+mn-lt"/>
                <a:cs typeface="+mn-lt"/>
              </a:rPr>
              <a:t>fio</a:t>
            </a:r>
            <a:r>
              <a:rPr lang="zh-CN" altLang="en-US">
                <a:ea typeface="+mn-lt"/>
                <a:cs typeface="+mn-lt"/>
              </a:rPr>
              <a:t>测试基本的读写性能，</a:t>
            </a:r>
            <a:r>
              <a:rPr lang="en-US" altLang="zh-CN">
                <a:ea typeface="+mn-lt"/>
                <a:cs typeface="+mn-lt"/>
              </a:rPr>
              <a:t>SQLite</a:t>
            </a:r>
            <a:r>
              <a:rPr lang="zh-CN" altLang="en-US">
                <a:ea typeface="+mn-lt"/>
                <a:cs typeface="+mn-lt"/>
              </a:rPr>
              <a:t>测试真实应用下的性能，并根据现实情况研究了掉电保护下的性能优化。</a:t>
            </a:r>
            <a:endParaRPr lang="en-US" altLang="zh-CN">
              <a:ea typeface="+mn-lt"/>
              <a:cs typeface="+mn-lt"/>
            </a:endParaRPr>
          </a:p>
          <a:p>
            <a:pPr>
              <a:defRPr/>
            </a:pPr>
            <a:endParaRPr lang="en-US" altLang="zh-CN">
              <a:ea typeface="+mn-lt"/>
              <a:cs typeface="+mn-lt"/>
            </a:endParaRPr>
          </a:p>
        </p:txBody>
      </p:sp>
      <p:pic>
        <p:nvPicPr>
          <p:cNvPr id="274648147" name="图片 18" descr="post_object_image_235499035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 bwMode="auto">
          <a:xfrm>
            <a:off x="7108825" y="4349750"/>
            <a:ext cx="4928870" cy="107442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27000" y="4839335"/>
            <a:ext cx="2195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+mn-lt"/>
                <a:cs typeface="+mn-lt"/>
              </a:rPr>
              <a:t>AI</a:t>
            </a:r>
            <a:r>
              <a:rPr lang="zh-CN" altLang="en-US" sz="2400">
                <a:solidFill>
                  <a:schemeClr val="bg1"/>
                </a:solidFill>
                <a:ea typeface="+mn-lt"/>
                <a:cs typeface="+mn-lt"/>
              </a:rPr>
              <a:t>的使用</a:t>
            </a:r>
            <a:endParaRPr lang="zh-CN" altLang="en-US" sz="240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37485" y="923290"/>
            <a:ext cx="86995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ea typeface="+mn-lt"/>
                <a:cs typeface="+mn-lt"/>
              </a:rPr>
              <a:t>本项目在</a:t>
            </a:r>
            <a:r>
              <a:rPr lang="en-US" altLang="zh-CN" b="1">
                <a:ea typeface="+mn-lt"/>
                <a:cs typeface="+mn-lt"/>
              </a:rPr>
              <a:t>Asterinas</a:t>
            </a:r>
            <a:r>
              <a:rPr lang="zh-CN" altLang="en-US" b="1">
                <a:ea typeface="+mn-lt"/>
                <a:cs typeface="+mn-lt"/>
              </a:rPr>
              <a:t>上实现了原生高性能强一致性的</a:t>
            </a:r>
            <a:r>
              <a:rPr lang="en-US" altLang="zh-CN" b="1">
                <a:ea typeface="+mn-lt"/>
                <a:cs typeface="+mn-lt"/>
              </a:rPr>
              <a:t>EXT4</a:t>
            </a:r>
            <a:r>
              <a:rPr lang="zh-CN" altLang="en-US" b="1">
                <a:ea typeface="+mn-lt"/>
                <a:cs typeface="+mn-lt"/>
              </a:rPr>
              <a:t>文件系统，完成了主体功能、</a:t>
            </a:r>
            <a:r>
              <a:rPr lang="en-US" altLang="zh-CN" b="1">
                <a:ea typeface="+mn-lt"/>
                <a:cs typeface="+mn-lt"/>
              </a:rPr>
              <a:t>JBD2</a:t>
            </a:r>
            <a:r>
              <a:rPr lang="zh-CN" altLang="en-US" b="1">
                <a:ea typeface="+mn-lt"/>
                <a:cs typeface="+mn-lt"/>
              </a:rPr>
              <a:t>崩溃恢复、并发读写一致性，并经过系统化测试；在保证正确性的基础上，实现了接近或超过 </a:t>
            </a:r>
            <a:r>
              <a:rPr lang="en-US" altLang="zh-CN" b="1">
                <a:ea typeface="+mn-lt"/>
                <a:cs typeface="+mn-lt"/>
              </a:rPr>
              <a:t>Linux EXT4</a:t>
            </a:r>
            <a:r>
              <a:rPr lang="zh-CN" altLang="en-US" b="1">
                <a:ea typeface="+mn-lt"/>
                <a:cs typeface="+mn-lt"/>
              </a:rPr>
              <a:t>的性能表现</a:t>
            </a:r>
            <a:endParaRPr lang="zh-CN" altLang="en-US" b="1">
              <a:ea typeface="+mn-lt"/>
              <a:cs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187595" name="矩形 11"/>
          <p:cNvSpPr/>
          <p:nvPr/>
        </p:nvSpPr>
        <p:spPr bwMode="auto">
          <a:xfrm>
            <a:off x="0" y="0"/>
            <a:ext cx="2509520" cy="6858000"/>
          </a:xfrm>
          <a:prstGeom prst="rect">
            <a:avLst/>
          </a:prstGeom>
          <a:solidFill>
            <a:srgbClr val="1D50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>
              <a:latin typeface="Arial" panose="020B0604020202020204"/>
              <a:cs typeface="Arial" panose="020B0604020202020204"/>
            </a:endParaRPr>
          </a:p>
        </p:txBody>
      </p:sp>
      <p:sp>
        <p:nvSpPr>
          <p:cNvPr id="295561420" name="文本框 7"/>
          <p:cNvSpPr txBox="1"/>
          <p:nvPr/>
        </p:nvSpPr>
        <p:spPr bwMode="auto">
          <a:xfrm>
            <a:off x="86359" y="1388370"/>
            <a:ext cx="233751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项目背景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79111926" name="文本框 8"/>
          <p:cNvSpPr txBox="1"/>
          <p:nvPr/>
        </p:nvSpPr>
        <p:spPr bwMode="auto">
          <a:xfrm>
            <a:off x="86359" y="2325586"/>
            <a:ext cx="233751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项目目标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1232171867" name="文本框 9"/>
          <p:cNvSpPr txBox="1"/>
          <p:nvPr/>
        </p:nvSpPr>
        <p:spPr bwMode="auto">
          <a:xfrm>
            <a:off x="85724" y="3199937"/>
            <a:ext cx="233751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设计实现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25848381" name="文本框 10"/>
          <p:cNvSpPr txBox="1"/>
          <p:nvPr/>
        </p:nvSpPr>
        <p:spPr bwMode="auto">
          <a:xfrm>
            <a:off x="86359" y="4061588"/>
            <a:ext cx="233751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测试评估</a:t>
            </a:r>
            <a:endParaRPr sz="2400" b="1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pic>
        <p:nvPicPr>
          <p:cNvPr id="692246456" name="图形 22" descr="文凭卷筒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797560" y="5943600"/>
            <a:ext cx="914400" cy="914400"/>
          </a:xfrm>
          <a:prstGeom prst="rect">
            <a:avLst/>
          </a:prstGeom>
        </p:spPr>
      </p:pic>
      <p:pic>
        <p:nvPicPr>
          <p:cNvPr id="2080962207" name="图片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126668" y="311328"/>
            <a:ext cx="2256183" cy="414149"/>
          </a:xfrm>
          <a:prstGeom prst="rect">
            <a:avLst/>
          </a:prstGeom>
        </p:spPr>
      </p:pic>
      <p:grpSp>
        <p:nvGrpSpPr>
          <p:cNvPr id="507191311" name="组合 19"/>
          <p:cNvGrpSpPr/>
          <p:nvPr/>
        </p:nvGrpSpPr>
        <p:grpSpPr bwMode="auto">
          <a:xfrm>
            <a:off x="0" y="5299043"/>
            <a:ext cx="2737505" cy="762000"/>
            <a:chOff x="0" y="772160"/>
            <a:chExt cx="2737505" cy="762000"/>
          </a:xfrm>
        </p:grpSpPr>
        <p:sp>
          <p:nvSpPr>
            <p:cNvPr id="35" name="矩形 14"/>
            <p:cNvSpPr/>
            <p:nvPr/>
          </p:nvSpPr>
          <p:spPr bwMode="auto">
            <a:xfrm>
              <a:off x="0" y="772160"/>
              <a:ext cx="2509520" cy="762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6" name="等腰三角形 16"/>
            <p:cNvSpPr/>
            <p:nvPr/>
          </p:nvSpPr>
          <p:spPr bwMode="auto">
            <a:xfrm rot="5400000">
              <a:off x="2491281" y="1039167"/>
              <a:ext cx="264463" cy="227985"/>
            </a:xfrm>
            <a:prstGeom prst="triangle">
              <a:avLst>
                <a:gd name="adj" fmla="val 50000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363870018" name="文本框 29"/>
          <p:cNvSpPr txBox="1"/>
          <p:nvPr/>
        </p:nvSpPr>
        <p:spPr bwMode="auto">
          <a:xfrm>
            <a:off x="86054" y="5560146"/>
            <a:ext cx="2337519" cy="45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总结展望</a:t>
            </a:r>
            <a:endParaRPr sz="2400">
              <a:solidFill>
                <a:schemeClr val="bg1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2111528609" name="TextBox 37"/>
          <p:cNvSpPr txBox="1"/>
          <p:nvPr/>
        </p:nvSpPr>
        <p:spPr bwMode="auto">
          <a:xfrm>
            <a:off x="2743200" y="347471"/>
            <a:ext cx="8780399" cy="56515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lang="en-US" sz="2800" b="1">
                <a:solidFill>
                  <a:schemeClr val="tx1"/>
                </a:solidFill>
                <a:ea typeface="+mn-lt"/>
                <a:cs typeface="+mn-lt"/>
              </a:rPr>
              <a:t>6</a:t>
            </a:r>
            <a:r>
              <a:rPr sz="2800" b="1">
                <a:solidFill>
                  <a:schemeClr val="tx1"/>
                </a:solidFill>
                <a:ea typeface="+mn-lt"/>
                <a:cs typeface="+mn-lt"/>
              </a:rPr>
              <a:t>.</a:t>
            </a:r>
            <a:r>
              <a:rPr lang="en-US" sz="2800" b="1">
                <a:solidFill>
                  <a:schemeClr val="tx1"/>
                </a:solidFill>
                <a:ea typeface="+mn-lt"/>
                <a:cs typeface="+mn-lt"/>
              </a:rPr>
              <a:t>2</a:t>
            </a:r>
            <a:r>
              <a:rPr sz="2800" b="1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zh-CN" sz="2800" b="1">
                <a:solidFill>
                  <a:schemeClr val="tx1"/>
                </a:solidFill>
                <a:ea typeface="+mn-lt"/>
                <a:cs typeface="+mn-lt"/>
              </a:rPr>
              <a:t>项目亮点</a:t>
            </a:r>
            <a:endParaRPr sz="2800" b="1">
              <a:solidFill>
                <a:schemeClr val="tx1"/>
              </a:solidFill>
              <a:ea typeface="+mn-lt"/>
              <a:cs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7000" y="4839335"/>
            <a:ext cx="21958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>
                <a:solidFill>
                  <a:schemeClr val="bg1"/>
                </a:solidFill>
                <a:ea typeface="+mn-lt"/>
                <a:cs typeface="+mn-lt"/>
              </a:rPr>
              <a:t>AI</a:t>
            </a:r>
            <a:r>
              <a:rPr lang="zh-CN" altLang="en-US" sz="2400">
                <a:solidFill>
                  <a:schemeClr val="bg1"/>
                </a:solidFill>
                <a:ea typeface="+mn-lt"/>
                <a:cs typeface="+mn-lt"/>
              </a:rPr>
              <a:t>的使用</a:t>
            </a:r>
            <a:endParaRPr lang="zh-CN" altLang="en-US" sz="240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1901329429" name="文本框 2"/>
          <p:cNvSpPr txBox="1"/>
          <p:nvPr/>
        </p:nvSpPr>
        <p:spPr bwMode="auto">
          <a:xfrm>
            <a:off x="2737485" y="1229360"/>
            <a:ext cx="9039860" cy="49885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defRPr/>
            </a:pPr>
            <a:r>
              <a:rPr lang="en-US" altLang="en-US">
                <a:ea typeface="+mn-lt"/>
                <a:cs typeface="+mn-lt"/>
              </a:rPr>
              <a:t>■</a:t>
            </a:r>
            <a:r>
              <a:rPr lang="en-US" altLang="en-US" b="1">
                <a:ea typeface="+mn-lt"/>
                <a:cs typeface="+mn-lt"/>
              </a:rPr>
              <a:t> </a:t>
            </a:r>
            <a:r>
              <a:rPr lang="zh-CN" altLang="en-US" b="1">
                <a:ea typeface="+mn-lt"/>
                <a:cs typeface="+mn-lt"/>
              </a:rPr>
              <a:t>安全</a:t>
            </a:r>
            <a:r>
              <a:rPr lang="en-US" altLang="zh-CN" b="1">
                <a:ea typeface="+mn-lt"/>
                <a:cs typeface="+mn-lt"/>
              </a:rPr>
              <a:t>Rust</a:t>
            </a:r>
            <a:r>
              <a:rPr lang="zh-CN" altLang="en-US" b="1">
                <a:ea typeface="+mn-lt"/>
                <a:cs typeface="+mn-lt"/>
              </a:rPr>
              <a:t>内核中的原生</a:t>
            </a:r>
            <a:r>
              <a:rPr lang="en-US" altLang="zh-CN" b="1">
                <a:ea typeface="+mn-lt"/>
                <a:cs typeface="+mn-lt"/>
              </a:rPr>
              <a:t>EXT4</a:t>
            </a:r>
            <a:endParaRPr lang="en-US" altLang="zh-CN" b="1">
              <a:ea typeface="+mn-lt"/>
              <a:cs typeface="+mn-lt"/>
            </a:endParaRPr>
          </a:p>
          <a:p>
            <a:pPr>
              <a:defRPr/>
            </a:pPr>
            <a:r>
              <a:rPr lang="zh-CN" altLang="en-US">
                <a:ea typeface="+mn-lt"/>
                <a:cs typeface="+mn-lt"/>
              </a:rPr>
              <a:t>不依赖外部文件系统实现，在</a:t>
            </a:r>
            <a:r>
              <a:rPr lang="en-US" altLang="zh-CN">
                <a:ea typeface="+mn-lt"/>
                <a:cs typeface="+mn-lt"/>
              </a:rPr>
              <a:t>Asterinas</a:t>
            </a:r>
            <a:r>
              <a:rPr lang="zh-CN" altLang="en-US">
                <a:ea typeface="+mn-lt"/>
                <a:cs typeface="+mn-lt"/>
              </a:rPr>
              <a:t>内核中完成</a:t>
            </a:r>
            <a:r>
              <a:rPr lang="en-US" altLang="zh-CN">
                <a:ea typeface="+mn-lt"/>
                <a:cs typeface="+mn-lt"/>
              </a:rPr>
              <a:t>EXT4</a:t>
            </a:r>
            <a:r>
              <a:rPr lang="zh-CN" altLang="en-US">
                <a:ea typeface="+mn-lt"/>
                <a:cs typeface="+mn-lt"/>
              </a:rPr>
              <a:t>盘面解析、</a:t>
            </a:r>
            <a:r>
              <a:rPr lang="en-US" altLang="zh-CN">
                <a:ea typeface="+mn-lt"/>
                <a:cs typeface="+mn-lt"/>
              </a:rPr>
              <a:t>VFS</a:t>
            </a:r>
            <a:r>
              <a:rPr lang="zh-CN" altLang="en-US">
                <a:ea typeface="+mn-lt"/>
                <a:cs typeface="+mn-lt"/>
              </a:rPr>
              <a:t>接入、空间管理、</a:t>
            </a:r>
            <a:r>
              <a:rPr lang="en-US" altLang="zh-CN">
                <a:ea typeface="+mn-lt"/>
                <a:cs typeface="+mn-lt"/>
              </a:rPr>
              <a:t>PageCache</a:t>
            </a:r>
            <a:r>
              <a:rPr lang="zh-CN" altLang="en-US">
                <a:ea typeface="+mn-lt"/>
                <a:cs typeface="+mn-lt"/>
              </a:rPr>
              <a:t>和块设备</a:t>
            </a:r>
            <a:r>
              <a:rPr lang="en-US" altLang="zh-CN">
                <a:ea typeface="+mn-lt"/>
                <a:cs typeface="+mn-lt"/>
              </a:rPr>
              <a:t>I/O，</a:t>
            </a:r>
            <a:r>
              <a:rPr lang="zh-CN" altLang="en-US">
                <a:ea typeface="+mn-lt"/>
                <a:cs typeface="+mn-lt"/>
              </a:rPr>
              <a:t>填补了生态空白。</a:t>
            </a:r>
            <a:endParaRPr lang="zh-CN" altLang="en-US">
              <a:ea typeface="+mn-lt"/>
              <a:cs typeface="+mn-lt"/>
            </a:endParaRPr>
          </a:p>
          <a:p>
            <a:pPr>
              <a:defRPr/>
            </a:pPr>
            <a:endParaRPr lang="zh-CN" altLang="en-US">
              <a:ea typeface="+mn-lt"/>
              <a:cs typeface="+mn-lt"/>
            </a:endParaRPr>
          </a:p>
          <a:p>
            <a:pPr>
              <a:defRPr/>
            </a:pPr>
            <a:r>
              <a:rPr lang="en-US" altLang="en-US">
                <a:ea typeface="+mn-lt"/>
                <a:cs typeface="+mn-lt"/>
              </a:rPr>
              <a:t>■</a:t>
            </a:r>
            <a:r>
              <a:rPr lang="en-US" altLang="zh-CN">
                <a:ea typeface="+mn-lt"/>
                <a:cs typeface="+mn-lt"/>
              </a:rPr>
              <a:t> </a:t>
            </a:r>
            <a:r>
              <a:rPr lang="zh-CN" altLang="en-US" b="1">
                <a:ea typeface="+mn-lt"/>
                <a:cs typeface="+mn-lt"/>
              </a:rPr>
              <a:t>掉电保护场景优化</a:t>
            </a:r>
            <a:endParaRPr lang="zh-CN" altLang="en-US" b="1">
              <a:ea typeface="+mn-lt"/>
              <a:cs typeface="+mn-lt"/>
            </a:endParaRPr>
          </a:p>
          <a:p>
            <a:pPr>
              <a:defRPr/>
            </a:pPr>
            <a:r>
              <a:rPr lang="zh-CN" altLang="en-US">
                <a:ea typeface="+mn-lt"/>
                <a:cs typeface="+mn-lt"/>
              </a:rPr>
              <a:t>针对现代计算设备的可靠供电环境，设计可选的外部电源保护模式：运行期保证文件数据写回，将日志和元数据写入后移；默认模式保持不变，在高频</a:t>
            </a:r>
            <a:r>
              <a:rPr lang="en-US" altLang="zh-CN">
                <a:ea typeface="+mn-lt"/>
                <a:cs typeface="+mn-lt"/>
              </a:rPr>
              <a:t>fsync</a:t>
            </a:r>
            <a:r>
              <a:rPr lang="zh-CN" altLang="en-US">
                <a:ea typeface="+mn-lt"/>
                <a:cs typeface="+mn-lt"/>
              </a:rPr>
              <a:t>下写性能获得巨大提升。</a:t>
            </a:r>
            <a:endParaRPr lang="zh-CN" altLang="en-US">
              <a:ea typeface="+mn-lt"/>
              <a:cs typeface="+mn-lt"/>
            </a:endParaRPr>
          </a:p>
          <a:p>
            <a:pPr>
              <a:defRPr/>
            </a:pPr>
            <a:endParaRPr lang="en-US" altLang="zh-CN">
              <a:ea typeface="+mn-lt"/>
              <a:cs typeface="+mn-lt"/>
            </a:endParaRPr>
          </a:p>
          <a:p>
            <a:pPr>
              <a:defRPr/>
            </a:pPr>
            <a:r>
              <a:rPr lang="en-US" altLang="en-US">
                <a:ea typeface="+mn-lt"/>
                <a:cs typeface="+mn-lt"/>
                <a:sym typeface="+mn-ea"/>
              </a:rPr>
              <a:t>■</a:t>
            </a:r>
            <a:r>
              <a:rPr lang="zh-CN" altLang="en-US" b="1">
                <a:ea typeface="+mn-lt"/>
                <a:cs typeface="+mn-lt"/>
                <a:sym typeface="+mn-ea"/>
              </a:rPr>
              <a:t>高性能强一致性</a:t>
            </a:r>
            <a:endParaRPr lang="zh-CN" altLang="en-US" b="1">
              <a:ea typeface="+mn-lt"/>
              <a:cs typeface="+mn-lt"/>
              <a:sym typeface="+mn-ea"/>
            </a:endParaRPr>
          </a:p>
          <a:p>
            <a:pPr>
              <a:defRPr/>
            </a:pPr>
            <a:r>
              <a:rPr lang="en-US" altLang="zh-CN">
                <a:ea typeface="+mn-lt"/>
                <a:cs typeface="+mn-lt"/>
                <a:sym typeface="+mn-ea"/>
              </a:rPr>
              <a:t>1.xfstests</a:t>
            </a:r>
            <a:r>
              <a:rPr lang="zh-CN" altLang="en-US">
                <a:ea typeface="+mn-lt"/>
                <a:cs typeface="+mn-lt"/>
                <a:sym typeface="+mn-ea"/>
              </a:rPr>
              <a:t>测试通过，覆盖</a:t>
            </a:r>
            <a:r>
              <a:rPr lang="en-US" altLang="zh-CN">
                <a:ea typeface="+mn-lt"/>
                <a:cs typeface="+mn-lt"/>
                <a:sym typeface="+mn-ea"/>
              </a:rPr>
              <a:t>EXT4</a:t>
            </a:r>
            <a:r>
              <a:rPr lang="zh-CN" altLang="en-US">
                <a:ea typeface="+mn-lt"/>
                <a:cs typeface="+mn-lt"/>
                <a:sym typeface="+mn-ea"/>
              </a:rPr>
              <a:t>主要功能；</a:t>
            </a:r>
            <a:endParaRPr lang="zh-CN" altLang="en-US">
              <a:ea typeface="+mn-lt"/>
              <a:cs typeface="+mn-lt"/>
              <a:sym typeface="+mn-ea"/>
            </a:endParaRPr>
          </a:p>
          <a:p>
            <a:pPr>
              <a:defRPr/>
            </a:pPr>
            <a:r>
              <a:rPr lang="en-US" altLang="zh-CN">
                <a:ea typeface="+mn-lt"/>
                <a:cs typeface="+mn-lt"/>
                <a:sym typeface="+mn-ea"/>
              </a:rPr>
              <a:t>2.fio</a:t>
            </a:r>
            <a:r>
              <a:rPr lang="zh-CN" altLang="en-US">
                <a:ea typeface="+mn-lt"/>
                <a:cs typeface="+mn-lt"/>
                <a:sym typeface="+mn-ea"/>
              </a:rPr>
              <a:t>测试性能持平或略高于</a:t>
            </a:r>
            <a:r>
              <a:rPr lang="en-US" altLang="zh-CN">
                <a:ea typeface="+mn-lt"/>
                <a:cs typeface="+mn-lt"/>
                <a:sym typeface="+mn-ea"/>
              </a:rPr>
              <a:t>Linux EXT4</a:t>
            </a:r>
            <a:r>
              <a:rPr lang="zh-CN" altLang="en-US">
                <a:ea typeface="+mn-lt"/>
                <a:cs typeface="+mn-lt"/>
                <a:sym typeface="+mn-ea"/>
              </a:rPr>
              <a:t>；</a:t>
            </a:r>
            <a:endParaRPr lang="zh-CN" altLang="en-US">
              <a:ea typeface="+mn-lt"/>
              <a:cs typeface="+mn-lt"/>
              <a:sym typeface="+mn-ea"/>
            </a:endParaRPr>
          </a:p>
          <a:p>
            <a:pPr>
              <a:defRPr/>
            </a:pPr>
            <a:r>
              <a:rPr lang="en-US" altLang="zh-CN">
                <a:ea typeface="+mn-lt"/>
                <a:cs typeface="+mn-lt"/>
                <a:sym typeface="+mn-ea"/>
              </a:rPr>
              <a:t>3.</a:t>
            </a:r>
            <a:r>
              <a:rPr lang="zh-CN" altLang="en-US">
                <a:ea typeface="+mn-lt"/>
                <a:cs typeface="+mn-lt"/>
                <a:sym typeface="+mn-ea"/>
              </a:rPr>
              <a:t>真实应用场景下有不错的性能；</a:t>
            </a:r>
            <a:endParaRPr lang="zh-CN" altLang="en-US">
              <a:ea typeface="+mn-lt"/>
              <a:cs typeface="+mn-lt"/>
              <a:sym typeface="+mn-ea"/>
            </a:endParaRPr>
          </a:p>
          <a:p>
            <a:pPr>
              <a:defRPr/>
            </a:pPr>
            <a:r>
              <a:rPr lang="en-US" altLang="zh-CN">
                <a:ea typeface="+mn-lt"/>
                <a:cs typeface="+mn-lt"/>
                <a:sym typeface="+mn-ea"/>
              </a:rPr>
              <a:t>4.</a:t>
            </a:r>
            <a:r>
              <a:rPr lang="zh-CN" altLang="en-US">
                <a:ea typeface="+mn-lt"/>
                <a:cs typeface="+mn-lt"/>
                <a:sym typeface="+mn-ea"/>
              </a:rPr>
              <a:t>完整的崩溃恢复与一致性测试。</a:t>
            </a:r>
            <a:endParaRPr lang="zh-CN" altLang="en-US">
              <a:ea typeface="+mn-lt"/>
              <a:cs typeface="+mn-lt"/>
              <a:sym typeface="+mn-ea"/>
            </a:endParaRPr>
          </a:p>
          <a:p>
            <a:pPr>
              <a:defRPr/>
            </a:pPr>
            <a:endParaRPr lang="zh-CN" altLang="en-US" b="1">
              <a:ea typeface="+mn-lt"/>
              <a:cs typeface="+mn-lt"/>
              <a:sym typeface="+mn-ea"/>
            </a:endParaRPr>
          </a:p>
          <a:p>
            <a:pPr>
              <a:defRPr/>
            </a:pPr>
            <a:endParaRPr lang="en-US" altLang="zh-CN">
              <a:ea typeface="+mn-lt"/>
              <a:cs typeface="+mn-lt"/>
            </a:endParaRPr>
          </a:p>
          <a:p>
            <a:pPr>
              <a:defRPr/>
            </a:pPr>
            <a:endParaRPr lang="zh-CN" altLang="en-US">
              <a:ea typeface="+mn-lt"/>
              <a:cs typeface="+mn-lt"/>
            </a:endParaRPr>
          </a:p>
        </p:txBody>
      </p:sp>
      <p:pic>
        <p:nvPicPr>
          <p:cNvPr id="274648147" name="图片 18" descr="post_object_image_235499035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 bwMode="auto">
          <a:xfrm>
            <a:off x="7013575" y="3831590"/>
            <a:ext cx="4928870" cy="1074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2649345" name="图片 6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152399" y="163511"/>
            <a:ext cx="3922388" cy="720000"/>
          </a:xfrm>
          <a:prstGeom prst="rect">
            <a:avLst/>
          </a:prstGeom>
        </p:spPr>
      </p:pic>
      <p:grpSp>
        <p:nvGrpSpPr>
          <p:cNvPr id="161754565" name="组合 30"/>
          <p:cNvGrpSpPr/>
          <p:nvPr/>
        </p:nvGrpSpPr>
        <p:grpSpPr bwMode="auto">
          <a:xfrm>
            <a:off x="2151350" y="1337698"/>
            <a:ext cx="7889293" cy="473519"/>
            <a:chOff x="2151350" y="1337698"/>
            <a:chExt cx="7889293" cy="473519"/>
          </a:xfrm>
        </p:grpSpPr>
        <p:sp>
          <p:nvSpPr>
            <p:cNvPr id="20" name="文本框 19"/>
            <p:cNvSpPr txBox="1"/>
            <p:nvPr/>
          </p:nvSpPr>
          <p:spPr bwMode="auto">
            <a:xfrm>
              <a:off x="2151350" y="1337698"/>
              <a:ext cx="7889293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2024</a:t>
              </a:r>
              <a:r>
                <a:rPr lang="zh-CN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年全国大学生计算机系统能力大赛操作系统设计</a:t>
              </a:r>
              <a:endParaRPr lang="zh-CN" b="1"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 bwMode="auto">
            <a:xfrm>
              <a:off x="3290563" y="1811217"/>
              <a:ext cx="561087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6812658" name="TextBox 31"/>
          <p:cNvSpPr txBox="1"/>
          <p:nvPr/>
        </p:nvSpPr>
        <p:spPr bwMode="auto">
          <a:xfrm>
            <a:off x="914400" y="2148840"/>
            <a:ext cx="4572000" cy="6400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4200" b="1">
                <a:solidFill>
                  <a:srgbClr val="183F79"/>
                </a:solidFill>
                <a:latin typeface="微软雅黑" panose="020B0503020204020204" charset="-122"/>
              </a:rPr>
              <a:t>Thanks</a:t>
            </a:r>
            <a:endParaRPr sz="4200" b="1">
              <a:solidFill>
                <a:srgbClr val="183F79"/>
              </a:solidFill>
              <a:latin typeface="微软雅黑" panose="020B0503020204020204" charset="-122"/>
            </a:endParaRPr>
          </a:p>
        </p:txBody>
      </p:sp>
      <p:sp>
        <p:nvSpPr>
          <p:cNvPr id="1477303860" name="TextBox 32"/>
          <p:cNvSpPr txBox="1"/>
          <p:nvPr/>
        </p:nvSpPr>
        <p:spPr bwMode="auto">
          <a:xfrm>
            <a:off x="960120" y="2907792"/>
            <a:ext cx="5669280" cy="41148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10000"/>
              </a:lnSpc>
              <a:defRPr/>
            </a:pPr>
            <a:r>
              <a:rPr sz="2000" b="0">
                <a:solidFill>
                  <a:srgbClr val="183F79"/>
                </a:solidFill>
                <a:latin typeface="微软雅黑" panose="020B0503020204020204" charset="-122"/>
              </a:rPr>
              <a:t>Asterinas EXT4 文件系统设计与实现</a:t>
            </a:r>
            <a:endParaRPr sz="2000" b="0">
              <a:solidFill>
                <a:srgbClr val="183F79"/>
              </a:solidFill>
              <a:latin typeface="微软雅黑" panose="020B0503020204020204" charset="-122"/>
            </a:endParaRPr>
          </a:p>
        </p:txBody>
      </p:sp>
      <p:sp>
        <p:nvSpPr>
          <p:cNvPr id="379409400" name="TextBox 33"/>
          <p:cNvSpPr txBox="1"/>
          <p:nvPr/>
        </p:nvSpPr>
        <p:spPr bwMode="auto">
          <a:xfrm>
            <a:off x="1894839" y="4594860"/>
            <a:ext cx="7684494" cy="17377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sz="2400" b="1">
                <a:latin typeface="Arial" panose="020B0604020202020204"/>
                <a:ea typeface="Arial" panose="020B0604020202020204"/>
                <a:cs typeface="Arial" panose="020B0604020202020204"/>
              </a:rPr>
              <a:t>队伍名称：日志写了吗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457200" lvl="1" indent="457200" algn="ctr">
              <a:lnSpc>
                <a:spcPct val="150000"/>
              </a:lnSpc>
              <a:defRPr/>
            </a:pPr>
            <a:r>
              <a:rPr lang="en-US" sz="2400" b="1">
                <a:latin typeface="Arial" panose="020B0604020202020204"/>
                <a:ea typeface="Arial" panose="020B0604020202020204"/>
                <a:cs typeface="Arial" panose="020B0604020202020204"/>
              </a:rPr>
              <a:t>        </a:t>
            </a:r>
            <a:r>
              <a:rPr lang="zh-CN" sz="2400" b="1">
                <a:latin typeface="Arial" panose="020B0604020202020204"/>
                <a:ea typeface="Arial" panose="020B0604020202020204"/>
                <a:cs typeface="Arial" panose="020B0604020202020204"/>
              </a:rPr>
              <a:t>队伍成员：俞杰、梁丙煜、王毅航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sz="2400" b="1"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lang="zh-CN" sz="2400" b="1">
                <a:latin typeface="Arial" panose="020B0604020202020204"/>
                <a:ea typeface="Arial" panose="020B0604020202020204"/>
                <a:cs typeface="Arial" panose="020B0604020202020204"/>
              </a:rPr>
              <a:t>校内导师：夏文、李诗逸</a:t>
            </a:r>
            <a:endParaRPr sz="2400" b="1">
              <a:solidFill>
                <a:srgbClr val="545C69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7506866" name="矩形 7"/>
          <p:cNvSpPr/>
          <p:nvPr/>
        </p:nvSpPr>
        <p:spPr bwMode="auto">
          <a:xfrm>
            <a:off x="-5" y="0"/>
            <a:ext cx="12192000" cy="4411744"/>
          </a:xfrm>
          <a:prstGeom prst="rect">
            <a:avLst/>
          </a:prstGeom>
          <a:gradFill>
            <a:gsLst>
              <a:gs pos="0">
                <a:srgbClr val="215CC1"/>
              </a:gs>
              <a:gs pos="100000">
                <a:srgbClr val="215CC1"/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>
              <a:latin typeface="微软雅黑" panose="020B0503020204020204" charset="-122"/>
              <a:ea typeface="微软雅黑" panose="020B0503020204020204" charset="-122"/>
              <a:cs typeface="Times New Roman" panose="02020603050405020304"/>
            </a:endParaRPr>
          </a:p>
        </p:txBody>
      </p:sp>
      <p:pic>
        <p:nvPicPr>
          <p:cNvPr id="296191161" name="图片 1"/>
          <p:cNvPicPr>
            <a:picLocks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279399" y="290511"/>
            <a:ext cx="3922388" cy="720000"/>
          </a:xfrm>
          <a:prstGeom prst="rect">
            <a:avLst/>
          </a:prstGeom>
        </p:spPr>
      </p:pic>
      <p:grpSp>
        <p:nvGrpSpPr>
          <p:cNvPr id="1520355000" name="组合 3"/>
          <p:cNvGrpSpPr/>
          <p:nvPr/>
        </p:nvGrpSpPr>
        <p:grpSpPr bwMode="auto">
          <a:xfrm>
            <a:off x="2151350" y="1342143"/>
            <a:ext cx="7889293" cy="473519"/>
            <a:chOff x="2151350" y="1337698"/>
            <a:chExt cx="7889293" cy="473519"/>
          </a:xfrm>
        </p:grpSpPr>
        <p:sp>
          <p:nvSpPr>
            <p:cNvPr id="5" name="文本框 4"/>
            <p:cNvSpPr txBox="1"/>
            <p:nvPr/>
          </p:nvSpPr>
          <p:spPr bwMode="auto">
            <a:xfrm>
              <a:off x="2151350" y="1337698"/>
              <a:ext cx="7889293" cy="368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b="1">
                  <a:solidFill>
                    <a:srgbClr val="FFFFFF"/>
                  </a:solidFill>
                  <a:latin typeface="Helvetica Neue"/>
                </a:rPr>
                <a:t>2026</a:t>
              </a:r>
              <a:r>
                <a:rPr lang="zh-CN" b="1">
                  <a:solidFill>
                    <a:srgbClr val="FFFFFF"/>
                  </a:solidFill>
                  <a:latin typeface="Helvetica Neue"/>
                </a:rPr>
                <a:t>年全国大学生计算机系统能力大赛操作系统设计</a:t>
              </a:r>
              <a:endParaRPr lang="zh-CN" b="1">
                <a:latin typeface="Times New Roman" panose="02020603050405020304"/>
                <a:cs typeface="Times New Roman" panose="02020603050405020304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 bwMode="auto">
            <a:xfrm>
              <a:off x="3290563" y="1811217"/>
              <a:ext cx="561087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9606925" name="文本框 10"/>
          <p:cNvSpPr txBox="1"/>
          <p:nvPr/>
        </p:nvSpPr>
        <p:spPr bwMode="auto">
          <a:xfrm>
            <a:off x="999720" y="2033677"/>
            <a:ext cx="10195089" cy="82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800" b="1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rPr>
              <a:t>Thanks</a:t>
            </a:r>
            <a:endParaRPr lang="en-US" sz="4800" b="1">
              <a:solidFill>
                <a:schemeClr val="bg1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813408388" name="文本框 9"/>
          <p:cNvSpPr txBox="1"/>
          <p:nvPr/>
        </p:nvSpPr>
        <p:spPr bwMode="auto">
          <a:xfrm>
            <a:off x="3683635" y="2907665"/>
            <a:ext cx="530034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 b="1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rPr>
              <a:t>Proj8-</a:t>
            </a:r>
            <a:r>
              <a:rPr lang="en-US" sz="2400">
                <a:solidFill>
                  <a:schemeClr val="bg1"/>
                </a:solidFill>
                <a:latin typeface="Times New Roman" panose="02020603050405020304"/>
                <a:cs typeface="Times New Roman" panose="02020603050405020304"/>
              </a:rPr>
              <a:t>Research on High-Performance and Strong-Consistency File System for RustOS</a:t>
            </a:r>
            <a:endParaRPr lang="en-US" sz="2400">
              <a:solidFill>
                <a:schemeClr val="bg1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endParaRPr lang="zh-CN" sz="24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>
        <p159:morph option="byObject"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TABLE_ENDDRAG_ORIGIN_RECT" val="694*407"/>
  <p:tag name="TABLE_ENDDRAG_RECT" val="215*80*694*407"/>
</p:tagLst>
</file>

<file path=ppt/tags/tag2.xml><?xml version="1.0" encoding="utf-8"?>
<p:tagLst xmlns:p="http://schemas.openxmlformats.org/presentationml/2006/main">
  <p:tag name="TABLE_ENDDRAG_ORIGIN_RECT" val="705*320"/>
  <p:tag name="TABLE_ENDDRAG_RECT" val="222*70*705*320"/>
</p:tagLst>
</file>

<file path=ppt/tags/tag3.xml><?xml version="1.0" encoding="utf-8"?>
<p:tagLst xmlns:p="http://schemas.openxmlformats.org/presentationml/2006/main">
  <p:tag name="KSO_WM_DIAGRAM_VIRTUALLY_FRAME" val="{&quot;height&quot;:65.55,&quot;left&quot;:244.8,&quot;top&quot;:147.75,&quot;width&quot;:600.0848818897637}"/>
</p:tagLst>
</file>

<file path=ppt/tags/tag4.xml><?xml version="1.0" encoding="utf-8"?>
<p:tagLst xmlns:p="http://schemas.openxmlformats.org/presentationml/2006/main">
  <p:tag name="KSO_WM_DIAGRAM_VIRTUALLY_FRAME" val="{&quot;height&quot;:65.55,&quot;left&quot;:244.8,&quot;top&quot;:147.75,&quot;width&quot;:600.0848818897637}"/>
</p:tagLst>
</file>

<file path=ppt/tags/tag5.xml><?xml version="1.0" encoding="utf-8"?>
<p:tagLst xmlns:p="http://schemas.openxmlformats.org/presentationml/2006/main">
  <p:tag name="KSO_WM_DIAGRAM_VIRTUALLY_FRAME" val="{&quot;height&quot;:65.55,&quot;left&quot;:244.8,&quot;top&quot;:147.75,&quot;width&quot;:600.0848818897637}"/>
</p:tagLst>
</file>

<file path=ppt/tags/tag6.xml><?xml version="1.0" encoding="utf-8"?>
<p:tagLst xmlns:p="http://schemas.openxmlformats.org/presentationml/2006/main">
  <p:tag name="KSO_WM_DIAGRAM_VIRTUALLY_FRAME" val="{&quot;height&quot;:65.55,&quot;left&quot;:244.8,&quot;top&quot;:147.75,&quot;width&quot;:600.0848818897637}"/>
</p:tagLst>
</file>

<file path=ppt/tags/tag7.xml><?xml version="1.0" encoding="utf-8"?>
<p:tagLst xmlns:p="http://schemas.openxmlformats.org/presentationml/2006/main">
  <p:tag name="KSO_WM_DIAGRAM_VIRTUALLY_FRAME" val="{&quot;height&quot;:65.55,&quot;left&quot;:244.8,&quot;top&quot;:147.75,&quot;width&quot;:600.0848818897637}"/>
</p:tagLst>
</file>

<file path=ppt/tags/tag8.xml><?xml version="1.0" encoding="utf-8"?>
<p:tagLst xmlns:p="http://schemas.openxmlformats.org/presentationml/2006/main">
  <p:tag name="KSO_WM_DIAGRAM_VIRTUALLY_FRAME" val="{&quot;height&quot;:65.55,&quot;left&quot;:244.8,&quot;top&quot;:147.75,&quot;width&quot;:600.0848818897637}"/>
</p:tagLst>
</file>

<file path=ppt/tags/tag9.xml><?xml version="1.0" encoding="utf-8"?>
<p:tagLst xmlns:p="http://schemas.openxmlformats.org/presentationml/2006/main">
  <p:tag name="KSO_WM_DIAGRAM_VIRTUALLY_FRAME" val="{&quot;height&quot;:65.55,&quot;left&quot;:244.8,&quot;top&quot;:147.75,&quot;width&quot;:600.0848818897637}"/>
</p:tagLst>
</file>

<file path=ppt/tags/tag10.xml><?xml version="1.0" encoding="utf-8"?>
<p:tagLst xmlns:p="http://schemas.openxmlformats.org/presentationml/2006/main">
  <p:tag name="KSO_WM_DIAGRAM_VIRTUALLY_FRAME" val="{&quot;height&quot;:65.55,&quot;left&quot;:244.8,&quot;top&quot;:147.75,&quot;width&quot;:600.0848818897637}"/>
</p:tagLst>
</file>

<file path=ppt/tags/tag11.xml><?xml version="1.0" encoding="utf-8"?>
<p:tagLst xmlns:p="http://schemas.openxmlformats.org/presentationml/2006/main">
  <p:tag name="KSO_WM_DIAGRAM_VIRTUALLY_FRAME" val="{&quot;height&quot;:65.55,&quot;left&quot;:244.8,&quot;top&quot;:147.75,&quot;width&quot;:600.0848818897637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</a:majorFont>
      <a:minorFont>
        <a:latin typeface="等线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</a:majorFont>
      <a:minorFont>
        <a:latin typeface="等线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8935</Words>
  <Application>WPS 演示</Application>
  <PresentationFormat>宽屏</PresentationFormat>
  <Paragraphs>1041</Paragraphs>
  <Slides>29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5" baseType="lpstr">
      <vt:lpstr>Arial</vt:lpstr>
      <vt:lpstr>宋体</vt:lpstr>
      <vt:lpstr>Wingdings</vt:lpstr>
      <vt:lpstr>Arial</vt:lpstr>
      <vt:lpstr>Times New Roman</vt:lpstr>
      <vt:lpstr>微软雅黑</vt:lpstr>
      <vt:lpstr>等线</vt:lpstr>
      <vt:lpstr>Arial Unicode MS</vt:lpstr>
      <vt:lpstr>等线 Light</vt:lpstr>
      <vt:lpstr>Wingdings</vt:lpstr>
      <vt:lpstr>Helvetica Neue</vt:lpstr>
      <vt:lpstr>Calibri</vt:lpstr>
      <vt:lpstr>Helvetica Neue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Wade Wilson</dc:creator>
  <cp:lastModifiedBy>俞杰</cp:lastModifiedBy>
  <cp:revision>132</cp:revision>
  <dcterms:created xsi:type="dcterms:W3CDTF">2026-06-23T15:20:00Z</dcterms:created>
  <dcterms:modified xsi:type="dcterms:W3CDTF">2026-08-10T07:25:55Z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111E3E2CCCA24121BA01CD5D2A7CFDD1_13</vt:lpwstr>
  </property>
  <property fmtid="{D5CDD505-2E9C-101B-9397-08002B2CF9AE}" pid="3" name="KSOProductBuildVer">
    <vt:lpwstr>2052-12.1.0.28022</vt:lpwstr>
  </property>
</Properties>
</file>